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各位老师好，我汇报的项目是嵌入式软件代码缺陷与安全漏洞检测系统，简称 ecdet。本次汇报按照课程的选题、立题、实现、计划四个阶段来讲项目现状。目前系统是 v1.2.0 版本，五层检测流水线已经全链路贯通，一百八十七项自动化测试全部通过。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先说汇报路线。每个阶段都有一个开源动作：找痛点、定边界、拼组件、晒成果。项目面向汽车电子与工业控制场景，依据调研与技术方案 V1.2 实施，方案定义的七个问题域全部覆盖。代码规模约九千六百行 Python 加一千七百行前端，核心运行时零第三方依赖。请老师重点关注三个看点：开源怎么用、多智能体的现状与目标对照，以及所有未完成项我们都用红色标注了出来。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第一阶段，选题。我们相信好题目来自真实场景的麻烦，而不是技术名词。嵌入式软件的缺陷直接关联功能安全和国军标合规，所以先看痛点在哪里，再判断值不值得做、能不能做成。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选题背景有三层落差。场景上，汽车电子和工业控制的代码跑在单片机和实时操作系统上，缺陷意味着召回和事故；合规上，MISRA、CERT C 和 GJB 八一一四是交付的硬门槛，人工逐条核查成本很高；工具上，cppcheck、clang-tidy 这些通用工具不理解硬件，嵌入式特有缺陷大量漏检。更深一层，大模型带来了新机会，但直接用于检测有幻觉风险，会编造行号、虚构缺陷，这共同指向我们的设计主线：用确定性机制约束大模型，而不是把代码直接扔给大模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具体拆成两个痛点。痛点一，工具看不懂硬件：向只读寄存器写入、中断里共享变量竞争、中断里调阻塞接口，通用工具要么没有规则要么不认识上下文，检不出就是漏报。痛点二，结论不可信：静态工具误报多导致告警疲劳，大模型直接研判又会编造行号，两者叠加让所谓的 AI 检测没法复核。行业共识是宁可漏报不可误报，所以我们的差异机会是静态锚点优先、幻觉三道闸、再加上动态执行实证。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选题判断沿用课程案例的四条标准，四条都满足才立项。真实需求写在行业规范里；静态引擎、形式化验证器、数据集、推理框架都有成熟开源实现可以复用；硬件语义、动态实证、约束式大模型协同这三处现有方案做得不好，是创新空间；团队具备 C 加加、静态分析和大模型工程能力。方法提炼是先写清楚谁在什么场景遇到什么麻烦，再盘点能复用哪些开源资源。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第二阶段，立题。关键是用调研回答哪些不用自己写。把候选摆在一张表里，决定谁做引擎、谁做数据、谁只做参照。ecdet 的答案是不选大基座二次开发，而是标准、引擎、数据的点状复用，自研集中在检测内核。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这张表是立题的核心证据。每一项能力都先问有没有现成的：静态基线用 cppcheck，六千八百星，GPL 协议；规则补强用 clang-tidy；形式化验证用 ESBMC；本地大模型推理用 vLLM 和 Ollama，都是检测到安装就接入。红色的三行是计划复用但尚未完成的：Unicorn 和 Renode 两级仿真载体探测就绪但执行回路没接，Joern 代码属性图作为跨函数数据流的备选还没接入，Juliet 全量成稿在等联网下载。星数都是二零二六年十月二十七日查询的。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这里正面回答一个问题：为什么不选大基座。课程案例把 Yuxi-Know 整个导入，四百三十五个文件、十一万行，两天出 MVP，这适合在线服务场景。而 ecdet 的交付环境是内网隔离的构建机，客户要求拷贝即用、离线可运行；创新点就在检测内核本身；GPL 引擎用独立进程接入规避传染。所以结论是复用的单位不只是基座，标准、引擎、数据、方法都是开源资源，按许可证和场景逐项决定用法。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目标拆解成一个总目标加七个问题域：让每一条告警可解释、可证明、可复现。七个问题域分别落到五层架构和脚本集上，橙色标头的是自研为主的域，包括硬件语义、大模型协同和动态验证。下面是版本演进，从零点一的四层原型到当前的 1.2，每个版本节点都对应一个可验证的增量，方案五个阶段里前四个已经提前完成。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组件地图回答每一块是谁做的。第一栏复用标准，SARIF 是告警唯一交换格式，CMSIS-SVD 提供寄存器语义，MISRA 和 GJB 是条款来源；第二栏复用引擎，cppcheck、clang-tidy、ESBMC 加上 vLLM、Ollama 推理端点，全部即插即用；第三栏复用数据与方法，Juliet、GHSA 安全通告、PrimeVul 的去重方法；最右一栏橙色是自研创新，五层流水线、硬件语义规则、动态通道、大模型协同和 Web 控制台，这一栏就是答辩时的创新点清单。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用开源要守规矩。宽松许可证保留声明即可复用；cppcheck 是 GPL，我们用独立进程调用、不链接源码，规避传染；商业标准不复制文本、只实现语义。右侧红色的是风险提示：cppcheck 官方的 MISRA 插件 misra.py 基线还没接入，这是方案 V1.2 的原始承诺，也是唯一没兑现的复用承诺，已经列为 P0，大约一个工作日。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第三阶段，实现。二零二六年四季度启动，累计十三个版本节点，一百八十七项测试全部通过。先看架构，再逐层拆开每一块用了哪些开源资源、哪些是自研。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系统按数据流向分五层：L1 构建复现把 Keil、IAR 的闭源工程翻译成统一的编译数据库；L3 双通道做静态规则加硬件语义，并接入外部引擎；L2 用 SARIF 单一模型统一表示；L4 是大模型多智能体协同；L5 聚合去重、做双口径映射和可证明性分级。右边是产物列：SARIF、报告、补丁、PoC 证据。图例里橙色是自研、蓝色是复用。底部强调零依赖策略，词法分析、SARIF 读写、HTTP 服务全是标准库实现，拷贝即用。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关键实现第一讲输入和表示。输入的单位是工程目录，三种来源归一成服务端可访问的目录；L1 解决的是嵌入式工程多用闭源 IDE 格式的问题，我们自研了解析器把它翻译成等价的 Clang 命令行，没有构建信息的工程退化成源码直扫；最后所有引擎的告警统一成 SARIF 单一数据模型。这一页复用的是标准和格式，自研的是解析器和归一化管线。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第二讲静态通道。左边是三十条内置规则的构成，蓝色来自 MISRA 和 CERT 的条款，橙色四条硬件语义规则是核心差异：MMIO 误写、中断竞态、volatile 缺失、中断里调阻塞接口并提示 FromISR 变体。右边是可证明性三级：能证明必然越界才告警，能证明必然在界内干脆不告警，这是机制性地抑制误报；确定证据核对通过的是已检出；剩下疑似交动态和大模型继续查证。消融实验证明去掉硬件语义召回率会从百分之百掉到一半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第三讲动态通道，一句话：崩溃即实锤。对疑似告警自动生成测试驱动，激励用特殊值表加散列采样，SVD 语义收窄取值域，一次建模静动两用；编译失败自动打桩重编，还不行就交给大模型修正器，产物必须再过编译验证；判定依据覆盖崩溃退出码、UBSan 和看门狗超时三类，命中就把疑似升级成实锤，测试样本可以一键重放。执行载体是三级梯度，宿主机原生执行当前可用，下面两档 Unicorn 和 Renode 红色标注，探测就绪但在等固件语料。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第四讲大模型协同，原则是大模型只当参谋、不当裁判。分诊管线五步：上下文裁剪、强制 JSON 首判、置信度低于零点六触发本地知识库重判、证据行号核对、结论回写。幻觉抑制有三道闸，输出不可解析、引用行号越界、调用失败，一律降级成待人工复核。修复闭环里，补丁必须通过静态重扫和 gcc 语法检查才能采纳，自动模式下验证通过才写入源文件，先备份再迭代收敛。接入的是 vLLM 和 Ollama 的 OpenAI 兼容端点，数据不出域，另外有 Mock 客户端保证离线可测。消融证明去掉大模型分诊精确率会掉到一半。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这两页是老师关心的多智能体协作，先看现状。ecdet orchestrate 是一个确定性状态机：规划、静态通道、分诊智能体并行扇出、动态通道、监控裁决、修复验证、高危人工复核闸门，最后聚合输出。三个机制：智能体之间用结构化状态交接，不靠自由文本；分层路由控制成本，轻量告警不进大模型；大模型不拥有最终裁决权。消融 A6 也证明了编排本身不改变检测能力。但现状有三个局限：分诊提示词没有分域、人工复核结论没有回流、线性状态机不能动态重规划。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目标架构对照一份外部工程化建议书逐条评判后点状吸收，不推倒重写。红色是现状没有、目标要补的四块：元认知 Critic 校验，引用代码要逐字比对源文件、结论要对照调用图核实，这是 P0；内存安全和实时资源两个领域的专家提示词路由，这是 P1；人工复核反馈回写和大小模型分工，这是 P2。蓝色都是现状已有的，并发和硬件两域我们保留确定性规则，因为可靠性高于大模型审查。右边也明确了两条评估后不采纳的：双服务重写会破坏零依赖，ReAct 查寄存器 SVD 已经覆盖。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实现小结一句话：骨架完整、工程扎实、单点深度有限。前三栏蓝色是已完成：检测流水线五层贯通，大模型智能体带着三道闸和验证闭环，工程化有一百八十七项测试、消融框架和 Web 控制台。最右一栏红色是待补充：P0 是 misra.py 基线和元认知校验，P1 有链接脚本、编译配置、领域路由、CI 和跨函数数据流，P2 是仿真档、反馈回写和 Juliet 全量成稿。每个红项都有优先级、工作量和验收标准。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质量现状用数据说话。一百八十七项自动化测试全部通过；左边这张消融图回答每个子系统的净贡献：去掉大模型分诊精确率掉到一半，说明它过滤了八到十条误报；去掉硬件语义召回掉到一半，说明硬件建模是真贡献；去掉动态通道召回降到三分之二，同时耗时从六十二秒降到零点二秒，双通道互补和动态成本都看得见；单智能体和完整系统等价，说明编排是组织学贡献。红色说明 A3、A4 两个配置还在等真实端点语料成稿。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最后一个阶段，演示与计划。Web 控制台可以现场演示全流程，未完成项按 P0、P1、P2 排期，用评测数据驱动迭代。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Web 控制台一共八个能力块：工程三源注册、扫描任务队列、告警中心带证据链和状态流转、一键修复带 diff 和采纳记录，这是 v1.2 新增的代码浏览和版本对比，代码浏览基于运行级源码快照，版本对比支持文件 diff 和告警三态差分；再加上大模型设置页和零外链离线可用。演示路径就是一条命令起服务，注册示例工程到修复闭环十分钟可以走完。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后续计划分三档。红色 P0 两项合计约一周：misra.py 基线接入和元认知校验增强，出口标准都是可验证的；P1 一到两个月，重点是链接脚本解析、编译配置注入、领域路由、CI 门控，以及当前检测深度最大的短板跨函数数据流；P2 是数据依赖的远期项。右边是四个里程碑：今年四季度清掉 P0 并归档，明年一季度门控跑通，二季度跨函数数据流加 Juliet 成稿，三四季度仿真档加试点准备。最后强调最大的风险不是模型能力，而是误报率失控，宁可漏报不可误报这条原则会一直坚守。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：项目现在骨架完整、工程扎实、单点深度有限。四条带走的话：选题从规范与场景的真实痛点出发；立题时标准、引擎、数据、方法都是开源资源；实现上确定性骨架加受约束的大模型；计划把差距写成带工作量的清单，用评测数据驱动补齐。谢谢各位老师，请批评指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3F6B"/>
              </a:gs>
              <a:gs pos="100000">
                <a:srgbClr val="122A47"/>
              </a:gs>
            </a:gsLst>
            <a:lin ang="2700000" scaled="1"/>
          </a:gra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-476250" y="-762000"/>
            <a:ext cx="13239750" cy="8362950"/>
            <a:chOff x="-476250" y="-762000"/>
            <a:chExt cx="13239750" cy="8362950"/>
          </a:xfrm>
        </p:grpSpPr>
        <p:sp>
          <p:nvSpPr>
            <p:cNvPr id="3" name="Ellipse 3"/>
            <p:cNvSpPr/>
            <p:nvPr/>
          </p:nvSpPr>
          <p:spPr>
            <a:xfrm>
              <a:off x="9525000" y="-762000"/>
              <a:ext cx="3238500" cy="3238500"/>
            </a:xfrm>
            <a:prstGeom prst="ellipse">
              <a:avLst/>
            </a:prstGeom>
            <a:noFill/>
            <a:ln w="14288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10001250" y="-285750"/>
              <a:ext cx="2286000" cy="2286000"/>
            </a:xfrm>
            <a:prstGeom prst="ellipse">
              <a:avLst/>
            </a:prstGeom>
            <a:noFill/>
            <a:ln w="9525">
              <a:solidFill>
                <a:srgbClr val="FFFFFF">
                  <a:alpha val="5000"/>
                </a:srgb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-476250" y="4743450"/>
              <a:ext cx="2857500" cy="2857500"/>
            </a:xfrm>
            <a:prstGeom prst="ellipse">
              <a:avLst/>
            </a:prstGeom>
            <a:noFill/>
            <a:ln w="14288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-38100" y="5181600"/>
              <a:ext cx="1981200" cy="1981200"/>
            </a:xfrm>
            <a:prstGeom prst="ellipse">
              <a:avLst/>
            </a:prstGeom>
            <a:noFill/>
            <a:ln w="9525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7" name="Rectangle 7"/>
            <p:cNvSpPr/>
            <p:nvPr/>
          </p:nvSpPr>
          <p:spPr>
            <a:xfrm rot="2700000">
              <a:off x="1333500" y="1143000"/>
              <a:ext cx="209550" cy="209550"/>
            </a:xfrm>
            <a:prstGeom prst="rect">
              <a:avLst/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 rot="2700000">
              <a:off x="10553700" y="5334000"/>
              <a:ext cx="152400" cy="152400"/>
            </a:xfrm>
            <a:prstGeom prst="rect">
              <a:avLst/>
            </a:prstGeom>
            <a:solidFill>
              <a:srgbClr val="7FB0E0">
                <a:alpha val="35000"/>
              </a:srgbClr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 rot="2700000">
              <a:off x="1714500" y="5524500"/>
              <a:ext cx="114300" cy="114300"/>
            </a:xfrm>
            <a:prstGeom prst="rect">
              <a:avLst/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354924" y="1314450"/>
            <a:ext cx="1482152" cy="738188"/>
            <a:chOff x="5354924" y="1314450"/>
            <a:chExt cx="1482152" cy="738188"/>
          </a:xfrm>
        </p:grpSpPr>
        <p:sp>
          <p:nvSpPr>
            <p:cNvPr id="11" name="Rectangle 11"/>
            <p:cNvSpPr/>
            <p:nvPr/>
          </p:nvSpPr>
          <p:spPr>
            <a:xfrm rot="2700000">
              <a:off x="5876925" y="1314450"/>
              <a:ext cx="209550" cy="209550"/>
            </a:xfrm>
            <a:prstGeom prst="rect">
              <a:avLst/>
            </a:prstGeom>
            <a:solidFill>
              <a:srgbClr val="FFFFFF">
                <a:alpha val="92000"/>
              </a:srgbClr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 rot="2700000">
              <a:off x="6134100" y="1447800"/>
              <a:ext cx="123825" cy="123825"/>
            </a:xfrm>
            <a:prstGeom prst="rect">
              <a:avLst/>
            </a:prstGeom>
            <a:solidFill>
              <a:srgbClr val="7FB0E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354924" y="1839278"/>
              <a:ext cx="14821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ECDET · 项目现状汇报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704642" y="2485072"/>
            <a:ext cx="8782717" cy="1258253"/>
            <a:chOff x="1704642" y="2485072"/>
            <a:chExt cx="8782717" cy="1258253"/>
          </a:xfrm>
        </p:grpSpPr>
        <p:sp>
          <p:nvSpPr>
            <p:cNvPr id="15" name="TextBox 15"/>
            <p:cNvSpPr txBox="1"/>
            <p:nvPr/>
          </p:nvSpPr>
          <p:spPr>
            <a:xfrm>
              <a:off x="1704642" y="2485072"/>
              <a:ext cx="8782717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4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嵌入式软件代码缺陷与安全漏洞检测系统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09749" y="3174682"/>
              <a:ext cx="477250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ecdet 项目现状汇报：选题 · 立题 · 实现 · 计划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4476750" y="373380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14288">
              <a:solidFill>
                <a:srgbClr val="FFFFFF">
                  <a:alpha val="22000"/>
                </a:srgbClr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2105323" y="4248150"/>
            <a:ext cx="8204507" cy="711994"/>
            <a:chOff x="2105323" y="4248150"/>
            <a:chExt cx="8204507" cy="711994"/>
          </a:xfrm>
        </p:grpSpPr>
        <p:sp>
          <p:nvSpPr>
            <p:cNvPr id="19" name="Line 19"/>
            <p:cNvSpPr/>
            <p:nvPr/>
          </p:nvSpPr>
          <p:spPr>
            <a:xfrm>
              <a:off x="4667250" y="4248150"/>
              <a:ext cx="9525" cy="628650"/>
            </a:xfrm>
            <a:custGeom>
              <a:avLst/>
              <a:gdLst/>
              <a:ahLst/>
              <a:cxnLst/>
              <a:rect l="l" t="t" r="r" b="b"/>
              <a:pathLst>
                <a:path w="9525" h="628650">
                  <a:moveTo>
                    <a:pt x="0" y="0"/>
                  </a:moveTo>
                  <a:lnTo>
                    <a:pt x="0" y="628650"/>
                  </a:lnTo>
                </a:path>
              </a:pathLst>
            </a:custGeom>
            <a:noFill/>
            <a:ln w="9525">
              <a:solidFill>
                <a:srgbClr val="FFFFFF">
                  <a:alpha val="14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7524750" y="4248150"/>
              <a:ext cx="9525" cy="628650"/>
            </a:xfrm>
            <a:custGeom>
              <a:avLst/>
              <a:gdLst/>
              <a:ahLst/>
              <a:cxnLst/>
              <a:rect l="l" t="t" r="r" b="b"/>
              <a:pathLst>
                <a:path w="9525" h="628650">
                  <a:moveTo>
                    <a:pt x="0" y="0"/>
                  </a:moveTo>
                  <a:lnTo>
                    <a:pt x="0" y="628650"/>
                  </a:lnTo>
                </a:path>
              </a:pathLst>
            </a:custGeom>
            <a:noFill/>
            <a:ln w="9525">
              <a:solidFill>
                <a:srgbClr val="FFFFFF">
                  <a:alpha val="14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710577" y="435244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检测流水线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05323" y="4579144"/>
              <a:ext cx="1885355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五层全链路贯通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23585" y="43524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当前版本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13580" y="4579144"/>
              <a:ext cx="276484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v1.2.0 · 13 个版本节点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71585" y="43524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质量验证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78170" y="4579144"/>
              <a:ext cx="233166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187 项测试全部通过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672268" y="5696902"/>
            <a:ext cx="4847463" cy="446723"/>
            <a:chOff x="3672268" y="5696902"/>
            <a:chExt cx="4847463" cy="446723"/>
          </a:xfrm>
        </p:grpSpPr>
        <p:sp>
          <p:nvSpPr>
            <p:cNvPr id="28" name="TextBox 28"/>
            <p:cNvSpPr txBox="1"/>
            <p:nvPr/>
          </p:nvSpPr>
          <p:spPr>
            <a:xfrm>
              <a:off x="5162050" y="5696902"/>
              <a:ext cx="1867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ecdet 项目组 · 2026 年 10 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72268" y="5960745"/>
              <a:ext cx="48474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9C3E2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依据《嵌入式软件代码缺陷与安全漏洞检测系统调研与技术方案》V1.2 实施 · P1–P7 全覆盖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33400" y="495300"/>
            <a:ext cx="11135677" cy="671512"/>
            <a:chOff x="533400" y="495300"/>
            <a:chExt cx="11135677" cy="671512"/>
          </a:xfrm>
        </p:grpSpPr>
        <p:sp>
          <p:nvSpPr>
            <p:cNvPr id="3" name="Rectangle 3"/>
            <p:cNvSpPr/>
            <p:nvPr/>
          </p:nvSpPr>
          <p:spPr>
            <a:xfrm rot="2700000">
              <a:off x="552450" y="495300"/>
              <a:ext cx="161925" cy="161925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 rot="2700000">
              <a:off x="704850" y="590550"/>
              <a:ext cx="95250" cy="952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9168" y="523399"/>
              <a:ext cx="12469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ROADMAP · 汇报路线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2975" y="709612"/>
              <a:ext cx="509778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汇报路线：四个阶段，一条开源主线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38821" y="539591"/>
              <a:ext cx="24302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ecdet · 嵌入式软件代码缺陷与安全漏洞检测系统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104900"/>
              <a:ext cx="11125200" cy="14288"/>
            </a:xfrm>
            <a:prstGeom prst="rect">
              <a:avLst/>
            </a:prstGeom>
            <a:solidFill>
              <a:srgbClr val="D8E0E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085850"/>
              <a:ext cx="1333500" cy="38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4350" y="1323975"/>
            <a:ext cx="5728811" cy="304800"/>
            <a:chOff x="514350" y="1323975"/>
            <a:chExt cx="5728811" cy="304800"/>
          </a:xfrm>
        </p:grpSpPr>
        <p:sp>
          <p:nvSpPr>
            <p:cNvPr id="11" name="TextBox 11"/>
            <p:cNvSpPr txBox="1"/>
            <p:nvPr/>
          </p:nvSpPr>
          <p:spPr>
            <a:xfrm>
              <a:off x="514350" y="1323975"/>
              <a:ext cx="57288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每个阶段都有一个开源动作：</a:t>
              </a:r>
              <a:r>
                <a:rPr lang="zh-CN" sz="1500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找痛点 → 定边界 → 拼组件 → 晒成果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3400" y="1714500"/>
            <a:ext cx="11125200" cy="533400"/>
            <a:chOff x="533400" y="1714500"/>
            <a:chExt cx="11125200" cy="533400"/>
          </a:xfrm>
        </p:grpSpPr>
        <p:sp>
          <p:nvSpPr>
            <p:cNvPr id="13" name="Polygon 13"/>
            <p:cNvSpPr/>
            <p:nvPr/>
          </p:nvSpPr>
          <p:spPr>
            <a:xfrm>
              <a:off x="533400" y="1714500"/>
              <a:ext cx="2781300" cy="533400"/>
            </a:xfrm>
            <a:custGeom>
              <a:avLst/>
              <a:gdLst/>
              <a:ahLst/>
              <a:cxnLst/>
              <a:rect l="l" t="t" r="r" b="b"/>
              <a:pathLst>
                <a:path w="2781300" h="533400">
                  <a:moveTo>
                    <a:pt x="0" y="0"/>
                  </a:moveTo>
                  <a:lnTo>
                    <a:pt x="2533650" y="0"/>
                  </a:lnTo>
                  <a:lnTo>
                    <a:pt x="2781300" y="266700"/>
                  </a:lnTo>
                  <a:lnTo>
                    <a:pt x="2533650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</p:spPr>
        </p:sp>
        <p:sp>
          <p:nvSpPr>
            <p:cNvPr id="14" name="Polygon 14"/>
            <p:cNvSpPr/>
            <p:nvPr/>
          </p:nvSpPr>
          <p:spPr>
            <a:xfrm>
              <a:off x="3314700" y="1714500"/>
              <a:ext cx="2781300" cy="533400"/>
            </a:xfrm>
            <a:custGeom>
              <a:avLst/>
              <a:gdLst/>
              <a:ahLst/>
              <a:cxnLst/>
              <a:rect l="l" t="t" r="r" b="b"/>
              <a:pathLst>
                <a:path w="2781300" h="533400">
                  <a:moveTo>
                    <a:pt x="0" y="0"/>
                  </a:moveTo>
                  <a:lnTo>
                    <a:pt x="2533650" y="0"/>
                  </a:lnTo>
                  <a:lnTo>
                    <a:pt x="2781300" y="266700"/>
                  </a:lnTo>
                  <a:lnTo>
                    <a:pt x="2533650" y="533400"/>
                  </a:lnTo>
                  <a:lnTo>
                    <a:pt x="0" y="533400"/>
                  </a:lnTo>
                  <a:lnTo>
                    <a:pt x="247650" y="266700"/>
                  </a:ln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</p:sp>
        <p:sp>
          <p:nvSpPr>
            <p:cNvPr id="15" name="Polygon 15"/>
            <p:cNvSpPr/>
            <p:nvPr/>
          </p:nvSpPr>
          <p:spPr>
            <a:xfrm>
              <a:off x="6096000" y="1714500"/>
              <a:ext cx="2781300" cy="533400"/>
            </a:xfrm>
            <a:custGeom>
              <a:avLst/>
              <a:gdLst/>
              <a:ahLst/>
              <a:cxnLst/>
              <a:rect l="l" t="t" r="r" b="b"/>
              <a:pathLst>
                <a:path w="2781300" h="533400">
                  <a:moveTo>
                    <a:pt x="0" y="0"/>
                  </a:moveTo>
                  <a:lnTo>
                    <a:pt x="2533650" y="0"/>
                  </a:lnTo>
                  <a:lnTo>
                    <a:pt x="2781300" y="266700"/>
                  </a:lnTo>
                  <a:lnTo>
                    <a:pt x="2533650" y="533400"/>
                  </a:lnTo>
                  <a:lnTo>
                    <a:pt x="0" y="533400"/>
                  </a:lnTo>
                  <a:lnTo>
                    <a:pt x="247650" y="2667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</p:sp>
        <p:sp>
          <p:nvSpPr>
            <p:cNvPr id="16" name="Polygon 16"/>
            <p:cNvSpPr/>
            <p:nvPr/>
          </p:nvSpPr>
          <p:spPr>
            <a:xfrm>
              <a:off x="8877300" y="1714500"/>
              <a:ext cx="2781300" cy="533400"/>
            </a:xfrm>
            <a:custGeom>
              <a:avLst/>
              <a:gdLst/>
              <a:ahLst/>
              <a:cxnLst/>
              <a:rect l="l" t="t" r="r" b="b"/>
              <a:pathLst>
                <a:path w="2781300" h="533400">
                  <a:moveTo>
                    <a:pt x="0" y="0"/>
                  </a:moveTo>
                  <a:lnTo>
                    <a:pt x="2533650" y="0"/>
                  </a:lnTo>
                  <a:lnTo>
                    <a:pt x="2781300" y="266700"/>
                  </a:lnTo>
                  <a:lnTo>
                    <a:pt x="2533650" y="533400"/>
                  </a:lnTo>
                  <a:lnTo>
                    <a:pt x="0" y="533400"/>
                  </a:lnTo>
                  <a:lnTo>
                    <a:pt x="247650" y="266700"/>
                  </a:lnTo>
                  <a:close/>
                </a:path>
              </a:pathLst>
            </a:custGeom>
            <a:solidFill>
              <a:srgbClr val="4A90D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505976" y="1894046"/>
              <a:ext cx="66469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 选题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48060" y="1894046"/>
              <a:ext cx="71458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 立题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29360" y="1894046"/>
              <a:ext cx="71458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 实现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910660" y="1894046"/>
              <a:ext cx="71458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 计划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2400300"/>
            <a:ext cx="2495550" cy="1238250"/>
            <a:chOff x="609600" y="2400300"/>
            <a:chExt cx="2495550" cy="1238250"/>
          </a:xfrm>
        </p:grpSpPr>
        <p:sp>
          <p:nvSpPr>
            <p:cNvPr id="22" name="Rectangle 22"/>
            <p:cNvSpPr/>
            <p:nvPr/>
          </p:nvSpPr>
          <p:spPr>
            <a:xfrm>
              <a:off x="609600" y="2400300"/>
              <a:ext cx="2495550" cy="123825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9600" y="2400300"/>
              <a:ext cx="2495550" cy="47625"/>
            </a:xfrm>
            <a:prstGeom prst="roundRect">
              <a:avLst>
                <a:gd name="adj" fmla="val 50000"/>
              </a:avLst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3908" y="262461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问题从哪来？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842962" y="2995612"/>
              <a:ext cx="66675" cy="66675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96315" y="2963228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嵌入式软件的真实痛点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842962" y="3262312"/>
              <a:ext cx="66675" cy="66675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96315" y="322992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行业合规的刚性门槛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390900" y="2400300"/>
            <a:ext cx="2495550" cy="1238250"/>
            <a:chOff x="3390900" y="2400300"/>
            <a:chExt cx="2495550" cy="1238250"/>
          </a:xfrm>
        </p:grpSpPr>
        <p:sp>
          <p:nvSpPr>
            <p:cNvPr id="30" name="Rectangle 30"/>
            <p:cNvSpPr/>
            <p:nvPr/>
          </p:nvSpPr>
          <p:spPr>
            <a:xfrm>
              <a:off x="3390900" y="2400300"/>
              <a:ext cx="2495550" cy="123825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390900" y="2400300"/>
              <a:ext cx="2495550" cy="47625"/>
            </a:xfrm>
            <a:prstGeom prst="roundRect">
              <a:avLst>
                <a:gd name="adj" fmla="val 50000"/>
              </a:avLst>
            </a:prstGeom>
            <a:solidFill>
              <a:srgbClr val="2E75B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565208" y="2624614"/>
              <a:ext cx="14605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哪些不用自己写？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3624262" y="2995612"/>
              <a:ext cx="66675" cy="66675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777615" y="2963228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开源标准、引擎与数据盘点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3624262" y="3262312"/>
              <a:ext cx="66675" cy="66675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777615" y="322992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自研边界：检测内核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172200" y="2400300"/>
            <a:ext cx="2495550" cy="1238250"/>
            <a:chOff x="6172200" y="2400300"/>
            <a:chExt cx="2495550" cy="1238250"/>
          </a:xfrm>
        </p:grpSpPr>
        <p:sp>
          <p:nvSpPr>
            <p:cNvPr id="38" name="Rectangle 38"/>
            <p:cNvSpPr/>
            <p:nvPr/>
          </p:nvSpPr>
          <p:spPr>
            <a:xfrm>
              <a:off x="6172200" y="2400300"/>
              <a:ext cx="2495550" cy="123825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172200" y="2400300"/>
              <a:ext cx="2495550" cy="47625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46508" y="2624614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做到哪了？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405562" y="2995612"/>
              <a:ext cx="66675" cy="66675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58915" y="296322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五层架构全链路贯通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405562" y="3262312"/>
              <a:ext cx="66675" cy="66675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58915" y="3229928"/>
              <a:ext cx="1405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187 项测试 + 消融数据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953500" y="2400300"/>
            <a:ext cx="2495550" cy="1238250"/>
            <a:chOff x="8953500" y="2400300"/>
            <a:chExt cx="2495550" cy="1238250"/>
          </a:xfrm>
        </p:grpSpPr>
        <p:sp>
          <p:nvSpPr>
            <p:cNvPr id="46" name="Rectangle 46"/>
            <p:cNvSpPr/>
            <p:nvPr/>
          </p:nvSpPr>
          <p:spPr>
            <a:xfrm>
              <a:off x="8953500" y="2400300"/>
              <a:ext cx="2495550" cy="123825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953500" y="2400300"/>
              <a:ext cx="2495550" cy="47625"/>
            </a:xfrm>
            <a:prstGeom prst="roundRect">
              <a:avLst>
                <a:gd name="adj" fmla="val 50000"/>
              </a:avLst>
            </a:prstGeom>
            <a:solidFill>
              <a:srgbClr val="4A90D9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127808" y="2624614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还差什么？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9186862" y="2995612"/>
              <a:ext cx="66675" cy="6667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340215" y="2963228"/>
              <a:ext cx="19379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P0 / P1 / P2 待办清单（红标）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9186862" y="3262312"/>
              <a:ext cx="66675" cy="66675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340215" y="3229928"/>
              <a:ext cx="1398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里程碑对齐 2027 试点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33400" y="3867150"/>
            <a:ext cx="6572250" cy="2400300"/>
            <a:chOff x="533400" y="3867150"/>
            <a:chExt cx="6572250" cy="2400300"/>
          </a:xfrm>
        </p:grpSpPr>
        <p:sp>
          <p:nvSpPr>
            <p:cNvPr id="54" name="Rectangle 54"/>
            <p:cNvSpPr/>
            <p:nvPr/>
          </p:nvSpPr>
          <p:spPr>
            <a:xfrm>
              <a:off x="533400" y="3867150"/>
              <a:ext cx="6572250" cy="2400300"/>
            </a:xfrm>
            <a:prstGeom prst="roundRect">
              <a:avLst>
                <a:gd name="adj" fmla="val 3175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33400" y="3867150"/>
              <a:ext cx="47625" cy="2400300"/>
            </a:xfrm>
            <a:prstGeom prst="roundRect">
              <a:avLst>
                <a:gd name="adj" fmla="val 50000"/>
              </a:avLst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83908" y="4034314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项目信息卡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86765" y="4363402"/>
              <a:ext cx="41781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 xml:space="preserve">定位 </a:t>
              </a:r>
              <a:r>
                <a:rPr lang="zh-CN" sz="105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面向汽车电子与工业控制的嵌入式 C/C++ 缺陷与漏洞检测系统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86765" y="4649152"/>
              <a:ext cx="42972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 xml:space="preserve">依据 </a:t>
              </a:r>
              <a:r>
                <a:rPr lang="zh-CN" sz="105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《调研与技术方案》</a:t>
              </a:r>
              <a:r>
                <a:rPr lang="zh-CN" sz="1050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V1.2</a:t>
              </a:r>
              <a:r>
                <a:rPr lang="zh-CN" sz="105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 xml:space="preserve"> · 方案定义的 P1–P7 七个问题域全覆盖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86765" y="4934902"/>
              <a:ext cx="28830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 xml:space="preserve">版本 </a:t>
              </a:r>
              <a:r>
                <a:rPr lang="zh-CN" sz="105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 xml:space="preserve">v1.2.0（2026-10，累计 </a:t>
              </a:r>
              <a:r>
                <a:rPr lang="zh-CN" sz="1050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13 个版本节点</a:t>
              </a:r>
              <a:r>
                <a:rPr lang="zh-CN" sz="105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86765" y="5220652"/>
              <a:ext cx="4227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 xml:space="preserve">规模 </a:t>
              </a:r>
              <a:r>
                <a:rPr lang="zh-CN" sz="105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Python 约 9600 行 + 前端约 1705 行（原生 JS/CSS，无框架）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86765" y="5506402"/>
              <a:ext cx="23089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 xml:space="preserve">测试 </a:t>
              </a:r>
              <a:r>
                <a:rPr lang="zh-CN" sz="1050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16 个测试文件 · 187 项全部通过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86765" y="5792152"/>
              <a:ext cx="46332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 xml:space="preserve">依赖 </a:t>
              </a:r>
              <a:r>
                <a:rPr lang="zh-CN" sz="105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核心运行时</a:t>
              </a:r>
              <a:r>
                <a:rPr lang="zh-CN" sz="1050" b="1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零第三方依赖</a:t>
              </a:r>
              <a:r>
                <a:rPr lang="zh-CN" sz="105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（开发仅 pytest），拷贝即用、离线可运行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334250" y="3867150"/>
            <a:ext cx="4324350" cy="2400300"/>
            <a:chOff x="7334250" y="3867150"/>
            <a:chExt cx="4324350" cy="2400300"/>
          </a:xfrm>
        </p:grpSpPr>
        <p:sp>
          <p:nvSpPr>
            <p:cNvPr id="64" name="Rectangle 64"/>
            <p:cNvSpPr/>
            <p:nvPr/>
          </p:nvSpPr>
          <p:spPr>
            <a:xfrm>
              <a:off x="7334250" y="3867150"/>
              <a:ext cx="4324350" cy="2400300"/>
            </a:xfrm>
            <a:prstGeom prst="roundRect">
              <a:avLst>
                <a:gd name="adj" fmla="val 3175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584758" y="4034314"/>
              <a:ext cx="163908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本次汇报的三个看点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587615" y="4382452"/>
              <a:ext cx="28200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①</a:t>
              </a:r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 xml:space="preserve"> 开源怎么用——标准、引擎、数据的点状复用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587615" y="4668202"/>
              <a:ext cx="30860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②</a:t>
              </a:r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 xml:space="preserve"> 多智能体协作的现状与目标对照（流程图两页）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587615" y="4953952"/>
              <a:ext cx="29460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③</a:t>
              </a:r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 xml:space="preserve"> 未完成项全部用红色标注，与已完成内容对照</a:t>
              </a:r>
            </a:p>
          </p:txBody>
        </p:sp>
        <p:sp>
          <p:nvSpPr>
            <p:cNvPr id="69" name="Line 69"/>
            <p:cNvSpPr/>
            <p:nvPr/>
          </p:nvSpPr>
          <p:spPr>
            <a:xfrm>
              <a:off x="7600950" y="5334000"/>
              <a:ext cx="3790950" cy="9525"/>
            </a:xfrm>
            <a:custGeom>
              <a:avLst/>
              <a:gdLst/>
              <a:ahLst/>
              <a:cxnLst/>
              <a:rect l="l" t="t" r="r" b="b"/>
              <a:pathLst>
                <a:path w="3790950" h="9525">
                  <a:moveTo>
                    <a:pt x="0" y="0"/>
                  </a:moveTo>
                  <a:lnTo>
                    <a:pt x="3790950" y="0"/>
                  </a:lnTo>
                </a:path>
              </a:pathLst>
            </a:custGeom>
            <a:noFill/>
            <a:ln w="9525">
              <a:solidFill>
                <a:srgbClr val="D8E0E9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7600950" y="5562600"/>
              <a:ext cx="133350" cy="1333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798118" y="5571649"/>
              <a:ext cx="8243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复用 / 已完成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8801100" y="5562600"/>
              <a:ext cx="133350" cy="133350"/>
            </a:xfrm>
            <a:prstGeom prst="rect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998268" y="5571649"/>
              <a:ext cx="2847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自研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9525000" y="5562600"/>
              <a:ext cx="133350" cy="1333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722168" y="5571649"/>
              <a:ext cx="9543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未完成 / 待补充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22922" y="6578441"/>
            <a:ext cx="11146155" cy="167640"/>
            <a:chOff x="522922" y="6578441"/>
            <a:chExt cx="11146155" cy="167640"/>
          </a:xfrm>
        </p:grpSpPr>
        <p:sp>
          <p:nvSpPr>
            <p:cNvPr id="77" name="TextBox 77"/>
            <p:cNvSpPr txBox="1"/>
            <p:nvPr/>
          </p:nvSpPr>
          <p:spPr>
            <a:xfrm>
              <a:off x="522922" y="6578441"/>
              <a:ext cx="440500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数据来源：ecdet README v1.2.0 与《ecdet 项目现状介绍与后续改进计划》（2026-10）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27107" y="6578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1" grpId="0"/>
      <p:bldP spid="29" grpId="0"/>
      <p:bldP spid="37" grpId="0"/>
      <p:bldP spid="45" grpId="0"/>
      <p:bldP spid="53" grpId="0"/>
      <p:bldP spid="63" grpId="0"/>
      <p:bldP spid="7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3F6B"/>
              </a:gs>
              <a:gs pos="100000">
                <a:srgbClr val="122A47"/>
              </a:gs>
            </a:gsLst>
            <a:lin ang="2700000" scaled="1"/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9429750" y="1143000"/>
            <a:ext cx="3810000" cy="6477000"/>
            <a:chOff x="9429750" y="1143000"/>
            <a:chExt cx="3810000" cy="6477000"/>
          </a:xfrm>
        </p:grpSpPr>
        <p:sp>
          <p:nvSpPr>
            <p:cNvPr id="3" name="Ellipse 3"/>
            <p:cNvSpPr/>
            <p:nvPr/>
          </p:nvSpPr>
          <p:spPr>
            <a:xfrm>
              <a:off x="9429750" y="381000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FFFFFF">
                  <a:alpha val="5000"/>
                </a:srgbClr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9944100" y="4324350"/>
              <a:ext cx="2781300" cy="2781300"/>
            </a:xfrm>
            <a:prstGeom prst="ellipse">
              <a:avLst/>
            </a:prstGeom>
            <a:noFill/>
            <a:ln w="9525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5" name="Rectangle 5"/>
            <p:cNvSpPr/>
            <p:nvPr/>
          </p:nvSpPr>
          <p:spPr>
            <a:xfrm rot="2700000">
              <a:off x="10287000" y="1143000"/>
              <a:ext cx="190500" cy="190500"/>
            </a:xfrm>
            <a:prstGeom prst="rect">
              <a:avLst/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 rot="2700000">
              <a:off x="10668000" y="1562100"/>
              <a:ext cx="114300" cy="114300"/>
            </a:xfrm>
            <a:prstGeom prst="rect">
              <a:avLst/>
            </a:prstGeom>
            <a:solidFill>
              <a:srgbClr val="7FB0E0">
                <a:alpha val="35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809625" y="1947862"/>
            <a:ext cx="1191423" cy="1676400"/>
            <a:chOff x="809625" y="1947862"/>
            <a:chExt cx="1191423" cy="1676400"/>
          </a:xfrm>
        </p:grpSpPr>
        <p:sp>
          <p:nvSpPr>
            <p:cNvPr id="8" name="TextBox 8"/>
            <p:cNvSpPr txBox="1"/>
            <p:nvPr/>
          </p:nvSpPr>
          <p:spPr>
            <a:xfrm>
              <a:off x="809625" y="1947862"/>
              <a:ext cx="1191423" cy="1676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14400" y="3295650"/>
            <a:ext cx="6134100" cy="609600"/>
            <a:chOff x="914400" y="3295650"/>
            <a:chExt cx="6134100" cy="609600"/>
          </a:xfrm>
        </p:grpSpPr>
        <p:sp>
          <p:nvSpPr>
            <p:cNvPr id="10" name="TextBox 10"/>
            <p:cNvSpPr txBox="1"/>
            <p:nvPr/>
          </p:nvSpPr>
          <p:spPr>
            <a:xfrm>
              <a:off x="914400" y="3295650"/>
              <a:ext cx="511683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选题：从真实工程痛点出发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52500" y="3886200"/>
              <a:ext cx="6096000" cy="19050"/>
            </a:xfrm>
            <a:prstGeom prst="rect">
              <a:avLst/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935355" y="4197668"/>
            <a:ext cx="5254942" cy="922020"/>
            <a:chOff x="935355" y="4197668"/>
            <a:chExt cx="5254942" cy="922020"/>
          </a:xfrm>
        </p:grpSpPr>
        <p:sp>
          <p:nvSpPr>
            <p:cNvPr id="13" name="TextBox 13"/>
            <p:cNvSpPr txBox="1"/>
            <p:nvPr/>
          </p:nvSpPr>
          <p:spPr>
            <a:xfrm>
              <a:off x="935355" y="4197668"/>
              <a:ext cx="38327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好题目来自</a:t>
              </a:r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真实场景的麻烦</a:t>
              </a:r>
              <a:r>
                <a:rPr lang="zh-CN" sz="135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，而不是技术名词——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5355" y="4521518"/>
              <a:ext cx="3994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嵌入式软件缺陷直接关联功能安全与国军标合规，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5355" y="4845368"/>
              <a:ext cx="52549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先看真实痛点在哪里，再判断这个问题</a:t>
              </a:r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值不值得做、能不能做成</a:t>
              </a:r>
              <a:r>
                <a:rPr lang="zh-CN" sz="135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38212" y="6088856"/>
            <a:ext cx="10313671" cy="245269"/>
            <a:chOff x="938212" y="6088856"/>
            <a:chExt cx="10313671" cy="245269"/>
          </a:xfrm>
        </p:grpSpPr>
        <p:sp>
          <p:nvSpPr>
            <p:cNvPr id="17" name="TextBox 17"/>
            <p:cNvSpPr txBox="1"/>
            <p:nvPr/>
          </p:nvSpPr>
          <p:spPr>
            <a:xfrm>
              <a:off x="938212" y="6088856"/>
              <a:ext cx="524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 选题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52500" y="6305550"/>
              <a:ext cx="495300" cy="28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985962" y="6088856"/>
              <a:ext cx="5386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9C3E2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02 立题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33712" y="6088856"/>
              <a:ext cx="5386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9C3E2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03 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081462" y="6088856"/>
              <a:ext cx="5386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9C3E2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04 计划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939957" y="6105049"/>
              <a:ext cx="13119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A9C3E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ecdet · 项目现状汇报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33400" y="495300"/>
            <a:ext cx="11135677" cy="671512"/>
            <a:chOff x="533400" y="495300"/>
            <a:chExt cx="11135677" cy="671512"/>
          </a:xfrm>
        </p:grpSpPr>
        <p:sp>
          <p:nvSpPr>
            <p:cNvPr id="3" name="Rectangle 3"/>
            <p:cNvSpPr/>
            <p:nvPr/>
          </p:nvSpPr>
          <p:spPr>
            <a:xfrm rot="2700000">
              <a:off x="552450" y="495300"/>
              <a:ext cx="161925" cy="161925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 rot="2700000">
              <a:off x="704850" y="590550"/>
              <a:ext cx="95250" cy="952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9168" y="523399"/>
              <a:ext cx="798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PART 1 · 选题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2975" y="709612"/>
              <a:ext cx="761809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选题背景：嵌入式软件质量是安全底线，也是合规门槛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38821" y="539591"/>
              <a:ext cx="24302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ecdet · 嵌入式软件代码缺陷与安全漏洞检测系统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104900"/>
              <a:ext cx="11125200" cy="14288"/>
            </a:xfrm>
            <a:prstGeom prst="rect">
              <a:avLst/>
            </a:prstGeom>
            <a:solidFill>
              <a:srgbClr val="D8E0E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085850"/>
              <a:ext cx="1333500" cy="38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4350" y="1323975"/>
            <a:ext cx="6638925" cy="304800"/>
            <a:chOff x="514350" y="1323975"/>
            <a:chExt cx="6638925" cy="304800"/>
          </a:xfrm>
        </p:grpSpPr>
        <p:sp>
          <p:nvSpPr>
            <p:cNvPr id="11" name="TextBox 11"/>
            <p:cNvSpPr txBox="1"/>
            <p:nvPr/>
          </p:nvSpPr>
          <p:spPr>
            <a:xfrm>
              <a:off x="514350" y="1323975"/>
              <a:ext cx="66389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缺陷直接关联功能安全与合规交付，</a:t>
              </a:r>
              <a:r>
                <a:rPr lang="zh-CN" sz="1500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工具能力与行业要求之间存在三层落差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1733550"/>
            <a:ext cx="3543300" cy="2857500"/>
            <a:chOff x="533400" y="1733550"/>
            <a:chExt cx="3543300" cy="2857500"/>
          </a:xfrm>
        </p:grpSpPr>
        <p:sp>
          <p:nvSpPr>
            <p:cNvPr id="13" name="Rectangle 13"/>
            <p:cNvSpPr/>
            <p:nvPr/>
          </p:nvSpPr>
          <p:spPr>
            <a:xfrm>
              <a:off x="533400" y="1733550"/>
              <a:ext cx="3543300" cy="2857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1733550"/>
              <a:ext cx="3543300" cy="47625"/>
            </a:xfrm>
            <a:prstGeom prst="roundRect">
              <a:avLst>
                <a:gd name="adj" fmla="val 50000"/>
              </a:avLst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800100" y="2000250"/>
              <a:ext cx="495300" cy="495300"/>
            </a:xfrm>
            <a:prstGeom prst="roundRect">
              <a:avLst>
                <a:gd name="adj" fmla="val 23077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914400" y="2131219"/>
              <a:ext cx="266700" cy="233362"/>
            </a:xfrm>
            <a:custGeom>
              <a:avLst/>
              <a:gdLst/>
              <a:ahLst/>
              <a:cxnLst/>
              <a:rect l="l" t="t" r="r" b="b"/>
              <a:pathLst>
                <a:path w="266700" h="233362">
                  <a:moveTo>
                    <a:pt x="50006" y="0"/>
                  </a:moveTo>
                  <a:lnTo>
                    <a:pt x="27781" y="66675"/>
                  </a:lnTo>
                  <a:lnTo>
                    <a:pt x="0" y="66675"/>
                  </a:lnTo>
                  <a:lnTo>
                    <a:pt x="0" y="116681"/>
                  </a:lnTo>
                  <a:lnTo>
                    <a:pt x="16669" y="116681"/>
                  </a:lnTo>
                  <a:lnTo>
                    <a:pt x="16669" y="233362"/>
                  </a:lnTo>
                  <a:lnTo>
                    <a:pt x="50006" y="233362"/>
                  </a:lnTo>
                  <a:lnTo>
                    <a:pt x="50006" y="200025"/>
                  </a:lnTo>
                  <a:lnTo>
                    <a:pt x="216694" y="200025"/>
                  </a:lnTo>
                  <a:lnTo>
                    <a:pt x="216694" y="233362"/>
                  </a:lnTo>
                  <a:lnTo>
                    <a:pt x="250031" y="233362"/>
                  </a:lnTo>
                  <a:lnTo>
                    <a:pt x="250031" y="116681"/>
                  </a:lnTo>
                  <a:lnTo>
                    <a:pt x="266700" y="116681"/>
                  </a:lnTo>
                  <a:lnTo>
                    <a:pt x="266700" y="66675"/>
                  </a:lnTo>
                  <a:lnTo>
                    <a:pt x="238918" y="66675"/>
                  </a:lnTo>
                  <a:lnTo>
                    <a:pt x="216694" y="0"/>
                  </a:lnTo>
                  <a:lnTo>
                    <a:pt x="50006" y="0"/>
                  </a:lnTo>
                  <a:close/>
                  <a:moveTo>
                    <a:pt x="66675" y="133350"/>
                  </a:moveTo>
                  <a:cubicBezTo>
                    <a:pt x="57469" y="133350"/>
                    <a:pt x="50006" y="140813"/>
                    <a:pt x="50006" y="150019"/>
                  </a:cubicBezTo>
                  <a:cubicBezTo>
                    <a:pt x="50006" y="159225"/>
                    <a:pt x="57469" y="166688"/>
                    <a:pt x="66675" y="166688"/>
                  </a:cubicBezTo>
                  <a:cubicBezTo>
                    <a:pt x="75881" y="166688"/>
                    <a:pt x="83344" y="159225"/>
                    <a:pt x="83344" y="150019"/>
                  </a:cubicBezTo>
                  <a:cubicBezTo>
                    <a:pt x="83344" y="140813"/>
                    <a:pt x="75881" y="133350"/>
                    <a:pt x="66675" y="133350"/>
                  </a:cubicBezTo>
                  <a:close/>
                  <a:moveTo>
                    <a:pt x="192666" y="33338"/>
                  </a:moveTo>
                  <a:lnTo>
                    <a:pt x="74035" y="33338"/>
                  </a:lnTo>
                  <a:lnTo>
                    <a:pt x="51810" y="100012"/>
                  </a:lnTo>
                  <a:lnTo>
                    <a:pt x="214890" y="100012"/>
                  </a:lnTo>
                  <a:lnTo>
                    <a:pt x="192666" y="33338"/>
                  </a:lnTo>
                  <a:close/>
                  <a:moveTo>
                    <a:pt x="200025" y="133350"/>
                  </a:moveTo>
                  <a:cubicBezTo>
                    <a:pt x="190819" y="133350"/>
                    <a:pt x="183356" y="140813"/>
                    <a:pt x="183356" y="150019"/>
                  </a:cubicBezTo>
                  <a:cubicBezTo>
                    <a:pt x="183356" y="159225"/>
                    <a:pt x="190819" y="166688"/>
                    <a:pt x="200025" y="166688"/>
                  </a:cubicBezTo>
                  <a:cubicBezTo>
                    <a:pt x="209231" y="166688"/>
                    <a:pt x="216694" y="159225"/>
                    <a:pt x="216694" y="150019"/>
                  </a:cubicBezTo>
                  <a:cubicBezTo>
                    <a:pt x="216694" y="140813"/>
                    <a:pt x="209231" y="133350"/>
                    <a:pt x="200025" y="133350"/>
                  </a:cubicBez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2002" y="2703671"/>
              <a:ext cx="203144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场景之痛：高安全要求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7718" y="2999899"/>
              <a:ext cx="12144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汽车电子 · 工业控制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842962" y="3395662"/>
              <a:ext cx="66675" cy="66675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95839" y="3359229"/>
              <a:ext cx="2123134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 xml:space="preserve">代码运行在 </a:t>
              </a:r>
              <a:r>
                <a:rPr lang="zh-CN" sz="1088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MCU 与 RTOS</a:t>
              </a:r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 xml:space="preserve"> 之上，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5839" y="3597354"/>
              <a:ext cx="2057876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缺陷直接意味着</a:t>
              </a:r>
              <a:r>
                <a:rPr lang="zh-CN" sz="1088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召回与安全事故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842962" y="3986212"/>
              <a:ext cx="66675" cy="66675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95839" y="3949779"/>
              <a:ext cx="2202894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典型载体：车身控制、电机驱动、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95839" y="4187904"/>
              <a:ext cx="1615571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PLC 固件、传感采集节点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324350" y="1733550"/>
            <a:ext cx="3543300" cy="2857500"/>
            <a:chOff x="4324350" y="1733550"/>
            <a:chExt cx="3543300" cy="2857500"/>
          </a:xfrm>
        </p:grpSpPr>
        <p:sp>
          <p:nvSpPr>
            <p:cNvPr id="26" name="Rectangle 26"/>
            <p:cNvSpPr/>
            <p:nvPr/>
          </p:nvSpPr>
          <p:spPr>
            <a:xfrm>
              <a:off x="4324350" y="1733550"/>
              <a:ext cx="3543300" cy="2857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324350" y="1733550"/>
              <a:ext cx="3543300" cy="47625"/>
            </a:xfrm>
            <a:prstGeom prst="roundRect">
              <a:avLst>
                <a:gd name="adj" fmla="val 50000"/>
              </a:avLst>
            </a:prstGeom>
            <a:solidFill>
              <a:srgbClr val="2E75B6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91050" y="2000250"/>
              <a:ext cx="495300" cy="495300"/>
            </a:xfrm>
            <a:prstGeom prst="roundRect">
              <a:avLst>
                <a:gd name="adj" fmla="val 23077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4738688" y="2114550"/>
              <a:ext cx="200025" cy="266700"/>
            </a:xfrm>
            <a:custGeom>
              <a:avLst/>
              <a:gdLst/>
              <a:ahLst/>
              <a:cxnLst/>
              <a:rect l="l" t="t" r="r" b="b"/>
              <a:pathLst>
                <a:path w="200025" h="266700">
                  <a:moveTo>
                    <a:pt x="50006" y="0"/>
                  </a:moveTo>
                  <a:cubicBezTo>
                    <a:pt x="22389" y="0"/>
                    <a:pt x="0" y="22389"/>
                    <a:pt x="0" y="50006"/>
                  </a:cubicBezTo>
                  <a:lnTo>
                    <a:pt x="0" y="216694"/>
                  </a:lnTo>
                  <a:cubicBezTo>
                    <a:pt x="0" y="244312"/>
                    <a:pt x="22389" y="266700"/>
                    <a:pt x="50006" y="266700"/>
                  </a:cubicBezTo>
                  <a:lnTo>
                    <a:pt x="200025" y="266700"/>
                  </a:lnTo>
                  <a:lnTo>
                    <a:pt x="200025" y="233362"/>
                  </a:lnTo>
                  <a:lnTo>
                    <a:pt x="33338" y="233362"/>
                  </a:lnTo>
                  <a:lnTo>
                    <a:pt x="33338" y="200025"/>
                  </a:lnTo>
                  <a:lnTo>
                    <a:pt x="200025" y="200025"/>
                  </a:lnTo>
                  <a:lnTo>
                    <a:pt x="200025" y="0"/>
                  </a:lnTo>
                  <a:lnTo>
                    <a:pt x="50006" y="0"/>
                  </a:ln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572952" y="2703671"/>
              <a:ext cx="183191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合规之痛：交付门槛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78668" y="299989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强制标准的逐条核查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4633912" y="3395662"/>
              <a:ext cx="66675" cy="66675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86789" y="3359229"/>
              <a:ext cx="2210145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MISRA C:2012 · CERT C · GJB 8114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86789" y="3597354"/>
              <a:ext cx="1912858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是嵌入式软件交付的硬性门槛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4633912" y="3986212"/>
              <a:ext cx="66675" cy="66675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786789" y="3949779"/>
              <a:ext cx="2347913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人工逐条核查</a:t>
              </a:r>
              <a:r>
                <a:rPr lang="zh-CN" sz="1088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成本高、覆盖不稳定</a:t>
              </a:r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86789" y="4187904"/>
              <a:ext cx="1187768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评审与审计压力大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115300" y="1733550"/>
            <a:ext cx="3543300" cy="2857500"/>
            <a:chOff x="8115300" y="1733550"/>
            <a:chExt cx="3543300" cy="2857500"/>
          </a:xfrm>
        </p:grpSpPr>
        <p:sp>
          <p:nvSpPr>
            <p:cNvPr id="39" name="Rectangle 39"/>
            <p:cNvSpPr/>
            <p:nvPr/>
          </p:nvSpPr>
          <p:spPr>
            <a:xfrm>
              <a:off x="8115300" y="1733550"/>
              <a:ext cx="3543300" cy="2857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115300" y="1733550"/>
              <a:ext cx="3543300" cy="47625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8382000" y="2000250"/>
              <a:ext cx="495300" cy="495300"/>
            </a:xfrm>
            <a:prstGeom prst="roundRect">
              <a:avLst>
                <a:gd name="adj" fmla="val 23077"/>
              </a:avLst>
            </a:prstGeom>
            <a:solidFill>
              <a:srgbClr val="FBEDED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8496300" y="2114550"/>
              <a:ext cx="266700" cy="250031"/>
            </a:xfrm>
            <a:custGeom>
              <a:avLst/>
              <a:gdLst/>
              <a:ahLst/>
              <a:cxnLst/>
              <a:rect l="l" t="t" r="r" b="b"/>
              <a:pathLst>
                <a:path w="266700" h="250031">
                  <a:moveTo>
                    <a:pt x="266700" y="250031"/>
                  </a:moveTo>
                  <a:lnTo>
                    <a:pt x="0" y="250031"/>
                  </a:lnTo>
                  <a:lnTo>
                    <a:pt x="0" y="200025"/>
                  </a:lnTo>
                  <a:lnTo>
                    <a:pt x="116681" y="0"/>
                  </a:lnTo>
                  <a:lnTo>
                    <a:pt x="150019" y="0"/>
                  </a:lnTo>
                  <a:lnTo>
                    <a:pt x="266700" y="200025"/>
                  </a:lnTo>
                  <a:lnTo>
                    <a:pt x="266700" y="250031"/>
                  </a:lnTo>
                  <a:close/>
                  <a:moveTo>
                    <a:pt x="116681" y="66675"/>
                  </a:moveTo>
                  <a:lnTo>
                    <a:pt x="150019" y="66675"/>
                  </a:lnTo>
                  <a:lnTo>
                    <a:pt x="150019" y="150019"/>
                  </a:lnTo>
                  <a:lnTo>
                    <a:pt x="116681" y="150019"/>
                  </a:lnTo>
                  <a:lnTo>
                    <a:pt x="116681" y="66675"/>
                  </a:lnTo>
                  <a:close/>
                  <a:moveTo>
                    <a:pt x="116681" y="183356"/>
                  </a:moveTo>
                  <a:lnTo>
                    <a:pt x="150019" y="183356"/>
                  </a:lnTo>
                  <a:lnTo>
                    <a:pt x="150019" y="216694"/>
                  </a:lnTo>
                  <a:lnTo>
                    <a:pt x="116681" y="216694"/>
                  </a:lnTo>
                  <a:lnTo>
                    <a:pt x="116681" y="18335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363902" y="2703671"/>
              <a:ext cx="183191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工具之痛：能力断层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69618" y="2999899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通用工具不懂嵌入式硬件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8424862" y="3395662"/>
              <a:ext cx="66675" cy="6667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577739" y="3359229"/>
              <a:ext cx="2326160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cppcheck / clang-tidy 等通用工具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577739" y="3597354"/>
              <a:ext cx="2094131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 xml:space="preserve">不理解 </a:t>
              </a:r>
              <a:r>
                <a:rPr lang="zh-CN" sz="1088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MMIO / ISR / RTOS</a:t>
              </a:r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 xml:space="preserve"> 语义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8424862" y="3986212"/>
              <a:ext cx="66675" cy="6667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577739" y="3949779"/>
              <a:ext cx="1767840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嵌入式特有缺陷</a:t>
              </a:r>
              <a:r>
                <a:rPr lang="zh-CN" sz="1088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大量漏检</a:t>
              </a:r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577739" y="4187904"/>
              <a:ext cx="1622822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构成现有方案的能力空白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33400" y="4819650"/>
            <a:ext cx="11125200" cy="1238250"/>
            <a:chOff x="533400" y="4819650"/>
            <a:chExt cx="11125200" cy="1238250"/>
          </a:xfrm>
        </p:grpSpPr>
        <p:sp>
          <p:nvSpPr>
            <p:cNvPr id="52" name="Rectangle 52"/>
            <p:cNvSpPr/>
            <p:nvPr/>
          </p:nvSpPr>
          <p:spPr>
            <a:xfrm>
              <a:off x="533400" y="4819650"/>
              <a:ext cx="11125200" cy="1238250"/>
            </a:xfrm>
            <a:prstGeom prst="roundRect">
              <a:avLst>
                <a:gd name="adj" fmla="val 6154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33400" y="4819650"/>
              <a:ext cx="47625" cy="1238250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21055" y="5054918"/>
              <a:ext cx="34650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更深一层：LLM 带来机会，也带来新风险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3436" y="5418058"/>
              <a:ext cx="6695361" cy="236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大模型具备理解缺陷语境的潜力，但直接用于检测存在</a:t>
              </a:r>
              <a:r>
                <a:rPr lang="zh-CN" sz="1162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幻觉风险：编造行号、虚构不存在的缺陷</a:t>
              </a:r>
              <a:r>
                <a:rPr lang="zh-CN" sz="116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；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23436" y="5703808"/>
              <a:ext cx="7059656" cy="236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机会与风险共同指向本项目的设计主线——</a:t>
              </a:r>
              <a:r>
                <a:rPr lang="zh-CN" sz="1162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确定性机制约束下的大模型协同</a:t>
              </a:r>
              <a:r>
                <a:rPr lang="zh-CN" sz="116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，而不是"把代码扔给 LLM"。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22922" y="6578441"/>
            <a:ext cx="11146155" cy="167640"/>
            <a:chOff x="522922" y="6578441"/>
            <a:chExt cx="11146155" cy="167640"/>
          </a:xfrm>
        </p:grpSpPr>
        <p:sp>
          <p:nvSpPr>
            <p:cNvPr id="58" name="TextBox 58"/>
            <p:cNvSpPr txBox="1"/>
            <p:nvPr/>
          </p:nvSpPr>
          <p:spPr>
            <a:xfrm>
              <a:off x="522922" y="6578441"/>
              <a:ext cx="417397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注：P1–P7 问题域定义见《调研与技术方案》V1.2；三层落差为本项目调研报告的归纳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27107" y="6578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5" grpId="0"/>
      <p:bldP spid="38" grpId="0"/>
      <p:bldP spid="51" grpId="0"/>
      <p:bldP spid="5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33400" y="495300"/>
            <a:ext cx="11135677" cy="671512"/>
            <a:chOff x="533400" y="495300"/>
            <a:chExt cx="11135677" cy="671512"/>
          </a:xfrm>
        </p:grpSpPr>
        <p:sp>
          <p:nvSpPr>
            <p:cNvPr id="3" name="Rectangle 3"/>
            <p:cNvSpPr/>
            <p:nvPr/>
          </p:nvSpPr>
          <p:spPr>
            <a:xfrm rot="2700000">
              <a:off x="552450" y="495300"/>
              <a:ext cx="161925" cy="161925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 rot="2700000">
              <a:off x="704850" y="590550"/>
              <a:ext cx="95250" cy="952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9168" y="523399"/>
              <a:ext cx="798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PART 1 · 选题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2975" y="709612"/>
              <a:ext cx="761809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两个具体痛点：工具「看不懂硬件」，结论「不可信」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38821" y="539591"/>
              <a:ext cx="24302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ecdet · 嵌入式软件代码缺陷与安全漏洞检测系统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104900"/>
              <a:ext cx="11125200" cy="14288"/>
            </a:xfrm>
            <a:prstGeom prst="rect">
              <a:avLst/>
            </a:prstGeom>
            <a:solidFill>
              <a:srgbClr val="D8E0E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085850"/>
              <a:ext cx="1333500" cy="38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4350" y="1323975"/>
            <a:ext cx="6038850" cy="304800"/>
            <a:chOff x="514350" y="1323975"/>
            <a:chExt cx="6038850" cy="304800"/>
          </a:xfrm>
        </p:grpSpPr>
        <p:sp>
          <p:nvSpPr>
            <p:cNvPr id="11" name="TextBox 11"/>
            <p:cNvSpPr txBox="1"/>
            <p:nvPr/>
          </p:nvSpPr>
          <p:spPr>
            <a:xfrm>
              <a:off x="514350" y="1323975"/>
              <a:ext cx="6038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痛点要</a:t>
              </a:r>
              <a:r>
                <a:rPr lang="zh-CN" sz="1500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拿证据说话</a:t>
              </a:r>
              <a:r>
                <a:rPr lang="zh-CN" sz="15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：现有方案在哪里失败，就是可以做出差异的地方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33400" y="1695450"/>
            <a:ext cx="5805492" cy="3962400"/>
            <a:chOff x="533400" y="1695450"/>
            <a:chExt cx="5805492" cy="3962400"/>
          </a:xfrm>
        </p:grpSpPr>
        <p:sp>
          <p:nvSpPr>
            <p:cNvPr id="13" name="Rectangle 13"/>
            <p:cNvSpPr/>
            <p:nvPr/>
          </p:nvSpPr>
          <p:spPr>
            <a:xfrm>
              <a:off x="533400" y="1695450"/>
              <a:ext cx="5448300" cy="3962400"/>
            </a:xfrm>
            <a:prstGeom prst="roundRect">
              <a:avLst>
                <a:gd name="adj" fmla="val 2404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800100" y="1924050"/>
              <a:ext cx="723900" cy="285750"/>
            </a:xfrm>
            <a:prstGeom prst="roundRect">
              <a:avLst>
                <a:gd name="adj" fmla="val 13333"/>
              </a:avLst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11483" y="2002631"/>
              <a:ext cx="5011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痛点一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58302" y="1979771"/>
              <a:ext cx="263001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通用静态工具不懂嵌入式硬件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00100" y="2362200"/>
              <a:ext cx="4914900" cy="2019300"/>
            </a:xfrm>
            <a:prstGeom prst="roundRect">
              <a:avLst>
                <a:gd name="adj" fmla="val 283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78218" y="25426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缺陷模式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45218" y="2542699"/>
              <a:ext cx="26936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通用工具（cppcheck / clang-tidy）的表现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952500" y="2762250"/>
              <a:ext cx="4610100" cy="9525"/>
            </a:xfrm>
            <a:custGeom>
              <a:avLst/>
              <a:gdLst/>
              <a:ahLst/>
              <a:cxnLst/>
              <a:rect l="l" t="t" r="r" b="b"/>
              <a:pathLst>
                <a:path w="4610100" h="9525">
                  <a:moveTo>
                    <a:pt x="0" y="0"/>
                  </a:moveTo>
                  <a:lnTo>
                    <a:pt x="4610100" y="0"/>
                  </a:lnTo>
                </a:path>
              </a:pathLst>
            </a:custGeom>
            <a:noFill/>
            <a:ln w="9525">
              <a:solidFill>
                <a:srgbClr val="D8E0E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76789" y="2911554"/>
              <a:ext cx="2181142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向只读寄存器写入（MMIO 误用）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43789" y="2911554"/>
              <a:ext cx="1622822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无寄存器语义，直接漏报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76789" y="3254454"/>
              <a:ext cx="1724335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ISR 与任务共享变量的竞态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43789" y="3254454"/>
              <a:ext cx="1187768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不识别中断上下文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6789" y="3597354"/>
              <a:ext cx="1245775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ISR 中调用阻塞 API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43789" y="3597354"/>
              <a:ext cx="1289280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不懂 RTOS API 语义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52500" y="3943350"/>
              <a:ext cx="114300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62514" y="4036695"/>
              <a:ext cx="9229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B7C"/>
                  </a:solidFill>
                  <a:latin typeface="Consolas"/>
                  <a:ea typeface="Microsoft YaHei"/>
                  <a:cs typeface="Consolas"/>
                </a:rPr>
                <a:t>PERIPH-&gt;REG = x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254568" y="4028599"/>
              <a:ext cx="26055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← 这行代码危险与否，取决于寄存器读写属性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00100" y="4514850"/>
              <a:ext cx="4914900" cy="419100"/>
            </a:xfrm>
            <a:prstGeom prst="roundRect">
              <a:avLst>
                <a:gd name="adj" fmla="val 13636"/>
              </a:avLst>
            </a:prstGeom>
            <a:solidFill>
              <a:srgbClr val="FBEDED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75836" y="4656058"/>
              <a:ext cx="2934978" cy="236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2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→ 检不出就是漏报：风险被原样带到现场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5812" y="5136356"/>
              <a:ext cx="5181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差异机会：</a:t>
              </a:r>
              <a:r>
                <a:rPr lang="zh-CN" sz="1125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把 SVD / ISR / RTOS 语义做成确定性规则</a:t>
              </a:r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，让工具「看得懂硬件」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210300" y="1695450"/>
            <a:ext cx="5448300" cy="3962400"/>
            <a:chOff x="6210300" y="1695450"/>
            <a:chExt cx="5448300" cy="3962400"/>
          </a:xfrm>
        </p:grpSpPr>
        <p:sp>
          <p:nvSpPr>
            <p:cNvPr id="34" name="Rectangle 34"/>
            <p:cNvSpPr/>
            <p:nvPr/>
          </p:nvSpPr>
          <p:spPr>
            <a:xfrm>
              <a:off x="6210300" y="1695450"/>
              <a:ext cx="5448300" cy="3962400"/>
            </a:xfrm>
            <a:prstGeom prst="roundRect">
              <a:avLst>
                <a:gd name="adj" fmla="val 2404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77000" y="1924050"/>
              <a:ext cx="723900" cy="285750"/>
            </a:xfrm>
            <a:prstGeom prst="roundRect">
              <a:avLst>
                <a:gd name="adj" fmla="val 13333"/>
              </a:avLst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88383" y="2002631"/>
              <a:ext cx="5011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痛点二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35202" y="1979771"/>
              <a:ext cx="265994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误报泛滥 × 大模型幻觉不可信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77000" y="2362200"/>
              <a:ext cx="4914900" cy="2019300"/>
            </a:xfrm>
            <a:prstGeom prst="roundRect">
              <a:avLst>
                <a:gd name="adj" fmla="val 283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55118" y="2542699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现象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22118" y="2542699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后果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6629400" y="2762250"/>
              <a:ext cx="4610100" cy="9525"/>
            </a:xfrm>
            <a:custGeom>
              <a:avLst/>
              <a:gdLst/>
              <a:ahLst/>
              <a:cxnLst/>
              <a:rect l="l" t="t" r="r" b="b"/>
              <a:pathLst>
                <a:path w="4610100" h="9525">
                  <a:moveTo>
                    <a:pt x="0" y="0"/>
                  </a:moveTo>
                  <a:lnTo>
                    <a:pt x="4610100" y="0"/>
                  </a:lnTo>
                </a:path>
              </a:pathLst>
            </a:custGeom>
            <a:noFill/>
            <a:ln w="9525">
              <a:solidFill>
                <a:srgbClr val="D8E0E9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53689" y="2911554"/>
              <a:ext cx="1042749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静态工具误报多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320689" y="2911554"/>
              <a:ext cx="1767840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告警疲劳，开发者弃用工具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53689" y="3254454"/>
              <a:ext cx="1209520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LLM 直接研判告警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320689" y="3254454"/>
              <a:ext cx="1912858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编造行号、引用不存在的代码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53689" y="3597354"/>
              <a:ext cx="1499556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两者叠加的「AI 检测」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320689" y="3597354"/>
              <a:ext cx="1767840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结论不可复核、随模型漂移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629400" y="3943350"/>
              <a:ext cx="461010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07518" y="4028599"/>
              <a:ext cx="37562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行业共识：</a:t>
              </a:r>
              <a:r>
                <a:rPr lang="zh-CN" sz="975" b="1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宁可漏报，不可误报</a:t>
              </a:r>
              <a:r>
                <a:rPr lang="zh-CN" sz="97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 xml:space="preserve"> —— 误报率失控的工具没有第二周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77000" y="4514850"/>
              <a:ext cx="4914900" cy="419100"/>
            </a:xfrm>
            <a:prstGeom prst="roundRect">
              <a:avLst>
                <a:gd name="adj" fmla="val 13636"/>
              </a:avLst>
            </a:prstGeom>
            <a:solidFill>
              <a:srgbClr val="FBEDED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52736" y="4656058"/>
              <a:ext cx="3260519" cy="236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2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→ 结论不可信：研判环节反而成为新的风险源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62712" y="5136356"/>
              <a:ext cx="36740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差异机会：</a:t>
              </a:r>
              <a:r>
                <a:rPr lang="zh-CN" sz="1125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静态锚点优先 + 幻觉三道闸 + 动态执行实证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22922" y="6578441"/>
            <a:ext cx="11146155" cy="167640"/>
            <a:chOff x="522922" y="6578441"/>
            <a:chExt cx="11146155" cy="167640"/>
          </a:xfrm>
        </p:grpSpPr>
        <p:sp>
          <p:nvSpPr>
            <p:cNvPr id="54" name="TextBox 54"/>
            <p:cNvSpPr txBox="1"/>
            <p:nvPr/>
          </p:nvSpPr>
          <p:spPr>
            <a:xfrm>
              <a:off x="522922" y="6578441"/>
              <a:ext cx="524110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证据来源：ecdet 调研报告对 cppcheck / clang-tidy 规则集与 LLM 代码研判文献的比对分析（2026 Q3）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27107" y="6578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3" grpId="0"/>
      <p:bldP spid="5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33400" y="495300"/>
            <a:ext cx="11135677" cy="671512"/>
            <a:chOff x="533400" y="495300"/>
            <a:chExt cx="11135677" cy="671512"/>
          </a:xfrm>
        </p:grpSpPr>
        <p:sp>
          <p:nvSpPr>
            <p:cNvPr id="3" name="Rectangle 3"/>
            <p:cNvSpPr/>
            <p:nvPr/>
          </p:nvSpPr>
          <p:spPr>
            <a:xfrm rot="2700000">
              <a:off x="552450" y="495300"/>
              <a:ext cx="161925" cy="161925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 rot="2700000">
              <a:off x="704850" y="590550"/>
              <a:ext cx="95250" cy="952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9168" y="523399"/>
              <a:ext cx="798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PART 1 · 选题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2975" y="709612"/>
              <a:ext cx="478274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选题判断：四条标准都满足才立项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38821" y="539591"/>
              <a:ext cx="24302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ecdet · 嵌入式软件代码缺陷与安全漏洞检测系统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104900"/>
              <a:ext cx="11125200" cy="14288"/>
            </a:xfrm>
            <a:prstGeom prst="rect">
              <a:avLst/>
            </a:prstGeom>
            <a:solidFill>
              <a:srgbClr val="D8E0E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085850"/>
              <a:ext cx="1333500" cy="38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4350" y="1323975"/>
            <a:ext cx="5728811" cy="304800"/>
            <a:chOff x="514350" y="1323975"/>
            <a:chExt cx="5728811" cy="304800"/>
          </a:xfrm>
        </p:grpSpPr>
        <p:sp>
          <p:nvSpPr>
            <p:cNvPr id="11" name="TextBox 11"/>
            <p:cNvSpPr txBox="1"/>
            <p:nvPr/>
          </p:nvSpPr>
          <p:spPr>
            <a:xfrm>
              <a:off x="514350" y="1323975"/>
              <a:ext cx="57288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真实需求 + 开源资源 + 创新空间 + 能力匹配</a:t>
              </a:r>
              <a:r>
                <a:rPr lang="zh-CN" sz="1500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，四条都满足才立项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33400" y="1714500"/>
            <a:ext cx="7620000" cy="3143250"/>
            <a:chOff x="533400" y="1714500"/>
            <a:chExt cx="7620000" cy="3143250"/>
          </a:xfrm>
        </p:grpSpPr>
        <p:sp>
          <p:nvSpPr>
            <p:cNvPr id="13" name="Rectangle 13"/>
            <p:cNvSpPr/>
            <p:nvPr/>
          </p:nvSpPr>
          <p:spPr>
            <a:xfrm>
              <a:off x="533400" y="1714500"/>
              <a:ext cx="7620000" cy="3143250"/>
            </a:xfrm>
            <a:prstGeom prst="rect">
              <a:avLst/>
            </a:prstGeom>
            <a:noFill/>
            <a:ln w="14288">
              <a:solidFill>
                <a:srgbClr val="D8E0E9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1714500"/>
              <a:ext cx="7620000" cy="457200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08660" y="1880235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标准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32660" y="1880235"/>
              <a:ext cx="10470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ecdet 的情况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11618" y="1880235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结论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8660" y="23660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真实需求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34089" y="2311479"/>
              <a:ext cx="3544312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汽车电子 / 工控嵌入式缺陷与 MISRA · GJB 合规刚需，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234089" y="2530554"/>
              <a:ext cx="1622822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痛点直接写在行业规范里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99681" y="2431256"/>
              <a:ext cx="4775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✓ 满足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33400" y="2743200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9525">
              <a:solidFill>
                <a:srgbClr val="D8E0E9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08660" y="297561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有开源资源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34089" y="2921079"/>
              <a:ext cx="3653076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静态引擎、形式化验证器、评测数据集、本地推理框架，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234089" y="3140154"/>
              <a:ext cx="3239774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均有成熟开源实现可点状复用（见第 8 页调研表）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99681" y="3040856"/>
              <a:ext cx="4775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✓ 满足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33400" y="3352800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9525">
              <a:solidFill>
                <a:srgbClr val="D8E0E9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8660" y="358521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有创新空间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234089" y="3530679"/>
              <a:ext cx="3363039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硬件语义建模、动态执行实证、约束式大模型协同，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34089" y="3749754"/>
              <a:ext cx="3094756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三处现有方案都做得不好（见第 5 页痛点证据）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99681" y="3650456"/>
              <a:ext cx="4775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✓ 满足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533400" y="3962400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9525">
              <a:solidFill>
                <a:srgbClr val="D8E0E9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8660" y="41948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能力匹配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234089" y="4140279"/>
              <a:ext cx="3370290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团队具备 C/C++、静态分析与大模型应用工程能力；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234089" y="4359354"/>
              <a:ext cx="2347913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零依赖策略与内网隔离交付环境匹配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99681" y="4260056"/>
              <a:ext cx="4775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✓ 满足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382000" y="1714500"/>
            <a:ext cx="3276600" cy="3143250"/>
            <a:chOff x="8382000" y="1714500"/>
            <a:chExt cx="3276600" cy="3143250"/>
          </a:xfrm>
        </p:grpSpPr>
        <p:sp>
          <p:nvSpPr>
            <p:cNvPr id="38" name="Rectangle 38"/>
            <p:cNvSpPr/>
            <p:nvPr/>
          </p:nvSpPr>
          <p:spPr>
            <a:xfrm>
              <a:off x="8382000" y="1714500"/>
              <a:ext cx="3276600" cy="3143250"/>
            </a:xfrm>
            <a:prstGeom prst="roundRect">
              <a:avLst>
                <a:gd name="adj" fmla="val 2424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8382000" y="1714500"/>
              <a:ext cx="47625" cy="3143250"/>
            </a:xfrm>
            <a:prstGeom prst="roundRect">
              <a:avLst>
                <a:gd name="adj" fmla="val 50000"/>
              </a:avLst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632508" y="1900714"/>
              <a:ext cx="128204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团队与工程约束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8648700" y="2278195"/>
              <a:ext cx="209550" cy="187060"/>
              <a:chOff x="8648700" y="2278195"/>
              <a:chExt cx="209550" cy="18706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8727413" y="2278195"/>
                <a:ext cx="52124" cy="187060"/>
              </a:xfrm>
              <a:custGeom>
                <a:avLst/>
                <a:gdLst/>
                <a:ahLst/>
                <a:cxnLst/>
                <a:rect l="l" t="t" r="r" b="b"/>
                <a:pathLst>
                  <a:path w="52124" h="187060">
                    <a:moveTo>
                      <a:pt x="26194" y="0"/>
                    </a:moveTo>
                    <a:lnTo>
                      <a:pt x="0" y="183356"/>
                    </a:lnTo>
                    <a:lnTo>
                      <a:pt x="25931" y="187060"/>
                    </a:lnTo>
                    <a:lnTo>
                      <a:pt x="52124" y="3704"/>
                    </a:lnTo>
                    <a:lnTo>
                      <a:pt x="26194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793889" y="2325886"/>
                <a:ext cx="64361" cy="91678"/>
              </a:xfrm>
              <a:custGeom>
                <a:avLst/>
                <a:gdLst/>
                <a:ahLst/>
                <a:cxnLst/>
                <a:rect l="l" t="t" r="r" b="b"/>
                <a:pathLst>
                  <a:path w="64361" h="91678">
                    <a:moveTo>
                      <a:pt x="18522" y="91678"/>
                    </a:moveTo>
                    <a:lnTo>
                      <a:pt x="0" y="73157"/>
                    </a:lnTo>
                    <a:lnTo>
                      <a:pt x="27317" y="45839"/>
                    </a:lnTo>
                    <a:lnTo>
                      <a:pt x="0" y="18522"/>
                    </a:lnTo>
                    <a:lnTo>
                      <a:pt x="18522" y="0"/>
                    </a:lnTo>
                    <a:lnTo>
                      <a:pt x="64361" y="45839"/>
                    </a:lnTo>
                    <a:lnTo>
                      <a:pt x="18522" y="91678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648700" y="2325886"/>
                <a:ext cx="64361" cy="91678"/>
              </a:xfrm>
              <a:custGeom>
                <a:avLst/>
                <a:gdLst/>
                <a:ahLst/>
                <a:cxnLst/>
                <a:rect l="l" t="t" r="r" b="b"/>
                <a:pathLst>
                  <a:path w="64361" h="91678">
                    <a:moveTo>
                      <a:pt x="37044" y="45839"/>
                    </a:moveTo>
                    <a:lnTo>
                      <a:pt x="64361" y="73157"/>
                    </a:lnTo>
                    <a:lnTo>
                      <a:pt x="45839" y="91678"/>
                    </a:lnTo>
                    <a:lnTo>
                      <a:pt x="0" y="45839"/>
                    </a:lnTo>
                    <a:lnTo>
                      <a:pt x="45839" y="0"/>
                    </a:lnTo>
                    <a:lnTo>
                      <a:pt x="64361" y="18522"/>
                    </a:lnTo>
                    <a:lnTo>
                      <a:pt x="37044" y="45839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8958739" y="2244804"/>
              <a:ext cx="1920109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C/C++ 与编译、静态分析基础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8648700" y="2686050"/>
              <a:ext cx="209550" cy="196453"/>
            </a:xfrm>
            <a:custGeom>
              <a:avLst/>
              <a:gdLst/>
              <a:ahLst/>
              <a:cxnLst/>
              <a:rect l="l" t="t" r="r" b="b"/>
              <a:pathLst>
                <a:path w="209550" h="196453">
                  <a:moveTo>
                    <a:pt x="117872" y="0"/>
                  </a:moveTo>
                  <a:lnTo>
                    <a:pt x="117872" y="26194"/>
                  </a:lnTo>
                  <a:lnTo>
                    <a:pt x="170259" y="26194"/>
                  </a:lnTo>
                  <a:lnTo>
                    <a:pt x="209550" y="111323"/>
                  </a:lnTo>
                  <a:lnTo>
                    <a:pt x="170259" y="196453"/>
                  </a:lnTo>
                  <a:lnTo>
                    <a:pt x="39291" y="196453"/>
                  </a:lnTo>
                  <a:lnTo>
                    <a:pt x="0" y="111323"/>
                  </a:lnTo>
                  <a:lnTo>
                    <a:pt x="39291" y="26194"/>
                  </a:lnTo>
                  <a:lnTo>
                    <a:pt x="91678" y="26194"/>
                  </a:lnTo>
                  <a:lnTo>
                    <a:pt x="91678" y="0"/>
                  </a:lnTo>
                  <a:lnTo>
                    <a:pt x="117872" y="0"/>
                  </a:lnTo>
                  <a:close/>
                  <a:moveTo>
                    <a:pt x="60219" y="153736"/>
                  </a:moveTo>
                  <a:lnTo>
                    <a:pt x="104775" y="160591"/>
                  </a:lnTo>
                  <a:lnTo>
                    <a:pt x="149332" y="153736"/>
                  </a:lnTo>
                  <a:lnTo>
                    <a:pt x="145348" y="127847"/>
                  </a:lnTo>
                  <a:lnTo>
                    <a:pt x="104775" y="134088"/>
                  </a:lnTo>
                  <a:lnTo>
                    <a:pt x="64202" y="127847"/>
                  </a:lnTo>
                  <a:lnTo>
                    <a:pt x="60219" y="153736"/>
                  </a:lnTo>
                  <a:close/>
                  <a:moveTo>
                    <a:pt x="91678" y="88404"/>
                  </a:moveTo>
                  <a:cubicBezTo>
                    <a:pt x="91678" y="97445"/>
                    <a:pt x="84349" y="104775"/>
                    <a:pt x="75307" y="104775"/>
                  </a:cubicBezTo>
                  <a:cubicBezTo>
                    <a:pt x="66265" y="104775"/>
                    <a:pt x="58936" y="97445"/>
                    <a:pt x="58936" y="88404"/>
                  </a:cubicBezTo>
                  <a:cubicBezTo>
                    <a:pt x="58936" y="79362"/>
                    <a:pt x="66265" y="72033"/>
                    <a:pt x="75307" y="72033"/>
                  </a:cubicBezTo>
                  <a:cubicBezTo>
                    <a:pt x="84349" y="72033"/>
                    <a:pt x="91678" y="79362"/>
                    <a:pt x="91678" y="88404"/>
                  </a:cubicBezTo>
                  <a:close/>
                  <a:moveTo>
                    <a:pt x="134243" y="104775"/>
                  </a:moveTo>
                  <a:cubicBezTo>
                    <a:pt x="143285" y="104775"/>
                    <a:pt x="150614" y="97445"/>
                    <a:pt x="150614" y="88404"/>
                  </a:cubicBezTo>
                  <a:cubicBezTo>
                    <a:pt x="150614" y="79362"/>
                    <a:pt x="143285" y="72033"/>
                    <a:pt x="134243" y="72033"/>
                  </a:cubicBezTo>
                  <a:cubicBezTo>
                    <a:pt x="125201" y="72033"/>
                    <a:pt x="117872" y="79362"/>
                    <a:pt x="117872" y="88404"/>
                  </a:cubicBezTo>
                  <a:cubicBezTo>
                    <a:pt x="117872" y="97445"/>
                    <a:pt x="125201" y="104775"/>
                    <a:pt x="134243" y="104775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958739" y="2663904"/>
              <a:ext cx="1767840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大模型应用与提示工程经验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8661797" y="3105150"/>
              <a:ext cx="183356" cy="209550"/>
            </a:xfrm>
            <a:custGeom>
              <a:avLst/>
              <a:gdLst/>
              <a:ahLst/>
              <a:cxnLst/>
              <a:rect l="l" t="t" r="r" b="b"/>
              <a:pathLst>
                <a:path w="183356" h="209550">
                  <a:moveTo>
                    <a:pt x="91678" y="209550"/>
                  </a:moveTo>
                  <a:lnTo>
                    <a:pt x="43876" y="175405"/>
                  </a:lnTo>
                  <a:cubicBezTo>
                    <a:pt x="16341" y="155738"/>
                    <a:pt x="0" y="123984"/>
                    <a:pt x="0" y="90147"/>
                  </a:cubicBezTo>
                  <a:lnTo>
                    <a:pt x="0" y="39291"/>
                  </a:lnTo>
                  <a:lnTo>
                    <a:pt x="91678" y="0"/>
                  </a:lnTo>
                  <a:lnTo>
                    <a:pt x="183356" y="39291"/>
                  </a:lnTo>
                  <a:lnTo>
                    <a:pt x="183356" y="90147"/>
                  </a:lnTo>
                  <a:cubicBezTo>
                    <a:pt x="183356" y="123984"/>
                    <a:pt x="167015" y="155738"/>
                    <a:pt x="139480" y="175405"/>
                  </a:cubicBezTo>
                  <a:lnTo>
                    <a:pt x="91678" y="209550"/>
                  </a:lnTo>
                  <a:close/>
                  <a:moveTo>
                    <a:pt x="146778" y="74745"/>
                  </a:moveTo>
                  <a:lnTo>
                    <a:pt x="128256" y="56223"/>
                  </a:lnTo>
                  <a:lnTo>
                    <a:pt x="78581" y="105899"/>
                  </a:lnTo>
                  <a:lnTo>
                    <a:pt x="55100" y="82417"/>
                  </a:lnTo>
                  <a:lnTo>
                    <a:pt x="36578" y="100939"/>
                  </a:lnTo>
                  <a:lnTo>
                    <a:pt x="78581" y="142942"/>
                  </a:lnTo>
                  <a:lnTo>
                    <a:pt x="146778" y="74745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958739" y="3083004"/>
              <a:ext cx="1789593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内网交付经验 → 零依赖策略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8674894" y="3524250"/>
              <a:ext cx="157162" cy="209550"/>
            </a:xfrm>
            <a:custGeom>
              <a:avLst/>
              <a:gdLst/>
              <a:ahLst/>
              <a:cxnLst/>
              <a:rect l="l" t="t" r="r" b="b"/>
              <a:pathLst>
                <a:path w="157162" h="209550">
                  <a:moveTo>
                    <a:pt x="39291" y="0"/>
                  </a:moveTo>
                  <a:cubicBezTo>
                    <a:pt x="17591" y="0"/>
                    <a:pt x="0" y="17591"/>
                    <a:pt x="0" y="39291"/>
                  </a:cubicBezTo>
                  <a:lnTo>
                    <a:pt x="0" y="170259"/>
                  </a:lnTo>
                  <a:cubicBezTo>
                    <a:pt x="0" y="191960"/>
                    <a:pt x="17591" y="209550"/>
                    <a:pt x="39291" y="209550"/>
                  </a:cubicBezTo>
                  <a:lnTo>
                    <a:pt x="157162" y="209550"/>
                  </a:lnTo>
                  <a:lnTo>
                    <a:pt x="157162" y="183356"/>
                  </a:lnTo>
                  <a:lnTo>
                    <a:pt x="26194" y="183356"/>
                  </a:lnTo>
                  <a:lnTo>
                    <a:pt x="26194" y="157162"/>
                  </a:lnTo>
                  <a:lnTo>
                    <a:pt x="157162" y="157162"/>
                  </a:lnTo>
                  <a:lnTo>
                    <a:pt x="157162" y="0"/>
                  </a:lnTo>
                  <a:lnTo>
                    <a:pt x="39291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958739" y="3502104"/>
              <a:ext cx="2239149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方法论依据：调研与技术方案 V1.2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8648700" y="3924300"/>
              <a:ext cx="2743200" cy="9525"/>
            </a:xfrm>
            <a:custGeom>
              <a:avLst/>
              <a:gdLst/>
              <a:ahLst/>
              <a:cxnLst/>
              <a:rect l="l" t="t" r="r" b="b"/>
              <a:pathLst>
                <a:path w="2743200" h="9525">
                  <a:moveTo>
                    <a:pt x="0" y="0"/>
                  </a:moveTo>
                  <a:lnTo>
                    <a:pt x="2743200" y="0"/>
                  </a:lnTo>
                </a:path>
              </a:pathLst>
            </a:custGeom>
            <a:noFill/>
            <a:ln w="9525">
              <a:solidFill>
                <a:srgbClr val="D8E0E9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35841" y="4119801"/>
              <a:ext cx="2341257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立题起即按「复用 / 自研」地图分工，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35841" y="4348401"/>
              <a:ext cx="2145482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每版回归跑消融指标（见第 22 页）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33400" y="5200650"/>
            <a:ext cx="11125200" cy="819150"/>
            <a:chOff x="533400" y="5200650"/>
            <a:chExt cx="11125200" cy="819150"/>
          </a:xfrm>
        </p:grpSpPr>
        <p:sp>
          <p:nvSpPr>
            <p:cNvPr id="56" name="Rectangle 56"/>
            <p:cNvSpPr/>
            <p:nvPr/>
          </p:nvSpPr>
          <p:spPr>
            <a:xfrm>
              <a:off x="533400" y="5200650"/>
              <a:ext cx="11125200" cy="819150"/>
            </a:xfrm>
            <a:prstGeom prst="roundRect">
              <a:avLst>
                <a:gd name="adj" fmla="val 9302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33400" y="5200650"/>
              <a:ext cx="47625" cy="819150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22960" y="5414010"/>
              <a:ext cx="79497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方法提炼①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23436" y="5703808"/>
              <a:ext cx="6865882" cy="236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先写一句</a:t>
              </a:r>
              <a:r>
                <a:rPr lang="zh-CN" sz="1162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「谁在什么场景遇到什么麻烦」</a:t>
              </a:r>
              <a:r>
                <a:rPr lang="zh-CN" sz="116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，再盘点</a:t>
              </a:r>
              <a:r>
                <a:rPr lang="zh-CN" sz="1162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能复用哪些开源资源</a:t>
              </a:r>
              <a:r>
                <a:rPr lang="zh-CN" sz="116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——两个问题都有答案才立项。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22922" y="6578441"/>
            <a:ext cx="11146155" cy="167640"/>
            <a:chOff x="522922" y="6578441"/>
            <a:chExt cx="11146155" cy="167640"/>
          </a:xfrm>
        </p:grpSpPr>
        <p:sp>
          <p:nvSpPr>
            <p:cNvPr id="61" name="TextBox 61"/>
            <p:cNvSpPr txBox="1"/>
            <p:nvPr/>
          </p:nvSpPr>
          <p:spPr>
            <a:xfrm>
              <a:off x="522922" y="6578441"/>
              <a:ext cx="546113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注：判断框架沿用课程案例（StackSolve / 伯乐）的四条选题标准；「ecdet 的情况」来自调研报告与团队实际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27107" y="6578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7" grpId="0"/>
      <p:bldP spid="55" grpId="0"/>
      <p:bldP spid="6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3F6B"/>
              </a:gs>
              <a:gs pos="100000">
                <a:srgbClr val="122A47"/>
              </a:gs>
            </a:gsLst>
            <a:lin ang="2700000" scaled="1"/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9429750" y="1143000"/>
            <a:ext cx="3810000" cy="6477000"/>
            <a:chOff x="9429750" y="1143000"/>
            <a:chExt cx="3810000" cy="6477000"/>
          </a:xfrm>
        </p:grpSpPr>
        <p:sp>
          <p:nvSpPr>
            <p:cNvPr id="3" name="Ellipse 3"/>
            <p:cNvSpPr/>
            <p:nvPr/>
          </p:nvSpPr>
          <p:spPr>
            <a:xfrm>
              <a:off x="9429750" y="381000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FFFFFF">
                  <a:alpha val="5000"/>
                </a:srgbClr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9944100" y="4324350"/>
              <a:ext cx="2781300" cy="2781300"/>
            </a:xfrm>
            <a:prstGeom prst="ellipse">
              <a:avLst/>
            </a:prstGeom>
            <a:noFill/>
            <a:ln w="9525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5" name="Rectangle 5"/>
            <p:cNvSpPr/>
            <p:nvPr/>
          </p:nvSpPr>
          <p:spPr>
            <a:xfrm rot="2700000">
              <a:off x="10287000" y="1143000"/>
              <a:ext cx="190500" cy="190500"/>
            </a:xfrm>
            <a:prstGeom prst="rect">
              <a:avLst/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 rot="2700000">
              <a:off x="10668000" y="1562100"/>
              <a:ext cx="114300" cy="114300"/>
            </a:xfrm>
            <a:prstGeom prst="rect">
              <a:avLst/>
            </a:prstGeom>
            <a:solidFill>
              <a:srgbClr val="7FB0E0">
                <a:alpha val="35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809625" y="1947862"/>
            <a:ext cx="1480209" cy="1676400"/>
            <a:chOff x="809625" y="1947862"/>
            <a:chExt cx="1480209" cy="1676400"/>
          </a:xfrm>
        </p:grpSpPr>
        <p:sp>
          <p:nvSpPr>
            <p:cNvPr id="8" name="TextBox 8"/>
            <p:cNvSpPr txBox="1"/>
            <p:nvPr/>
          </p:nvSpPr>
          <p:spPr>
            <a:xfrm>
              <a:off x="809625" y="1947862"/>
              <a:ext cx="1480209" cy="1676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14400" y="3295650"/>
            <a:ext cx="6134100" cy="609600"/>
            <a:chOff x="914400" y="3295650"/>
            <a:chExt cx="6134100" cy="609600"/>
          </a:xfrm>
        </p:grpSpPr>
        <p:sp>
          <p:nvSpPr>
            <p:cNvPr id="10" name="TextBox 10"/>
            <p:cNvSpPr txBox="1"/>
            <p:nvPr/>
          </p:nvSpPr>
          <p:spPr>
            <a:xfrm>
              <a:off x="914400" y="3295650"/>
              <a:ext cx="595693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立题：先问「哪些不用自己写」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52500" y="3886200"/>
              <a:ext cx="6096000" cy="19050"/>
            </a:xfrm>
            <a:prstGeom prst="rect">
              <a:avLst/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935355" y="4197668"/>
            <a:ext cx="7073170" cy="922020"/>
            <a:chOff x="935355" y="4197668"/>
            <a:chExt cx="7073170" cy="922020"/>
          </a:xfrm>
        </p:grpSpPr>
        <p:sp>
          <p:nvSpPr>
            <p:cNvPr id="13" name="TextBox 13"/>
            <p:cNvSpPr txBox="1"/>
            <p:nvPr/>
          </p:nvSpPr>
          <p:spPr>
            <a:xfrm>
              <a:off x="935355" y="4197668"/>
              <a:ext cx="70731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调研不是只找一个，而是把候选摆在</a:t>
              </a:r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一张表里</a:t>
              </a:r>
              <a:r>
                <a:rPr lang="zh-CN" sz="135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——决定谁做引擎、谁做数据、谁只做参照。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5355" y="4521518"/>
              <a:ext cx="34637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ecdet 的答案：</a:t>
              </a:r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不选「大基座」二次开发</a:t>
              </a:r>
              <a:r>
                <a:rPr lang="zh-CN" sz="135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5355" y="4845368"/>
              <a:ext cx="47688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而是</a:t>
              </a:r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标准 + 引擎 + 数据的点状复用</a:t>
              </a:r>
              <a:r>
                <a:rPr lang="zh-CN" sz="135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，自研集中在检测内核。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38212" y="6088856"/>
            <a:ext cx="10313671" cy="245269"/>
            <a:chOff x="938212" y="6088856"/>
            <a:chExt cx="10313671" cy="245269"/>
          </a:xfrm>
        </p:grpSpPr>
        <p:sp>
          <p:nvSpPr>
            <p:cNvPr id="17" name="TextBox 17"/>
            <p:cNvSpPr txBox="1"/>
            <p:nvPr/>
          </p:nvSpPr>
          <p:spPr>
            <a:xfrm>
              <a:off x="938212" y="6088856"/>
              <a:ext cx="5011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9C3E2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01 选题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85962" y="6088856"/>
              <a:ext cx="5641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 立题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000250" y="6305550"/>
              <a:ext cx="495300" cy="28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033712" y="6088856"/>
              <a:ext cx="5386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9C3E2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03 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081462" y="6088856"/>
              <a:ext cx="5386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9C3E2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04 计划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939957" y="6105049"/>
              <a:ext cx="13119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A9C3E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ecdet · 项目现状汇报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33400" y="495300"/>
            <a:ext cx="11135677" cy="671512"/>
            <a:chOff x="533400" y="495300"/>
            <a:chExt cx="11135677" cy="671512"/>
          </a:xfrm>
        </p:grpSpPr>
        <p:sp>
          <p:nvSpPr>
            <p:cNvPr id="3" name="Rectangle 3"/>
            <p:cNvSpPr/>
            <p:nvPr/>
          </p:nvSpPr>
          <p:spPr>
            <a:xfrm rot="2700000">
              <a:off x="552450" y="495300"/>
              <a:ext cx="161925" cy="161925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 rot="2700000">
              <a:off x="704850" y="590550"/>
              <a:ext cx="95250" cy="952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9168" y="523399"/>
              <a:ext cx="8308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PART 2 · 立题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2975" y="709612"/>
              <a:ext cx="604289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开源调研：每项能力先问「有没有现成的」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38821" y="539591"/>
              <a:ext cx="24302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ecdet · 嵌入式软件代码缺陷与安全漏洞检测系统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104900"/>
              <a:ext cx="11125200" cy="14288"/>
            </a:xfrm>
            <a:prstGeom prst="rect">
              <a:avLst/>
            </a:prstGeom>
            <a:solidFill>
              <a:srgbClr val="D8E0E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085850"/>
              <a:ext cx="1333500" cy="38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4350" y="1285875"/>
            <a:ext cx="6638925" cy="304800"/>
            <a:chOff x="514350" y="1285875"/>
            <a:chExt cx="6638925" cy="304800"/>
          </a:xfrm>
        </p:grpSpPr>
        <p:sp>
          <p:nvSpPr>
            <p:cNvPr id="11" name="TextBox 11"/>
            <p:cNvSpPr txBox="1"/>
            <p:nvPr/>
          </p:nvSpPr>
          <p:spPr>
            <a:xfrm>
              <a:off x="514350" y="1285875"/>
              <a:ext cx="66389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调研不是只找一个，而是对比几个，决定</a:t>
              </a:r>
              <a:r>
                <a:rPr lang="zh-CN" sz="1500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谁做引擎、谁做数据、谁只做参照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533400" y="1619250"/>
            <a:ext cx="11125200" cy="4351734"/>
            <a:chOff x="533400" y="1619250"/>
            <a:chExt cx="11125200" cy="4351734"/>
          </a:xfrm>
        </p:grpSpPr>
        <p:sp>
          <p:nvSpPr>
            <p:cNvPr id="13" name="Rectangle 13"/>
            <p:cNvSpPr/>
            <p:nvPr/>
          </p:nvSpPr>
          <p:spPr>
            <a:xfrm>
              <a:off x="533400" y="1619250"/>
              <a:ext cx="11125200" cy="361950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2465" y="1744028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05965" y="1744028"/>
              <a:ext cx="1055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开源资源与链接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39715" y="1744028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许可证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16065" y="1744028"/>
              <a:ext cx="3501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Star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30465" y="1744028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我们的决定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981200"/>
              <a:ext cx="11125200" cy="40005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2941" y="2062401"/>
              <a:ext cx="876324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静态基线引擎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06441" y="2024301"/>
              <a:ext cx="649495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cppcheck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09299" y="2210514"/>
              <a:ext cx="2267283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8" dirty="0">
                  <a:solidFill>
                    <a:srgbClr val="5B6B7C"/>
                  </a:solidFill>
                  <a:latin typeface="Consolas"/>
                  <a:ea typeface="Microsoft YaHei"/>
                  <a:cs typeface="Consolas"/>
                </a:rPr>
                <a:t>github.com/cppcheck-opensource/cppcheck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41620" y="2131695"/>
              <a:ext cx="4849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GPL-3.0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16541" y="2119551"/>
              <a:ext cx="33760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6.8k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30941" y="2119551"/>
              <a:ext cx="45102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已接入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40541" y="2119551"/>
              <a:ext cx="245602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检测到安装即独立进程调用，不链接源码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2941" y="2462451"/>
              <a:ext cx="876324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静态规则补强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006441" y="2424351"/>
              <a:ext cx="73455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clang-tidy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09299" y="2610564"/>
              <a:ext cx="1542693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8" dirty="0">
                  <a:solidFill>
                    <a:srgbClr val="5B6B7C"/>
                  </a:solidFill>
                  <a:latin typeface="Consolas"/>
                  <a:ea typeface="Microsoft YaHei"/>
                  <a:cs typeface="Consolas"/>
                </a:rPr>
                <a:t>github.com/llvm/llvm-project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41620" y="2531745"/>
              <a:ext cx="6829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Apache-2.0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16541" y="2519601"/>
              <a:ext cx="380137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41.2k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30941" y="2519601"/>
              <a:ext cx="45102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已接入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40541" y="2519601"/>
              <a:ext cx="164592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与 cppcheck 同一适配模式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2781300"/>
              <a:ext cx="11125200" cy="40005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2941" y="2862501"/>
              <a:ext cx="73455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形式化验证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006441" y="2824401"/>
              <a:ext cx="1719842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ESBMC（SMT / 边界验证）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009299" y="3010614"/>
              <a:ext cx="1327416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8" dirty="0">
                  <a:solidFill>
                    <a:srgbClr val="5B6B7C"/>
                  </a:solidFill>
                  <a:latin typeface="Consolas"/>
                  <a:ea typeface="Microsoft YaHei"/>
                  <a:cs typeface="Consolas"/>
                </a:rPr>
                <a:t>github.com/esbmc/esbmc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341620" y="2931795"/>
              <a:ext cx="4969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BSD 变体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16541" y="2919651"/>
              <a:ext cx="259634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533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30941" y="2919651"/>
              <a:ext cx="45102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已接入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40541" y="2919651"/>
              <a:ext cx="188220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界内验证失败 → Proven 级告警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2941" y="3262551"/>
              <a:ext cx="1018092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本地大模型推理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006441" y="3224451"/>
              <a:ext cx="98265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vLLM · Ollama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009299" y="3410664"/>
              <a:ext cx="2981373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8" dirty="0">
                  <a:solidFill>
                    <a:srgbClr val="5B6B7C"/>
                  </a:solidFill>
                  <a:latin typeface="Consolas"/>
                  <a:ea typeface="Microsoft YaHei"/>
                  <a:cs typeface="Consolas"/>
                </a:rPr>
                <a:t>github.com/vllm-project/vllm · github.com/ollama/ollama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341620" y="3331845"/>
              <a:ext cx="10129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Apache-2.0 · MIT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16541" y="3319701"/>
              <a:ext cx="855059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95.7k · 185k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30941" y="3319701"/>
              <a:ext cx="45102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已接入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40541" y="3319701"/>
              <a:ext cx="185519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OpenAI 兼容端点，数据不出域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3581400"/>
              <a:ext cx="11125200" cy="400050"/>
            </a:xfrm>
            <a:prstGeom prst="rect">
              <a:avLst/>
            </a:prstGeom>
            <a:solidFill>
              <a:srgbClr val="FBEDED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2941" y="3662601"/>
              <a:ext cx="1018092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指令级仿真载体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006441" y="3624501"/>
              <a:ext cx="1379599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Unicorn（CPU 仿真）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009299" y="3810714"/>
              <a:ext cx="1841980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8" dirty="0">
                  <a:solidFill>
                    <a:srgbClr val="5B6B7C"/>
                  </a:solidFill>
                  <a:latin typeface="Consolas"/>
                  <a:ea typeface="Microsoft YaHei"/>
                  <a:cs typeface="Consolas"/>
                </a:rPr>
                <a:t>github.com/unicorn-engine/unicorn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341620" y="3731895"/>
              <a:ext cx="4849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GPL-2.0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16541" y="3719751"/>
              <a:ext cx="33760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9.5k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530941" y="3719751"/>
              <a:ext cx="45102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未接入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140541" y="3719751"/>
              <a:ext cx="233450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探测就绪，执行回路待固件语料（P2）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72941" y="4062651"/>
              <a:ext cx="1018092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外设级仿真载体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006441" y="4024551"/>
              <a:ext cx="1344157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Renode（整机仿真）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009299" y="4210764"/>
              <a:ext cx="1400925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8" dirty="0">
                  <a:solidFill>
                    <a:srgbClr val="5B6B7C"/>
                  </a:solidFill>
                  <a:latin typeface="Consolas"/>
                  <a:ea typeface="Microsoft YaHei"/>
                  <a:cs typeface="Consolas"/>
                </a:rPr>
                <a:t>github.com/renode/renode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341620" y="4131945"/>
              <a:ext cx="2148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MIT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16541" y="4119801"/>
              <a:ext cx="302165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3.1k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530941" y="4119801"/>
              <a:ext cx="45102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未接入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140541" y="4119801"/>
              <a:ext cx="2543782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同上，三级吞吐-保真梯度的最高档（P2）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33400" y="4381500"/>
              <a:ext cx="11125200" cy="400050"/>
            </a:xfrm>
            <a:prstGeom prst="rect">
              <a:avLst/>
            </a:prstGeom>
            <a:solidFill>
              <a:srgbClr val="FBEDED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72941" y="4462701"/>
              <a:ext cx="73455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代码属性图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006441" y="4424601"/>
              <a:ext cx="415579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Joern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009299" y="4610814"/>
              <a:ext cx="1322165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8" dirty="0">
                  <a:solidFill>
                    <a:srgbClr val="5B6B7C"/>
                  </a:solidFill>
                  <a:latin typeface="Consolas"/>
                  <a:ea typeface="Microsoft YaHei"/>
                  <a:cs typeface="Consolas"/>
                </a:rPr>
                <a:t>github.com/joernio/joern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341620" y="4531995"/>
              <a:ext cx="6829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Apache-2.0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16541" y="4519851"/>
              <a:ext cx="33760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3.6k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530941" y="4519851"/>
              <a:ext cx="45102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未接入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140541" y="4519851"/>
              <a:ext cx="257078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跨函数数据流（当前最大短板）备选（P1）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72941" y="4862751"/>
              <a:ext cx="73455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评测数据集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2006441" y="4824651"/>
              <a:ext cx="106771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NIST Juliet 基准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2009299" y="5010864"/>
              <a:ext cx="1605701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8" dirty="0">
                  <a:solidFill>
                    <a:srgbClr val="5B6B7C"/>
                  </a:solidFill>
                  <a:latin typeface="Consolas"/>
                  <a:ea typeface="Microsoft YaHei"/>
                  <a:cs typeface="Consolas"/>
                </a:rPr>
                <a:t>samate.nist.gov/TestProjects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341620" y="493204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公有领域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616541" y="4919901"/>
              <a:ext cx="99977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—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530941" y="4919901"/>
              <a:ext cx="592788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部分完成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140541" y="4919901"/>
              <a:ext cx="20509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评测管线已打通，</a:t>
              </a:r>
              <a:r>
                <a:rPr lang="zh-CN" sz="1012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全量成稿待下载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533400" y="5181600"/>
              <a:ext cx="11125200" cy="40005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72941" y="5262801"/>
              <a:ext cx="876324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去重方法借鉴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2006441" y="5224701"/>
              <a:ext cx="1358334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PrimeVul 数据集方法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2009299" y="5410914"/>
              <a:ext cx="1574197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8" dirty="0">
                  <a:solidFill>
                    <a:srgbClr val="5B6B7C"/>
                  </a:solidFill>
                  <a:latin typeface="Consolas"/>
                  <a:ea typeface="Microsoft YaHei"/>
                  <a:cs typeface="Consolas"/>
                </a:rPr>
                <a:t>github.com/DLVulDet/PrimeVul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5341620" y="5332095"/>
              <a:ext cx="2148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MIT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616541" y="5319951"/>
              <a:ext cx="259634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280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530941" y="5319951"/>
              <a:ext cx="592788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方法借鉴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140541" y="5319951"/>
              <a:ext cx="1780937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自建数据集的近重复指纹删除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72941" y="5662851"/>
              <a:ext cx="73455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标准与规范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2006441" y="5624751"/>
              <a:ext cx="3052458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SARIF 2.1.0 · CMSIS-SVD · MISRA / CERT / GJB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2009299" y="5810964"/>
              <a:ext cx="3364671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8" dirty="0">
                  <a:solidFill>
                    <a:srgbClr val="5B6B7C"/>
                  </a:solidFill>
                  <a:latin typeface="Consolas"/>
                  <a:ea typeface="Microsoft YaHei"/>
                  <a:cs typeface="Consolas"/>
                </a:rPr>
                <a:t>docs.oasis-open.org/sarif · arm-software.github.io/CMSIS-SVD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5341620" y="5732145"/>
              <a:ext cx="6409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标准 / 规范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616541" y="5720001"/>
              <a:ext cx="99977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—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530941" y="5720001"/>
              <a:ext cx="592788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规范复用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8140541" y="5720001"/>
              <a:ext cx="2327755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SARIF 数据模型 · SVD 建模 · 规则来源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521970" y="6208395"/>
            <a:ext cx="11147107" cy="537686"/>
            <a:chOff x="521970" y="6208395"/>
            <a:chExt cx="11147107" cy="537686"/>
          </a:xfrm>
        </p:grpSpPr>
        <p:sp>
          <p:nvSpPr>
            <p:cNvPr id="95" name="TextBox 95"/>
            <p:cNvSpPr txBox="1"/>
            <p:nvPr/>
          </p:nvSpPr>
          <p:spPr>
            <a:xfrm>
              <a:off x="521970" y="6208395"/>
              <a:ext cx="70557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怎么做调研：在 GitHub 按能力搜 → 看许可证、Star 与活跃度 → 逐个跑起来再定；</a:t>
              </a:r>
              <a:r>
                <a:rPr lang="zh-CN" sz="9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红色 = 计划复用但尚未完成</a:t>
              </a:r>
              <a:r>
                <a:rPr lang="zh-CN" sz="90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，与已接入项对照呈现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522922" y="6578441"/>
              <a:ext cx="32278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Star 为 2026-10-27 GitHub 查询；各许可证义务与用法见第 12 页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527107" y="6578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9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33400" y="495300"/>
            <a:ext cx="11135677" cy="671512"/>
            <a:chOff x="533400" y="495300"/>
            <a:chExt cx="11135677" cy="671512"/>
          </a:xfrm>
        </p:grpSpPr>
        <p:sp>
          <p:nvSpPr>
            <p:cNvPr id="3" name="Rectangle 3"/>
            <p:cNvSpPr/>
            <p:nvPr/>
          </p:nvSpPr>
          <p:spPr>
            <a:xfrm rot="2700000">
              <a:off x="552450" y="495300"/>
              <a:ext cx="161925" cy="161925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 rot="2700000">
              <a:off x="704850" y="590550"/>
              <a:ext cx="95250" cy="952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9168" y="523399"/>
              <a:ext cx="8308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PART 2 · 立题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2975" y="709612"/>
              <a:ext cx="604289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立题决策：为什么不选「大基座」二次开发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38821" y="539591"/>
              <a:ext cx="24302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ecdet · 嵌入式软件代码缺陷与安全漏洞检测系统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104900"/>
              <a:ext cx="11125200" cy="14288"/>
            </a:xfrm>
            <a:prstGeom prst="rect">
              <a:avLst/>
            </a:prstGeom>
            <a:solidFill>
              <a:srgbClr val="D8E0E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085850"/>
              <a:ext cx="1333500" cy="38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4350" y="1323975"/>
            <a:ext cx="6838950" cy="304800"/>
            <a:chOff x="514350" y="1323975"/>
            <a:chExt cx="6838950" cy="304800"/>
          </a:xfrm>
        </p:grpSpPr>
        <p:sp>
          <p:nvSpPr>
            <p:cNvPr id="11" name="TextBox 11"/>
            <p:cNvSpPr txBox="1"/>
            <p:nvPr/>
          </p:nvSpPr>
          <p:spPr>
            <a:xfrm>
              <a:off x="514350" y="1323975"/>
              <a:ext cx="68389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同一套开源方法论，两条路线：</a:t>
              </a:r>
              <a:r>
                <a:rPr lang="zh-CN" sz="1500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差异来自交付环境与创新所在，而非方法本身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33400" y="1676400"/>
            <a:ext cx="11125200" cy="3409950"/>
            <a:chOff x="533400" y="1676400"/>
            <a:chExt cx="11125200" cy="3409950"/>
          </a:xfrm>
        </p:grpSpPr>
        <p:sp>
          <p:nvSpPr>
            <p:cNvPr id="13" name="Rectangle 13"/>
            <p:cNvSpPr/>
            <p:nvPr/>
          </p:nvSpPr>
          <p:spPr>
            <a:xfrm>
              <a:off x="533400" y="1676400"/>
              <a:ext cx="1905000" cy="514350"/>
            </a:xfrm>
            <a:prstGeom prst="rect">
              <a:avLst/>
            </a:prstGeom>
            <a:solidFill>
              <a:srgbClr val="F2F6FA"/>
            </a:solidFill>
            <a:ln w="9525">
              <a:solidFill>
                <a:srgbClr val="D8E0E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14093" y="1869281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维度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438400" y="1676400"/>
              <a:ext cx="4572000" cy="514350"/>
            </a:xfrm>
            <a:prstGeom prst="rect">
              <a:avLst/>
            </a:prstGeom>
            <a:solidFill>
              <a:srgbClr val="5B6B7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617023" y="1756410"/>
              <a:ext cx="22147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课程案例：平台基座二次开发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45862" y="1998345"/>
              <a:ext cx="17570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StackSolve / 伯乐 → Yuxi-Know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010400" y="1676400"/>
              <a:ext cx="4648200" cy="514350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70891" y="1756410"/>
              <a:ext cx="27272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ecdet：标准 · 引擎 · 数据点状复用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42972" y="1998345"/>
              <a:ext cx="1583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五层骨架自研，外围即插即用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2190750"/>
              <a:ext cx="1905000" cy="723900"/>
            </a:xfrm>
            <a:prstGeom prst="rect">
              <a:avLst/>
            </a:prstGeom>
            <a:solidFill>
              <a:srgbClr val="F2F6FA"/>
            </a:solidFill>
            <a:ln w="9525">
              <a:solidFill>
                <a:srgbClr val="D8E0E9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56573" y="247888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复用对象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438400" y="2190750"/>
              <a:ext cx="4572000" cy="723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615565" y="2382202"/>
              <a:ext cx="18749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Yuxi-Know 平台基座整体导入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615565" y="2629852"/>
              <a:ext cx="22879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435 个文件 / 11 万行，两天做出 MVP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010400" y="2190750"/>
              <a:ext cx="4648200" cy="723900"/>
            </a:xfrm>
            <a:prstGeom prst="rect">
              <a:avLst/>
            </a:prstGeom>
            <a:solidFill>
              <a:srgbClr val="EAF1F8"/>
            </a:solidFill>
            <a:ln w="14288">
              <a:solidFill>
                <a:srgbClr val="0070C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187565" y="2382202"/>
              <a:ext cx="27080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标准（SARIF / SVD / MISRA）+ 引擎 + 数据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87565" y="2629852"/>
              <a:ext cx="24069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逐项评估、逐项接入，不绑定任何平台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2914650"/>
              <a:ext cx="1905000" cy="723900"/>
            </a:xfrm>
            <a:prstGeom prst="rect">
              <a:avLst/>
            </a:prstGeom>
            <a:solidFill>
              <a:srgbClr val="F2F6FA"/>
            </a:solidFill>
            <a:ln w="9525">
              <a:solidFill>
                <a:srgbClr val="D8E0E9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56573" y="320278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交付环境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438400" y="2914650"/>
              <a:ext cx="4572000" cy="723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615565" y="3106102"/>
              <a:ext cx="16508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在线 Web 服务 / 云端演示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615565" y="335375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可安装第三方依赖与容器编排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010400" y="2914650"/>
              <a:ext cx="4648200" cy="723900"/>
            </a:xfrm>
            <a:prstGeom prst="rect">
              <a:avLst/>
            </a:prstGeom>
            <a:solidFill>
              <a:srgbClr val="EAF1F8"/>
            </a:solidFill>
            <a:ln w="14288">
              <a:solidFill>
                <a:srgbClr val="0070C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87565" y="310610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内网隔离的构建机工具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187565" y="3353752"/>
              <a:ext cx="27080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军工 / 汽车研发网：拷贝即用、离线可运行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638550"/>
              <a:ext cx="1905000" cy="723900"/>
            </a:xfrm>
            <a:prstGeom prst="rect">
              <a:avLst/>
            </a:prstGeom>
            <a:solidFill>
              <a:srgbClr val="F2F6FA"/>
            </a:solidFill>
            <a:ln w="9525">
              <a:solidFill>
                <a:srgbClr val="D8E0E9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156573" y="392668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创新所在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438400" y="3638550"/>
              <a:ext cx="4572000" cy="723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615565" y="383000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场景功能层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615565" y="4077652"/>
              <a:ext cx="27360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网页视觉知识库 / 面试 Agent / 评分流水线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010400" y="3638550"/>
              <a:ext cx="4648200" cy="723900"/>
            </a:xfrm>
            <a:prstGeom prst="rect">
              <a:avLst/>
            </a:prstGeom>
            <a:solidFill>
              <a:srgbClr val="EAF1F8"/>
            </a:solidFill>
            <a:ln w="14288">
              <a:solidFill>
                <a:srgbClr val="0070C0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187565" y="38300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检测内核本身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87565" y="4077652"/>
              <a:ext cx="27920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硬件语义建模 / 动态实证 / 约束式 LLM 协同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362450"/>
              <a:ext cx="1905000" cy="723900"/>
            </a:xfrm>
            <a:prstGeom prst="rect">
              <a:avLst/>
            </a:prstGeom>
            <a:solidFill>
              <a:srgbClr val="F2F6FA"/>
            </a:solidFill>
            <a:ln w="9525">
              <a:solidFill>
                <a:srgbClr val="D8E0E9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156573" y="465058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依赖策略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438400" y="4362450"/>
              <a:ext cx="4572000" cy="723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615565" y="455390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随基座引入整套依赖栈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615565" y="4801552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开发体验优先，容器编排解决部署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010400" y="4362450"/>
              <a:ext cx="4648200" cy="723900"/>
            </a:xfrm>
            <a:prstGeom prst="rect">
              <a:avLst/>
            </a:prstGeom>
            <a:solidFill>
              <a:srgbClr val="EAF1F8"/>
            </a:solidFill>
            <a:ln w="14288">
              <a:solidFill>
                <a:srgbClr val="0070C0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187565" y="455390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核心运行时零第三方依赖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87565" y="4801552"/>
              <a:ext cx="26870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外部引擎「检测到安装即接入」，非硬依赖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33400" y="5238750"/>
            <a:ext cx="11125200" cy="533400"/>
            <a:chOff x="533400" y="5238750"/>
            <a:chExt cx="11125200" cy="533400"/>
          </a:xfrm>
        </p:grpSpPr>
        <p:sp>
          <p:nvSpPr>
            <p:cNvPr id="54" name="Rectangle 54"/>
            <p:cNvSpPr/>
            <p:nvPr/>
          </p:nvSpPr>
          <p:spPr>
            <a:xfrm>
              <a:off x="533400" y="5238750"/>
              <a:ext cx="11125200" cy="533400"/>
            </a:xfrm>
            <a:prstGeom prst="roundRect">
              <a:avLst>
                <a:gd name="adj" fmla="val 14286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10089" y="5445204"/>
              <a:ext cx="9178266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理由①</a:t>
              </a:r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 xml:space="preserve"> 内网环境「拷贝即用、离线可运行」是刚性需求 </a:t>
              </a:r>
              <a:r>
                <a:rPr lang="zh-CN" sz="1088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理由②</a:t>
              </a:r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 xml:space="preserve"> 检测内核本身是创新点与验收物 </a:t>
              </a:r>
              <a:r>
                <a:rPr lang="zh-CN" sz="1088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理由③</a:t>
              </a:r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 xml:space="preserve"> GPL 引擎以独立进程接入，规避许可证传染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33400" y="5905500"/>
            <a:ext cx="11125200" cy="495300"/>
            <a:chOff x="533400" y="5905500"/>
            <a:chExt cx="11125200" cy="495300"/>
          </a:xfrm>
        </p:grpSpPr>
        <p:sp>
          <p:nvSpPr>
            <p:cNvPr id="57" name="Rectangle 57"/>
            <p:cNvSpPr/>
            <p:nvPr/>
          </p:nvSpPr>
          <p:spPr>
            <a:xfrm>
              <a:off x="533400" y="5905500"/>
              <a:ext cx="11125200" cy="495300"/>
            </a:xfrm>
            <a:prstGeom prst="roundRect">
              <a:avLst>
                <a:gd name="adj" fmla="val 15385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33400" y="5905500"/>
              <a:ext cx="47625" cy="495300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23436" y="6094333"/>
              <a:ext cx="7772745" cy="236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2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方法提炼②</a:t>
              </a:r>
              <a:r>
                <a:rPr lang="zh-CN" sz="116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 xml:space="preserve"> 复用的单位不只是「基座」——</a:t>
              </a:r>
              <a:r>
                <a:rPr lang="zh-CN" sz="1162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标准、引擎、数据、方法都是开源资源</a:t>
              </a:r>
              <a:r>
                <a:rPr lang="zh-CN" sz="116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，按许可证与场景逐项决定用法。</a:t>
              </a:r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115271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C9AA9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53" grpId="0"/>
      <p:bldP spid="56" grpId="0"/>
      <p:bldP spid="6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33400" y="495300"/>
            <a:ext cx="11135677" cy="671512"/>
            <a:chOff x="533400" y="495300"/>
            <a:chExt cx="11135677" cy="671512"/>
          </a:xfrm>
        </p:grpSpPr>
        <p:sp>
          <p:nvSpPr>
            <p:cNvPr id="3" name="Rectangle 3"/>
            <p:cNvSpPr/>
            <p:nvPr/>
          </p:nvSpPr>
          <p:spPr>
            <a:xfrm rot="2700000">
              <a:off x="552450" y="495300"/>
              <a:ext cx="161925" cy="161925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 rot="2700000">
              <a:off x="704850" y="590550"/>
              <a:ext cx="95250" cy="952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9168" y="523399"/>
              <a:ext cx="8308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PART 2 · 立题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2975" y="709612"/>
              <a:ext cx="509778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目标拆解：一个总目标，七个问题域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38821" y="539591"/>
              <a:ext cx="24302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ecdet · 嵌入式软件代码缺陷与安全漏洞检测系统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104900"/>
              <a:ext cx="11125200" cy="14288"/>
            </a:xfrm>
            <a:prstGeom prst="rect">
              <a:avLst/>
            </a:prstGeom>
            <a:solidFill>
              <a:srgbClr val="D8E0E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085850"/>
              <a:ext cx="1333500" cy="38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33400" y="1314450"/>
            <a:ext cx="11125200" cy="495300"/>
            <a:chOff x="533400" y="1314450"/>
            <a:chExt cx="11125200" cy="495300"/>
          </a:xfrm>
        </p:grpSpPr>
        <p:sp>
          <p:nvSpPr>
            <p:cNvPr id="11" name="Rectangle 11"/>
            <p:cNvSpPr/>
            <p:nvPr/>
          </p:nvSpPr>
          <p:spPr>
            <a:xfrm>
              <a:off x="533400" y="1314450"/>
              <a:ext cx="11125200" cy="495300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20183" y="1474946"/>
              <a:ext cx="615163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总目标：让嵌入式 C/C++ 的每一条告警「</a:t>
              </a:r>
              <a:r>
                <a:rPr lang="zh-CN" sz="1425" b="1" dirty="0">
                  <a:solidFill>
                    <a:srgbClr val="7FB0E0"/>
                  </a:solidFill>
                  <a:latin typeface="Arial"/>
                  <a:ea typeface="Microsoft YaHei"/>
                  <a:cs typeface="Arial"/>
                </a:rPr>
                <a:t>可解释 · 可证明 · 可复现</a:t>
              </a:r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」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3400" y="1962150"/>
            <a:ext cx="1504950" cy="1676400"/>
            <a:chOff x="533400" y="1962150"/>
            <a:chExt cx="1504950" cy="1676400"/>
          </a:xfrm>
        </p:grpSpPr>
        <p:sp>
          <p:nvSpPr>
            <p:cNvPr id="14" name="Rectangle 14"/>
            <p:cNvSpPr/>
            <p:nvPr/>
          </p:nvSpPr>
          <p:spPr>
            <a:xfrm>
              <a:off x="533400" y="1962150"/>
              <a:ext cx="1504950" cy="1676400"/>
            </a:xfrm>
            <a:prstGeom prst="roundRect">
              <a:avLst>
                <a:gd name="adj" fmla="val 5063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1962150"/>
              <a:ext cx="1504950" cy="47625"/>
            </a:xfrm>
            <a:prstGeom prst="roundRect">
              <a:avLst>
                <a:gd name="adj" fmla="val 50000"/>
              </a:avLst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9608" y="2148364"/>
              <a:ext cx="95177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P1 构建复现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3894" y="2451497"/>
              <a:ext cx="123646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IDE 闭源工程格式归一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3894" y="2632472"/>
              <a:ext cx="77390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为编译数据库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85800" y="3143250"/>
              <a:ext cx="1200150" cy="285750"/>
            </a:xfrm>
            <a:prstGeom prst="roundRect">
              <a:avLst>
                <a:gd name="adj" fmla="val 13333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68717" y="3228499"/>
              <a:ext cx="434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→ L1 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133600" y="1962150"/>
            <a:ext cx="1504950" cy="1676400"/>
            <a:chOff x="2133600" y="1962150"/>
            <a:chExt cx="1504950" cy="1676400"/>
          </a:xfrm>
        </p:grpSpPr>
        <p:sp>
          <p:nvSpPr>
            <p:cNvPr id="22" name="Rectangle 22"/>
            <p:cNvSpPr/>
            <p:nvPr/>
          </p:nvSpPr>
          <p:spPr>
            <a:xfrm>
              <a:off x="2133600" y="1962150"/>
              <a:ext cx="1504950" cy="1676400"/>
            </a:xfrm>
            <a:prstGeom prst="roundRect">
              <a:avLst>
                <a:gd name="adj" fmla="val 5063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133600" y="1962150"/>
              <a:ext cx="1504950" cy="47625"/>
            </a:xfrm>
            <a:prstGeom prst="roundRect">
              <a:avLst>
                <a:gd name="adj" fmla="val 50000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269808" y="2148364"/>
              <a:ext cx="99640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P2 硬件语义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274094" y="2451497"/>
              <a:ext cx="99268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SVD / ISR / RTOS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74094" y="2632472"/>
              <a:ext cx="114895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确定性建模（自研）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286000" y="3143250"/>
              <a:ext cx="1200150" cy="285750"/>
            </a:xfrm>
            <a:prstGeom prst="roundRect">
              <a:avLst>
                <a:gd name="adj" fmla="val 13333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583594" y="3228499"/>
              <a:ext cx="6049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→ L3 静态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733800" y="1962150"/>
            <a:ext cx="1504950" cy="1676400"/>
            <a:chOff x="3733800" y="1962150"/>
            <a:chExt cx="1504950" cy="1676400"/>
          </a:xfrm>
        </p:grpSpPr>
        <p:sp>
          <p:nvSpPr>
            <p:cNvPr id="30" name="Rectangle 30"/>
            <p:cNvSpPr/>
            <p:nvPr/>
          </p:nvSpPr>
          <p:spPr>
            <a:xfrm>
              <a:off x="3733800" y="1962150"/>
              <a:ext cx="1504950" cy="1676400"/>
            </a:xfrm>
            <a:prstGeom prst="roundRect">
              <a:avLst>
                <a:gd name="adj" fmla="val 5063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733800" y="1962150"/>
              <a:ext cx="1504950" cy="47625"/>
            </a:xfrm>
            <a:prstGeom prst="roundRect">
              <a:avLst>
                <a:gd name="adj" fmla="val 50000"/>
              </a:avLst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870008" y="2148364"/>
              <a:ext cx="99640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P3 统一表示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874294" y="2451497"/>
              <a:ext cx="102393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多引擎告警归一为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874294" y="2632472"/>
              <a:ext cx="77390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单一数据模型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886200" y="3143250"/>
              <a:ext cx="1200150" cy="285750"/>
            </a:xfrm>
            <a:prstGeom prst="roundRect">
              <a:avLst>
                <a:gd name="adj" fmla="val 13333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252052" y="3228499"/>
              <a:ext cx="4684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→ L2 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334000" y="1962150"/>
            <a:ext cx="1504950" cy="1676400"/>
            <a:chOff x="5334000" y="1962150"/>
            <a:chExt cx="1504950" cy="1676400"/>
          </a:xfrm>
        </p:grpSpPr>
        <p:sp>
          <p:nvSpPr>
            <p:cNvPr id="38" name="Rectangle 38"/>
            <p:cNvSpPr/>
            <p:nvPr/>
          </p:nvSpPr>
          <p:spPr>
            <a:xfrm>
              <a:off x="5334000" y="1962150"/>
              <a:ext cx="1504950" cy="1676400"/>
            </a:xfrm>
            <a:prstGeom prst="roundRect">
              <a:avLst>
                <a:gd name="adj" fmla="val 5063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0" y="1962150"/>
              <a:ext cx="1504950" cy="47625"/>
            </a:xfrm>
            <a:prstGeom prst="roundRect">
              <a:avLst>
                <a:gd name="adj" fmla="val 50000"/>
              </a:avLst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470208" y="2148364"/>
              <a:ext cx="99640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P4 可证明性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474494" y="2451497"/>
              <a:ext cx="123646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Proven / Detected /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474494" y="2632472"/>
              <a:ext cx="93017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Suspected 三级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486400" y="3143250"/>
              <a:ext cx="1200150" cy="285750"/>
            </a:xfrm>
            <a:prstGeom prst="roundRect">
              <a:avLst>
                <a:gd name="adj" fmla="val 13333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787407" y="3228499"/>
              <a:ext cx="5981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→ L3 · L5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934200" y="1962150"/>
            <a:ext cx="1504950" cy="1676400"/>
            <a:chOff x="6934200" y="1962150"/>
            <a:chExt cx="1504950" cy="1676400"/>
          </a:xfrm>
        </p:grpSpPr>
        <p:sp>
          <p:nvSpPr>
            <p:cNvPr id="46" name="Rectangle 46"/>
            <p:cNvSpPr/>
            <p:nvPr/>
          </p:nvSpPr>
          <p:spPr>
            <a:xfrm>
              <a:off x="6934200" y="1962150"/>
              <a:ext cx="1504950" cy="1676400"/>
            </a:xfrm>
            <a:prstGeom prst="roundRect">
              <a:avLst>
                <a:gd name="adj" fmla="val 5063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934200" y="1962150"/>
              <a:ext cx="1504950" cy="47625"/>
            </a:xfrm>
            <a:prstGeom prst="roundRect">
              <a:avLst>
                <a:gd name="adj" fmla="val 50000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070408" y="2148364"/>
              <a:ext cx="102318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P5 LLM 协同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74694" y="2451497"/>
              <a:ext cx="102393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研判、修复与工具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074694" y="2632472"/>
              <a:ext cx="102393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验证闭环（自研）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086600" y="3143250"/>
              <a:ext cx="1200150" cy="285750"/>
            </a:xfrm>
            <a:prstGeom prst="roundRect">
              <a:avLst>
                <a:gd name="adj" fmla="val 13333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452452" y="3228499"/>
              <a:ext cx="4684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→ L4 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8534400" y="1962150"/>
            <a:ext cx="1504950" cy="1676400"/>
            <a:chOff x="8534400" y="1962150"/>
            <a:chExt cx="1504950" cy="1676400"/>
          </a:xfrm>
        </p:grpSpPr>
        <p:sp>
          <p:nvSpPr>
            <p:cNvPr id="54" name="Rectangle 54"/>
            <p:cNvSpPr/>
            <p:nvPr/>
          </p:nvSpPr>
          <p:spPr>
            <a:xfrm>
              <a:off x="8534400" y="1962150"/>
              <a:ext cx="1504950" cy="1676400"/>
            </a:xfrm>
            <a:prstGeom prst="roundRect">
              <a:avLst>
                <a:gd name="adj" fmla="val 5063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534400" y="1962150"/>
              <a:ext cx="1504950" cy="47625"/>
            </a:xfrm>
            <a:prstGeom prst="roundRect">
              <a:avLst>
                <a:gd name="adj" fmla="val 50000"/>
              </a:avLst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670608" y="2148364"/>
              <a:ext cx="99640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P6 数据评测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674894" y="2451497"/>
              <a:ext cx="100518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自建数据集管线 +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674894" y="2632472"/>
              <a:ext cx="77390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消融评测框架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686800" y="3143250"/>
              <a:ext cx="1200150" cy="285750"/>
            </a:xfrm>
            <a:prstGeom prst="roundRect">
              <a:avLst>
                <a:gd name="adj" fmla="val 13333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011697" y="3228499"/>
              <a:ext cx="5503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→ 脚本集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0134600" y="1962150"/>
            <a:ext cx="1524000" cy="1676400"/>
            <a:chOff x="10134600" y="1962150"/>
            <a:chExt cx="1524000" cy="1676400"/>
          </a:xfrm>
        </p:grpSpPr>
        <p:sp>
          <p:nvSpPr>
            <p:cNvPr id="62" name="Rectangle 62"/>
            <p:cNvSpPr/>
            <p:nvPr/>
          </p:nvSpPr>
          <p:spPr>
            <a:xfrm>
              <a:off x="10134600" y="1962150"/>
              <a:ext cx="1524000" cy="16764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10134600" y="1962150"/>
              <a:ext cx="1524000" cy="47625"/>
            </a:xfrm>
            <a:prstGeom prst="roundRect">
              <a:avLst>
                <a:gd name="adj" fmla="val 50000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0270808" y="2148364"/>
              <a:ext cx="99640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P7 动态验证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275094" y="2451497"/>
              <a:ext cx="100518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激励 / harness /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275094" y="2632472"/>
              <a:ext cx="101768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PoC 实证（自研）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10287000" y="3143250"/>
              <a:ext cx="1219200" cy="285750"/>
            </a:xfrm>
            <a:prstGeom prst="roundRect">
              <a:avLst>
                <a:gd name="adj" fmla="val 13333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0594119" y="3228499"/>
              <a:ext cx="6049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→ L3 动态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33400" y="3829050"/>
            <a:ext cx="11125200" cy="533400"/>
            <a:chOff x="533400" y="3829050"/>
            <a:chExt cx="11125200" cy="533400"/>
          </a:xfrm>
        </p:grpSpPr>
        <p:sp>
          <p:nvSpPr>
            <p:cNvPr id="70" name="Rectangle 70"/>
            <p:cNvSpPr/>
            <p:nvPr/>
          </p:nvSpPr>
          <p:spPr>
            <a:xfrm>
              <a:off x="533400" y="3829050"/>
              <a:ext cx="11125200" cy="533400"/>
            </a:xfrm>
            <a:prstGeom prst="roundRect">
              <a:avLst>
                <a:gd name="adj" fmla="val 14286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533400" y="3829050"/>
              <a:ext cx="47625" cy="533400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23436" y="4036933"/>
              <a:ext cx="9935266" cy="236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覆盖状态：</a:t>
              </a:r>
              <a:r>
                <a:rPr lang="zh-CN" sz="1162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P1–P7 全部已实施</a:t>
              </a:r>
              <a:r>
                <a:rPr lang="zh-CN" sz="116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（方案五阶段中前四阶段提前完成，V1.2 新增的 P7 动态通道与多智能体编排亦已落地）；</a:t>
              </a:r>
              <a:r>
                <a:rPr lang="zh-CN" sz="1162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橙色标头 = 自研为主的域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518160" y="4632960"/>
            <a:ext cx="10637520" cy="1247537"/>
            <a:chOff x="518160" y="4632960"/>
            <a:chExt cx="10637520" cy="1247537"/>
          </a:xfrm>
        </p:grpSpPr>
        <p:sp>
          <p:nvSpPr>
            <p:cNvPr id="74" name="TextBox 74"/>
            <p:cNvSpPr txBox="1"/>
            <p:nvPr/>
          </p:nvSpPr>
          <p:spPr>
            <a:xfrm>
              <a:off x="518160" y="4632960"/>
              <a:ext cx="46090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版本演进（13 个节点截选）——每个节点对应一个可验证的增量</a:t>
              </a:r>
            </a:p>
          </p:txBody>
        </p:sp>
        <p:sp>
          <p:nvSpPr>
            <p:cNvPr id="75" name="Line 75"/>
            <p:cNvSpPr/>
            <p:nvPr/>
          </p:nvSpPr>
          <p:spPr>
            <a:xfrm>
              <a:off x="1047750" y="548640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38100" cap="rnd">
              <a:solidFill>
                <a:srgbClr val="2E75B6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1152525" y="5400675"/>
              <a:ext cx="171450" cy="17145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130306" y="5152549"/>
              <a:ext cx="2158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7375E"/>
                  </a:solidFill>
                  <a:latin typeface="Consolas"/>
                  <a:ea typeface="Microsoft YaHei"/>
                  <a:cs typeface="Consolas"/>
                </a:rPr>
                <a:t>0.1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66936" y="5689997"/>
              <a:ext cx="54262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五层 MVP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2657475" y="5400675"/>
              <a:ext cx="171450" cy="17145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2618191" y="5152549"/>
              <a:ext cx="2500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7375E"/>
                  </a:solidFill>
                  <a:latin typeface="Consolas"/>
                  <a:ea typeface="Microsoft YaHei"/>
                  <a:cs typeface="Consolas"/>
                </a:rPr>
                <a:t>0.2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2481262" y="5689997"/>
              <a:ext cx="52387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硬件语义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4162425" y="5400675"/>
              <a:ext cx="171450" cy="17145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4123141" y="5152549"/>
              <a:ext cx="2500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7375E"/>
                  </a:solidFill>
                  <a:latin typeface="Consolas"/>
                  <a:ea typeface="Microsoft YaHei"/>
                  <a:cs typeface="Consolas"/>
                </a:rPr>
                <a:t>0.3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3976836" y="5689997"/>
              <a:ext cx="54262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LLM 分诊</a:t>
              </a:r>
            </a:p>
          </p:txBody>
        </p:sp>
        <p:sp>
          <p:nvSpPr>
            <p:cNvPr id="85" name="Ellipse 85"/>
            <p:cNvSpPr/>
            <p:nvPr/>
          </p:nvSpPr>
          <p:spPr>
            <a:xfrm>
              <a:off x="5667375" y="5400675"/>
              <a:ext cx="171450" cy="17145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5628091" y="5152549"/>
              <a:ext cx="2500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7375E"/>
                  </a:solidFill>
                  <a:latin typeface="Consolas"/>
                  <a:ea typeface="Microsoft YaHei"/>
                  <a:cs typeface="Consolas"/>
                </a:rPr>
                <a:t>0.5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5338018" y="5689997"/>
              <a:ext cx="83016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增量 · Docker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7172325" y="5400675"/>
              <a:ext cx="171450" cy="17145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133041" y="5152549"/>
              <a:ext cx="2500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7375E"/>
                  </a:solidFill>
                  <a:latin typeface="Consolas"/>
                  <a:ea typeface="Microsoft YaHei"/>
                  <a:cs typeface="Consolas"/>
                </a:rPr>
                <a:t>0.6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799213" y="5689997"/>
              <a:ext cx="91767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动态 · 六智能体</a:t>
              </a:r>
            </a:p>
          </p:txBody>
        </p:sp>
        <p:sp>
          <p:nvSpPr>
            <p:cNvPr id="91" name="Ellipse 91"/>
            <p:cNvSpPr/>
            <p:nvPr/>
          </p:nvSpPr>
          <p:spPr>
            <a:xfrm>
              <a:off x="8677275" y="5400675"/>
              <a:ext cx="171450" cy="17145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8655056" y="5152549"/>
              <a:ext cx="2158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7375E"/>
                  </a:solidFill>
                  <a:latin typeface="Consolas"/>
                  <a:ea typeface="Microsoft YaHei"/>
                  <a:cs typeface="Consolas"/>
                </a:rPr>
                <a:t>1.0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8429179" y="5689997"/>
              <a:ext cx="66764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Web 控制台</a:t>
              </a:r>
            </a:p>
          </p:txBody>
        </p:sp>
        <p:sp>
          <p:nvSpPr>
            <p:cNvPr id="94" name="Ellipse 94"/>
            <p:cNvSpPr/>
            <p:nvPr/>
          </p:nvSpPr>
          <p:spPr>
            <a:xfrm>
              <a:off x="10163175" y="5381625"/>
              <a:ext cx="209550" cy="20955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95" name="Ellipse 95"/>
            <p:cNvSpPr/>
            <p:nvPr/>
          </p:nvSpPr>
          <p:spPr>
            <a:xfrm>
              <a:off x="10106025" y="5324475"/>
              <a:ext cx="323850" cy="323850"/>
            </a:xfrm>
            <a:prstGeom prst="ellipse">
              <a:avLst/>
            </a:prstGeom>
            <a:noFill/>
            <a:ln w="14288">
              <a:solidFill>
                <a:srgbClr val="0070C0">
                  <a:alpha val="40000"/>
                </a:srgbClr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10160006" y="5152549"/>
              <a:ext cx="2158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70C0"/>
                  </a:solidFill>
                  <a:latin typeface="Consolas"/>
                  <a:ea typeface="Microsoft YaHei"/>
                  <a:cs typeface="Consolas"/>
                </a:rPr>
                <a:t>1.2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786766" y="5689997"/>
              <a:ext cx="96236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代码浏览 · 对比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0790777" y="5694045"/>
              <a:ext cx="364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当前 →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522922" y="6578441"/>
            <a:ext cx="11146156" cy="167640"/>
            <a:chOff x="522922" y="6578441"/>
            <a:chExt cx="11146156" cy="167640"/>
          </a:xfrm>
        </p:grpSpPr>
        <p:sp>
          <p:nvSpPr>
            <p:cNvPr id="100" name="TextBox 100"/>
            <p:cNvSpPr txBox="1"/>
            <p:nvPr/>
          </p:nvSpPr>
          <p:spPr>
            <a:xfrm>
              <a:off x="522922" y="6578441"/>
              <a:ext cx="491106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来源：《调研与技术方案》V1.2 问题域定义；《ecdet 项目现状介绍与后续改进计划》表 5 版本演进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554611" y="6578441"/>
              <a:ext cx="1144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1" grpId="0"/>
      <p:bldP spid="29" grpId="0"/>
      <p:bldP spid="37" grpId="0"/>
      <p:bldP spid="45" grpId="0"/>
      <p:bldP spid="53" grpId="0"/>
      <p:bldP spid="61" grpId="0"/>
      <p:bldP spid="69" grpId="0"/>
      <p:bldP spid="73" grpId="0"/>
      <p:bldP spid="9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33400" y="495300"/>
            <a:ext cx="11135677" cy="671512"/>
            <a:chOff x="533400" y="495300"/>
            <a:chExt cx="11135677" cy="671512"/>
          </a:xfrm>
        </p:grpSpPr>
        <p:sp>
          <p:nvSpPr>
            <p:cNvPr id="3" name="Rectangle 3"/>
            <p:cNvSpPr/>
            <p:nvPr/>
          </p:nvSpPr>
          <p:spPr>
            <a:xfrm rot="2700000">
              <a:off x="552450" y="495300"/>
              <a:ext cx="161925" cy="161925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 rot="2700000">
              <a:off x="704850" y="590550"/>
              <a:ext cx="95250" cy="952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9168" y="523399"/>
              <a:ext cx="8308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PART 2 · 立题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2975" y="709612"/>
              <a:ext cx="446770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开源组件地图：每一块是谁做的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38821" y="539591"/>
              <a:ext cx="24302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ecdet · 嵌入式软件代码缺陷与安全漏洞检测系统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104900"/>
              <a:ext cx="11125200" cy="14288"/>
            </a:xfrm>
            <a:prstGeom prst="rect">
              <a:avLst/>
            </a:prstGeom>
            <a:solidFill>
              <a:srgbClr val="D8E0E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085850"/>
              <a:ext cx="1333500" cy="38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4350" y="1323975"/>
            <a:ext cx="7259002" cy="304800"/>
            <a:chOff x="514350" y="1323975"/>
            <a:chExt cx="7259002" cy="304800"/>
          </a:xfrm>
        </p:grpSpPr>
        <p:sp>
          <p:nvSpPr>
            <p:cNvPr id="11" name="TextBox 11"/>
            <p:cNvSpPr txBox="1"/>
            <p:nvPr/>
          </p:nvSpPr>
          <p:spPr>
            <a:xfrm>
              <a:off x="514350" y="1323975"/>
              <a:ext cx="72590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绝大部分能力</a:t>
              </a:r>
              <a:r>
                <a:rPr lang="zh-CN" sz="1500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点状复用</a:t>
              </a:r>
              <a:r>
                <a:rPr lang="zh-CN" sz="15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，自研集中在检测内核——</a:t>
              </a:r>
              <a:r>
                <a:rPr lang="zh-CN" sz="150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最右一栏就是本项目的创新点清单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33400" y="1676400"/>
            <a:ext cx="2638425" cy="3714750"/>
            <a:chOff x="533400" y="1676400"/>
            <a:chExt cx="2638425" cy="3714750"/>
          </a:xfrm>
        </p:grpSpPr>
        <p:sp>
          <p:nvSpPr>
            <p:cNvPr id="13" name="Rectangle 13"/>
            <p:cNvSpPr/>
            <p:nvPr/>
          </p:nvSpPr>
          <p:spPr>
            <a:xfrm>
              <a:off x="533400" y="1676400"/>
              <a:ext cx="2638425" cy="3714750"/>
            </a:xfrm>
            <a:prstGeom prst="roundRect">
              <a:avLst>
                <a:gd name="adj" fmla="val 3610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33400" y="1676400"/>
              <a:ext cx="2638425" cy="723900"/>
            </a:xfrm>
            <a:custGeom>
              <a:avLst/>
              <a:gdLst/>
              <a:ahLst/>
              <a:cxnLst/>
              <a:rect l="l" t="t" r="r" b="b"/>
              <a:pathLst>
                <a:path w="2638425" h="723900">
                  <a:moveTo>
                    <a:pt x="95250" y="0"/>
                  </a:moveTo>
                  <a:lnTo>
                    <a:pt x="2543175" y="0"/>
                  </a:lnTo>
                  <a:cubicBezTo>
                    <a:pt x="2595780" y="0"/>
                    <a:pt x="2638425" y="42645"/>
                    <a:pt x="2638425" y="95250"/>
                  </a:cubicBezTo>
                  <a:lnTo>
                    <a:pt x="2638425" y="723900"/>
                  </a:lnTo>
                  <a:lnTo>
                    <a:pt x="0" y="723900"/>
                  </a:ln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AF1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52658" y="18735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复用标准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67336" y="2150745"/>
              <a:ext cx="13610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规范级复用 · 无代码依赖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400300"/>
              <a:ext cx="2638425" cy="19050"/>
            </a:xfrm>
            <a:prstGeom prst="rect">
              <a:avLst/>
            </a:prstGeom>
            <a:solidFill>
              <a:srgbClr val="0070C0">
                <a:alpha val="35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742950" y="2686050"/>
              <a:ext cx="76200" cy="762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0589" y="2654379"/>
              <a:ext cx="1550313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SARIF 2.1.0（OASIS）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2494" y="2861072"/>
              <a:ext cx="164901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告警唯一交换格式与数据模型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42950" y="3219450"/>
              <a:ext cx="76200" cy="762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0589" y="3187779"/>
              <a:ext cx="1710195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CMSIS-SVD（ARM 规范）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2494" y="3394472"/>
              <a:ext cx="188029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寄存器读写属性，MMIO 判定依据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42950" y="3752850"/>
              <a:ext cx="76200" cy="762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0589" y="3721179"/>
              <a:ext cx="1588380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MISRA C:2012 · CERT C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2494" y="3927872"/>
              <a:ext cx="182403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22 条规则子集自实现的条款来源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42950" y="4286250"/>
              <a:ext cx="76200" cy="762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0589" y="4254579"/>
              <a:ext cx="964077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GJB 8114-2013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2494" y="4461272"/>
              <a:ext cx="189904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主题级映射；规则编号需授权核实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2470" y="4951095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合规记录表双口径呈现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3362325" y="1676400"/>
            <a:ext cx="2638425" cy="3714750"/>
            <a:chOff x="3362325" y="1676400"/>
            <a:chExt cx="2638425" cy="3714750"/>
          </a:xfrm>
        </p:grpSpPr>
        <p:sp>
          <p:nvSpPr>
            <p:cNvPr id="32" name="Rectangle 32"/>
            <p:cNvSpPr/>
            <p:nvPr/>
          </p:nvSpPr>
          <p:spPr>
            <a:xfrm>
              <a:off x="3362325" y="1676400"/>
              <a:ext cx="2638425" cy="3714750"/>
            </a:xfrm>
            <a:prstGeom prst="roundRect">
              <a:avLst>
                <a:gd name="adj" fmla="val 3610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3362325" y="1676400"/>
              <a:ext cx="2638425" cy="723900"/>
            </a:xfrm>
            <a:custGeom>
              <a:avLst/>
              <a:gdLst/>
              <a:ahLst/>
              <a:cxnLst/>
              <a:rect l="l" t="t" r="r" b="b"/>
              <a:pathLst>
                <a:path w="2638425" h="723900">
                  <a:moveTo>
                    <a:pt x="95250" y="0"/>
                  </a:moveTo>
                  <a:lnTo>
                    <a:pt x="2543175" y="0"/>
                  </a:lnTo>
                  <a:cubicBezTo>
                    <a:pt x="2595780" y="0"/>
                    <a:pt x="2638425" y="42645"/>
                    <a:pt x="2638425" y="95250"/>
                  </a:cubicBezTo>
                  <a:lnTo>
                    <a:pt x="2638425" y="723900"/>
                  </a:lnTo>
                  <a:lnTo>
                    <a:pt x="0" y="723900"/>
                  </a:ln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AF1F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281583" y="18735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复用引擎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876246" y="2150745"/>
              <a:ext cx="16010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检测到安装即接入 · 独立进程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362325" y="2400300"/>
              <a:ext cx="2638425" cy="19050"/>
            </a:xfrm>
            <a:prstGeom prst="rect">
              <a:avLst/>
            </a:prstGeom>
            <a:solidFill>
              <a:srgbClr val="0070C0">
                <a:alpha val="35000"/>
              </a:srgbClr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3571875" y="2686050"/>
              <a:ext cx="76200" cy="762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729514" y="2654379"/>
              <a:ext cx="2098481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cppcheck</a:t>
              </a:r>
              <a:r>
                <a:rPr lang="zh-CN" sz="900" b="1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 xml:space="preserve"> · GPL-3.0 · </a:t>
              </a:r>
              <a:r>
                <a:rPr lang="zh-CN" sz="938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6.8k ★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3571875" y="3067050"/>
              <a:ext cx="76200" cy="762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729514" y="3035379"/>
              <a:ext cx="2014733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clang-tidy</a:t>
              </a:r>
              <a:r>
                <a:rPr lang="zh-CN" sz="900" b="1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 xml:space="preserve"> · LLVM · </a:t>
              </a:r>
              <a:r>
                <a:rPr lang="zh-CN" sz="938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41.2k ★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3571875" y="3448050"/>
              <a:ext cx="76200" cy="762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729514" y="3416379"/>
              <a:ext cx="1809170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ESBMC</a:t>
              </a:r>
              <a:r>
                <a:rPr lang="zh-CN" sz="900" b="1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 xml:space="preserve"> · BSD 变体 · </a:t>
              </a:r>
              <a:r>
                <a:rPr lang="zh-CN" sz="938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533 ★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731419" y="3623072"/>
              <a:ext cx="174277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SMT / 边界验证 → Proven 依据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3571875" y="4019550"/>
              <a:ext cx="76200" cy="762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729514" y="3987879"/>
              <a:ext cx="1055438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vLLM · Ollama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731419" y="4194572"/>
              <a:ext cx="184279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95.7k ★ · 185k ★，本地推理端点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552825" y="4629150"/>
              <a:ext cx="2257425" cy="495300"/>
            </a:xfrm>
            <a:prstGeom prst="roundRect">
              <a:avLst>
                <a:gd name="adj" fmla="val 11538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693795" y="4741545"/>
              <a:ext cx="14390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适配层统一归一为 SARIF；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693795" y="4912995"/>
              <a:ext cx="13430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缺装引擎自动降级不阻断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191250" y="1676400"/>
            <a:ext cx="2638425" cy="3714750"/>
            <a:chOff x="6191250" y="1676400"/>
            <a:chExt cx="2638425" cy="3714750"/>
          </a:xfrm>
        </p:grpSpPr>
        <p:sp>
          <p:nvSpPr>
            <p:cNvPr id="51" name="Rectangle 51"/>
            <p:cNvSpPr/>
            <p:nvPr/>
          </p:nvSpPr>
          <p:spPr>
            <a:xfrm>
              <a:off x="6191250" y="1676400"/>
              <a:ext cx="2638425" cy="3714750"/>
            </a:xfrm>
            <a:prstGeom prst="roundRect">
              <a:avLst>
                <a:gd name="adj" fmla="val 3610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6191250" y="1676400"/>
              <a:ext cx="2638425" cy="723900"/>
            </a:xfrm>
            <a:custGeom>
              <a:avLst/>
              <a:gdLst/>
              <a:ahLst/>
              <a:cxnLst/>
              <a:rect l="l" t="t" r="r" b="b"/>
              <a:pathLst>
                <a:path w="2638425" h="723900">
                  <a:moveTo>
                    <a:pt x="95250" y="0"/>
                  </a:moveTo>
                  <a:lnTo>
                    <a:pt x="2543175" y="0"/>
                  </a:lnTo>
                  <a:cubicBezTo>
                    <a:pt x="2595780" y="0"/>
                    <a:pt x="2638425" y="42645"/>
                    <a:pt x="2638425" y="95250"/>
                  </a:cubicBezTo>
                  <a:lnTo>
                    <a:pt x="2638425" y="723900"/>
                  </a:lnTo>
                  <a:lnTo>
                    <a:pt x="0" y="723900"/>
                  </a:ln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AF1F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826972" y="187356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复用数据与方法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014210" y="215074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开源数据也是资源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191250" y="2400300"/>
              <a:ext cx="2638425" cy="19050"/>
            </a:xfrm>
            <a:prstGeom prst="rect">
              <a:avLst/>
            </a:prstGeom>
            <a:solidFill>
              <a:srgbClr val="0070C0">
                <a:alpha val="35000"/>
              </a:srgbClr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6400800" y="2686050"/>
              <a:ext cx="76200" cy="762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58439" y="2654379"/>
              <a:ext cx="1146800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NIST Juliet 基准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560344" y="2861072"/>
              <a:ext cx="177403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公有领域；检出率评测管线已通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400800" y="3219450"/>
              <a:ext cx="76200" cy="762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58439" y="3187779"/>
              <a:ext cx="1017371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GHSA 安全通告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560344" y="3394472"/>
              <a:ext cx="166151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CVE 定位修复提交 → 函数切片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400800" y="3752850"/>
              <a:ext cx="76200" cy="762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58439" y="3721179"/>
              <a:ext cx="1557926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PrimeVul 方法</a:t>
              </a:r>
              <a:r>
                <a:rPr lang="zh-CN" sz="900" b="1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 xml:space="preserve"> · 280 ★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560344" y="3927872"/>
              <a:ext cx="177403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近重复指纹删除，保证样本唯一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381750" y="4305300"/>
              <a:ext cx="2257425" cy="819150"/>
            </a:xfrm>
            <a:prstGeom prst="roundRect">
              <a:avLst>
                <a:gd name="adj" fmla="val 697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522720" y="4436745"/>
              <a:ext cx="20202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→ 自建数据集六步管线（自研编排）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522720" y="4646295"/>
              <a:ext cx="17570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清单 → 提交检索 → 切片 → 预标注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522720" y="4836795"/>
              <a:ext cx="17450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→ 去重 → 时间 6:2:2 划分防泄漏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9020175" y="1676400"/>
            <a:ext cx="2638425" cy="3714750"/>
            <a:chOff x="9020175" y="1676400"/>
            <a:chExt cx="2638425" cy="3714750"/>
          </a:xfrm>
        </p:grpSpPr>
        <p:sp>
          <p:nvSpPr>
            <p:cNvPr id="70" name="Rectangle 70"/>
            <p:cNvSpPr/>
            <p:nvPr/>
          </p:nvSpPr>
          <p:spPr>
            <a:xfrm>
              <a:off x="9020175" y="1676400"/>
              <a:ext cx="2638425" cy="3714750"/>
            </a:xfrm>
            <a:prstGeom prst="roundRect">
              <a:avLst>
                <a:gd name="adj" fmla="val 3610"/>
              </a:avLst>
            </a:prstGeom>
            <a:solidFill>
              <a:srgbClr val="FFFFFF"/>
            </a:solidFill>
            <a:ln w="14288">
              <a:solidFill>
                <a:srgbClr val="B45309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9020175" y="1676400"/>
              <a:ext cx="2638425" cy="723900"/>
            </a:xfrm>
            <a:custGeom>
              <a:avLst/>
              <a:gdLst/>
              <a:ahLst/>
              <a:cxnLst/>
              <a:rect l="l" t="t" r="r" b="b"/>
              <a:pathLst>
                <a:path w="2638425" h="723900">
                  <a:moveTo>
                    <a:pt x="95250" y="0"/>
                  </a:moveTo>
                  <a:lnTo>
                    <a:pt x="2543175" y="0"/>
                  </a:lnTo>
                  <a:cubicBezTo>
                    <a:pt x="2595780" y="0"/>
                    <a:pt x="2638425" y="42645"/>
                    <a:pt x="2638425" y="95250"/>
                  </a:cubicBezTo>
                  <a:lnTo>
                    <a:pt x="2638425" y="723900"/>
                  </a:lnTo>
                  <a:lnTo>
                    <a:pt x="0" y="723900"/>
                  </a:ln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8EDE0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939433" y="18735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自研创新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843135" y="215074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团队的差异化工作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9020175" y="2400300"/>
              <a:ext cx="2638425" cy="19050"/>
            </a:xfrm>
            <a:prstGeom prst="rect">
              <a:avLst/>
            </a:prstGeom>
            <a:solidFill>
              <a:srgbClr val="B45309">
                <a:alpha val="40000"/>
              </a:srgbClr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9229725" y="2667000"/>
              <a:ext cx="76200" cy="76200"/>
            </a:xfrm>
            <a:prstGeom prst="ellipse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387364" y="2635329"/>
              <a:ext cx="1702582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五层流水线与零依赖内核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389269" y="2842022"/>
              <a:ext cx="169902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约 9600 行 Python，拷贝即用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9229725" y="3200400"/>
              <a:ext cx="76200" cy="76200"/>
            </a:xfrm>
            <a:prstGeom prst="ellipse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387364" y="3168729"/>
              <a:ext cx="1938599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硬件语义规则 ×4 + 抽象解释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389269" y="3375422"/>
              <a:ext cx="164901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可证明性分级，机制性抑误报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9229725" y="3733800"/>
              <a:ext cx="76200" cy="76200"/>
            </a:xfrm>
            <a:prstGeom prst="ellipse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9387364" y="3702129"/>
              <a:ext cx="2151775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动态通道：harness 闭环 + PoC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389269" y="3908822"/>
              <a:ext cx="164901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崩溃即实锤，样本可一键重放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9229725" y="4267200"/>
              <a:ext cx="76200" cy="76200"/>
            </a:xfrm>
            <a:prstGeom prst="ellipse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9387364" y="4235529"/>
              <a:ext cx="2113708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L4 分诊 / 修复 / 六智能体编排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389269" y="4442222"/>
              <a:ext cx="169277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幻觉三道闸 + ToolLoopVerify</a:t>
              </a:r>
            </a:p>
          </p:txBody>
        </p:sp>
        <p:sp>
          <p:nvSpPr>
            <p:cNvPr id="87" name="Ellipse 87"/>
            <p:cNvSpPr/>
            <p:nvPr/>
          </p:nvSpPr>
          <p:spPr>
            <a:xfrm>
              <a:off x="9229725" y="4800600"/>
              <a:ext cx="76200" cy="76200"/>
            </a:xfrm>
            <a:prstGeom prst="ellipse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9387364" y="4768929"/>
              <a:ext cx="1116346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Web 控制台七页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389269" y="4975622"/>
              <a:ext cx="189904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注册到修复闭环，零外链离线可用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533400" y="5600700"/>
            <a:ext cx="11125200" cy="495300"/>
            <a:chOff x="533400" y="5600700"/>
            <a:chExt cx="11125200" cy="495300"/>
          </a:xfrm>
        </p:grpSpPr>
        <p:sp>
          <p:nvSpPr>
            <p:cNvPr id="91" name="Rectangle 91"/>
            <p:cNvSpPr/>
            <p:nvPr/>
          </p:nvSpPr>
          <p:spPr>
            <a:xfrm>
              <a:off x="533400" y="5600700"/>
              <a:ext cx="11125200" cy="495300"/>
            </a:xfrm>
            <a:prstGeom prst="roundRect">
              <a:avLst>
                <a:gd name="adj" fmla="val 15385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762000" y="5753100"/>
              <a:ext cx="133350" cy="1333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958691" y="5758101"/>
              <a:ext cx="1686425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复用（标准 / 引擎 / 数据）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3143250" y="5753100"/>
              <a:ext cx="133350" cy="133350"/>
            </a:xfrm>
            <a:prstGeom prst="rect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3339941" y="5758101"/>
              <a:ext cx="1780937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自研创新（答辩时的创新点）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5321141" y="5758101"/>
              <a:ext cx="3360634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Star 为 2026-10-27 GitHub 查询；许可证义务见下一页</a:t>
              </a:r>
            </a:p>
          </p:txBody>
        </p:sp>
      </p:grpSp>
      <p:sp>
        <p:nvSpPr>
          <p:cNvPr id="98" name="TextBox 98"/>
          <p:cNvSpPr txBox="1"/>
          <p:nvPr/>
        </p:nvSpPr>
        <p:spPr>
          <a:xfrm>
            <a:off x="11582114" y="6578441"/>
            <a:ext cx="869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C9AA9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1" grpId="0"/>
      <p:bldP spid="50" grpId="0"/>
      <p:bldP spid="69" grpId="0"/>
      <p:bldP spid="90" grpId="0"/>
      <p:bldP spid="9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33400" y="495300"/>
            <a:ext cx="11135677" cy="671512"/>
            <a:chOff x="533400" y="495300"/>
            <a:chExt cx="11135677" cy="671512"/>
          </a:xfrm>
        </p:grpSpPr>
        <p:sp>
          <p:nvSpPr>
            <p:cNvPr id="3" name="Rectangle 3"/>
            <p:cNvSpPr/>
            <p:nvPr/>
          </p:nvSpPr>
          <p:spPr>
            <a:xfrm rot="2700000">
              <a:off x="552450" y="495300"/>
              <a:ext cx="161925" cy="161925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 rot="2700000">
              <a:off x="704850" y="590550"/>
              <a:ext cx="95250" cy="952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9168" y="523399"/>
              <a:ext cx="8308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PART 2 · 立题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2975" y="709612"/>
              <a:ext cx="446770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许可证与合规：用开源要守规矩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38821" y="539591"/>
              <a:ext cx="24302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ecdet · 嵌入式软件代码缺陷与安全漏洞检测系统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104900"/>
              <a:ext cx="11125200" cy="14288"/>
            </a:xfrm>
            <a:prstGeom prst="rect">
              <a:avLst/>
            </a:prstGeom>
            <a:solidFill>
              <a:srgbClr val="D8E0E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085850"/>
              <a:ext cx="1333500" cy="38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4350" y="1323975"/>
            <a:ext cx="7228999" cy="304800"/>
            <a:chOff x="514350" y="1323975"/>
            <a:chExt cx="7228999" cy="304800"/>
          </a:xfrm>
        </p:grpSpPr>
        <p:sp>
          <p:nvSpPr>
            <p:cNvPr id="11" name="TextBox 11"/>
            <p:cNvSpPr txBox="1"/>
            <p:nvPr/>
          </p:nvSpPr>
          <p:spPr>
            <a:xfrm>
              <a:off x="514350" y="1323975"/>
              <a:ext cx="722899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宽松许可证保留声明即可复用；</a:t>
              </a:r>
              <a:r>
                <a:rPr lang="zh-CN" sz="150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GPL 组件按独立服务使用</a:t>
              </a:r>
              <a:r>
                <a:rPr lang="zh-CN" sz="15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；商业标准只取条款语义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33400" y="1676400"/>
            <a:ext cx="7524750" cy="3824288"/>
            <a:chOff x="533400" y="1676400"/>
            <a:chExt cx="7524750" cy="3824288"/>
          </a:xfrm>
        </p:grpSpPr>
        <p:sp>
          <p:nvSpPr>
            <p:cNvPr id="13" name="Rectangle 13"/>
            <p:cNvSpPr/>
            <p:nvPr/>
          </p:nvSpPr>
          <p:spPr>
            <a:xfrm>
              <a:off x="533400" y="1676400"/>
              <a:ext cx="7524750" cy="381000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0089" y="1806654"/>
              <a:ext cx="811808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组件 / 资源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43689" y="1806654"/>
              <a:ext cx="484430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许可证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58189" y="1806654"/>
              <a:ext cx="1245775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义务与本项目用法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0565" y="2210752"/>
              <a:ext cx="6735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cppcheck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845594" y="2222897"/>
              <a:ext cx="50512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GPL-3.0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58665" y="2210752"/>
              <a:ext cx="24069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独立进程调用、不链接源码，规避传染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533400" y="2495550"/>
              <a:ext cx="7524750" cy="9525"/>
            </a:xfrm>
            <a:custGeom>
              <a:avLst/>
              <a:gdLst/>
              <a:ahLst/>
              <a:cxnLst/>
              <a:rect l="l" t="t" r="r" b="b"/>
              <a:pathLst>
                <a:path w="7524750" h="9525">
                  <a:moveTo>
                    <a:pt x="0" y="0"/>
                  </a:moveTo>
                  <a:lnTo>
                    <a:pt x="7524750" y="0"/>
                  </a:lnTo>
                </a:path>
              </a:pathLst>
            </a:custGeom>
            <a:noFill/>
            <a:ln w="9525">
              <a:solidFill>
                <a:srgbClr val="D8E0E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10565" y="270605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clang-tidy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845594" y="2718197"/>
              <a:ext cx="71139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Apache-2.0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58665" y="2706052"/>
              <a:ext cx="12238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保留声明与 NOTICE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533400" y="2990850"/>
              <a:ext cx="7524750" cy="9525"/>
            </a:xfrm>
            <a:custGeom>
              <a:avLst/>
              <a:gdLst/>
              <a:ahLst/>
              <a:cxnLst/>
              <a:rect l="l" t="t" r="r" b="b"/>
              <a:pathLst>
                <a:path w="7524750" h="9525">
                  <a:moveTo>
                    <a:pt x="0" y="0"/>
                  </a:moveTo>
                  <a:lnTo>
                    <a:pt x="7524750" y="0"/>
                  </a:lnTo>
                </a:path>
              </a:pathLst>
            </a:custGeom>
            <a:noFill/>
            <a:ln w="9525">
              <a:solidFill>
                <a:srgbClr val="D8E0E9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0565" y="3201352"/>
              <a:ext cx="4603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ESBMC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845118" y="3209449"/>
              <a:ext cx="5383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BSD 变体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58665" y="320135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保留声明，独立进程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33400" y="3486150"/>
              <a:ext cx="7524750" cy="9525"/>
            </a:xfrm>
            <a:custGeom>
              <a:avLst/>
              <a:gdLst/>
              <a:ahLst/>
              <a:cxnLst/>
              <a:rect l="l" t="t" r="r" b="b"/>
              <a:pathLst>
                <a:path w="7524750" h="9525">
                  <a:moveTo>
                    <a:pt x="0" y="0"/>
                  </a:moveTo>
                  <a:lnTo>
                    <a:pt x="7524750" y="0"/>
                  </a:lnTo>
                </a:path>
              </a:pathLst>
            </a:custGeom>
            <a:noFill/>
            <a:ln w="9525">
              <a:solidFill>
                <a:srgbClr val="D8E0E9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0565" y="3696652"/>
              <a:ext cx="10190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vLLM / Ollama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45118" y="3704749"/>
              <a:ext cx="10973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Apache-2.0 / MIT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58665" y="3696652"/>
              <a:ext cx="26589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保留声明；密钥写 .env 不入库，回传脱敏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533400" y="3981450"/>
              <a:ext cx="7524750" cy="9525"/>
            </a:xfrm>
            <a:custGeom>
              <a:avLst/>
              <a:gdLst/>
              <a:ahLst/>
              <a:cxnLst/>
              <a:rect l="l" t="t" r="r" b="b"/>
              <a:pathLst>
                <a:path w="7524750" h="9525">
                  <a:moveTo>
                    <a:pt x="0" y="0"/>
                  </a:moveTo>
                  <a:lnTo>
                    <a:pt x="7524750" y="0"/>
                  </a:lnTo>
                </a:path>
              </a:pathLst>
            </a:custGeom>
            <a:noFill/>
            <a:ln w="9525">
              <a:solidFill>
                <a:srgbClr val="D8E0E9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10565" y="4191952"/>
              <a:ext cx="12910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Unicorn（未接入）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845594" y="4204097"/>
              <a:ext cx="50512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GPL-2.0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58665" y="4191952"/>
              <a:ext cx="24069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若接入，按独立进程运行（预留做法）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33400" y="4476750"/>
              <a:ext cx="7524750" cy="9525"/>
            </a:xfrm>
            <a:custGeom>
              <a:avLst/>
              <a:gdLst/>
              <a:ahLst/>
              <a:cxnLst/>
              <a:rect l="l" t="t" r="r" b="b"/>
              <a:pathLst>
                <a:path w="7524750" h="9525">
                  <a:moveTo>
                    <a:pt x="0" y="0"/>
                  </a:moveTo>
                  <a:lnTo>
                    <a:pt x="7524750" y="0"/>
                  </a:lnTo>
                </a:path>
              </a:pathLst>
            </a:custGeom>
            <a:noFill/>
            <a:ln w="9525">
              <a:solidFill>
                <a:srgbClr val="D8E0E9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10565" y="4687252"/>
              <a:ext cx="9308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Juliet / GHSA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845118" y="4695349"/>
              <a:ext cx="9543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公有领域 / 条款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558665" y="4687252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数据仅用于评测，保留来源与时间戳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533400" y="4972050"/>
              <a:ext cx="7524750" cy="9525"/>
            </a:xfrm>
            <a:custGeom>
              <a:avLst/>
              <a:gdLst/>
              <a:ahLst/>
              <a:cxnLst/>
              <a:rect l="l" t="t" r="r" b="b"/>
              <a:pathLst>
                <a:path w="7524750" h="9525">
                  <a:moveTo>
                    <a:pt x="0" y="0"/>
                  </a:moveTo>
                  <a:lnTo>
                    <a:pt x="7524750" y="0"/>
                  </a:lnTo>
                </a:path>
              </a:pathLst>
            </a:custGeom>
            <a:noFill/>
            <a:ln w="9525">
              <a:solidFill>
                <a:srgbClr val="D8E0E9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10565" y="5182552"/>
              <a:ext cx="16218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MISRA C:2012 · GJB 8114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845118" y="5190649"/>
              <a:ext cx="8243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商业 / 国军标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558665" y="5182552"/>
              <a:ext cx="28200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不复制文本只实现语义；GJB 编号需授权核实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5486400"/>
              <a:ext cx="7524750" cy="14288"/>
            </a:xfrm>
            <a:prstGeom prst="rect">
              <a:avLst/>
            </a:prstGeom>
            <a:solidFill>
              <a:srgbClr val="D8E0E9"/>
            </a:solidFill>
            <a:ln>
              <a:noFill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8286750" y="1676400"/>
            <a:ext cx="3371850" cy="1714500"/>
            <a:chOff x="8286750" y="1676400"/>
            <a:chExt cx="3371850" cy="1714500"/>
          </a:xfrm>
        </p:grpSpPr>
        <p:sp>
          <p:nvSpPr>
            <p:cNvPr id="46" name="Rectangle 46"/>
            <p:cNvSpPr/>
            <p:nvPr/>
          </p:nvSpPr>
          <p:spPr>
            <a:xfrm>
              <a:off x="8286750" y="1676400"/>
              <a:ext cx="3371850" cy="1714500"/>
            </a:xfrm>
            <a:prstGeom prst="roundRect">
              <a:avLst>
                <a:gd name="adj" fmla="val 4444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8286750" y="1676400"/>
              <a:ext cx="47625" cy="1714500"/>
            </a:xfrm>
            <a:prstGeom prst="roundRect">
              <a:avLst>
                <a:gd name="adj" fmla="val 50000"/>
              </a:avLst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538210" y="1870710"/>
              <a:ext cx="10470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ecdet 本项目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540115" y="217265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当前为</a:t>
              </a:r>
              <a:r>
                <a:rPr lang="zh-CN" sz="105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内部项目（闭源）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540115" y="243935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对外分发需附第三方许可清单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40115" y="2706052"/>
              <a:ext cx="23439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大模型凭据存本机 SQLite，回传脱敏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540115" y="2972752"/>
              <a:ext cx="29460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Docker 镜像内置 cppcheck 时遵循其 GPL 义务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8286750" y="3543300"/>
            <a:ext cx="3371850" cy="1943100"/>
            <a:chOff x="8286750" y="3543300"/>
            <a:chExt cx="3371850" cy="1943100"/>
          </a:xfrm>
        </p:grpSpPr>
        <p:sp>
          <p:nvSpPr>
            <p:cNvPr id="54" name="Rectangle 54"/>
            <p:cNvSpPr/>
            <p:nvPr/>
          </p:nvSpPr>
          <p:spPr>
            <a:xfrm>
              <a:off x="8286750" y="3543300"/>
              <a:ext cx="3371850" cy="1943100"/>
            </a:xfrm>
            <a:prstGeom prst="roundRect">
              <a:avLst>
                <a:gd name="adj" fmla="val 3922"/>
              </a:avLst>
            </a:prstGeom>
            <a:solidFill>
              <a:srgbClr val="FBEDED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286750" y="3543300"/>
              <a:ext cx="47625" cy="1943100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8553450" y="3733800"/>
              <a:ext cx="228600" cy="214312"/>
            </a:xfrm>
            <a:custGeom>
              <a:avLst/>
              <a:gdLst/>
              <a:ahLst/>
              <a:cxnLst/>
              <a:rect l="l" t="t" r="r" b="b"/>
              <a:pathLst>
                <a:path w="228600" h="214312">
                  <a:moveTo>
                    <a:pt x="228600" y="214312"/>
                  </a:moveTo>
                  <a:lnTo>
                    <a:pt x="0" y="214312"/>
                  </a:lnTo>
                  <a:lnTo>
                    <a:pt x="0" y="171450"/>
                  </a:lnTo>
                  <a:lnTo>
                    <a:pt x="100012" y="0"/>
                  </a:lnTo>
                  <a:lnTo>
                    <a:pt x="128588" y="0"/>
                  </a:lnTo>
                  <a:lnTo>
                    <a:pt x="228600" y="171450"/>
                  </a:lnTo>
                  <a:lnTo>
                    <a:pt x="228600" y="214312"/>
                  </a:lnTo>
                  <a:close/>
                  <a:moveTo>
                    <a:pt x="100012" y="57150"/>
                  </a:moveTo>
                  <a:lnTo>
                    <a:pt x="128588" y="57150"/>
                  </a:lnTo>
                  <a:lnTo>
                    <a:pt x="128588" y="128588"/>
                  </a:lnTo>
                  <a:lnTo>
                    <a:pt x="100012" y="128588"/>
                  </a:lnTo>
                  <a:lnTo>
                    <a:pt x="100012" y="57150"/>
                  </a:lnTo>
                  <a:close/>
                  <a:moveTo>
                    <a:pt x="100012" y="157162"/>
                  </a:moveTo>
                  <a:lnTo>
                    <a:pt x="128588" y="157162"/>
                  </a:lnTo>
                  <a:lnTo>
                    <a:pt x="128588" y="185738"/>
                  </a:lnTo>
                  <a:lnTo>
                    <a:pt x="100012" y="185738"/>
                  </a:lnTo>
                  <a:lnTo>
                    <a:pt x="100012" y="157162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862060" y="3775710"/>
              <a:ext cx="17106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风险提示（未完成项）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540115" y="4134802"/>
              <a:ext cx="23579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 xml:space="preserve">cppcheck 官方 MISRA 插件 </a:t>
              </a:r>
              <a:r>
                <a:rPr lang="zh-CN" sz="1050" b="1" dirty="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misra.py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540115" y="4363402"/>
              <a:ext cx="23579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基线未接入</a:t>
              </a:r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——方案 V1.2 的原始承诺，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540115" y="459200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也是唯一未兑现的复用承诺。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540115" y="4896802"/>
              <a:ext cx="21689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处置：已列 P0（约 1 个工作日），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540115" y="5125402"/>
              <a:ext cx="25119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接入后自研 17 条 MISRA 规则转为补差项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33400" y="5715000"/>
            <a:ext cx="11125200" cy="495300"/>
            <a:chOff x="533400" y="5715000"/>
            <a:chExt cx="11125200" cy="495300"/>
          </a:xfrm>
        </p:grpSpPr>
        <p:sp>
          <p:nvSpPr>
            <p:cNvPr id="64" name="Rectangle 64"/>
            <p:cNvSpPr/>
            <p:nvPr/>
          </p:nvSpPr>
          <p:spPr>
            <a:xfrm>
              <a:off x="533400" y="5715000"/>
              <a:ext cx="11125200" cy="495300"/>
            </a:xfrm>
            <a:prstGeom prst="roundRect">
              <a:avLst>
                <a:gd name="adj" fmla="val 15385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33400" y="5715000"/>
              <a:ext cx="47625" cy="495300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23436" y="5903833"/>
              <a:ext cx="9687235" cy="236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2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规则</a:t>
              </a:r>
              <a:r>
                <a:rPr lang="zh-CN" sz="116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 xml:space="preserve"> 宽松许可证（MIT / Apache / BSD）保留声明即可复用；</a:t>
              </a:r>
              <a:r>
                <a:rPr lang="zh-CN" sz="1162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copyleft（GPL / AGPL）按独立服务使用</a:t>
              </a:r>
              <a:r>
                <a:rPr lang="zh-CN" sz="116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；商业标准只实现语义、不复制文本。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22922" y="6578441"/>
            <a:ext cx="11146156" cy="167640"/>
            <a:chOff x="522922" y="6578441"/>
            <a:chExt cx="11146156" cy="167640"/>
          </a:xfrm>
        </p:grpSpPr>
        <p:sp>
          <p:nvSpPr>
            <p:cNvPr id="68" name="TextBox 68"/>
            <p:cNvSpPr txBox="1"/>
            <p:nvPr/>
          </p:nvSpPr>
          <p:spPr>
            <a:xfrm>
              <a:off x="522922" y="6578441"/>
              <a:ext cx="53841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许可证信息：各项目仓库（2026-10-27 查询）；合规做法详见《ecdet 项目现状介绍与后续改进计划》第 5 章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54611" y="6578441"/>
              <a:ext cx="1144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45" grpId="0"/>
      <p:bldP spid="53" grpId="0"/>
      <p:bldP spid="63" grpId="0"/>
      <p:bldP spid="6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3F6B"/>
              </a:gs>
              <a:gs pos="100000">
                <a:srgbClr val="122A47"/>
              </a:gs>
            </a:gsLst>
            <a:lin ang="2700000" scaled="1"/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9429750" y="1143000"/>
            <a:ext cx="3810000" cy="6477000"/>
            <a:chOff x="9429750" y="1143000"/>
            <a:chExt cx="3810000" cy="6477000"/>
          </a:xfrm>
        </p:grpSpPr>
        <p:sp>
          <p:nvSpPr>
            <p:cNvPr id="3" name="Ellipse 3"/>
            <p:cNvSpPr/>
            <p:nvPr/>
          </p:nvSpPr>
          <p:spPr>
            <a:xfrm>
              <a:off x="9429750" y="381000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FFFFFF">
                  <a:alpha val="5000"/>
                </a:srgbClr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9944100" y="4324350"/>
              <a:ext cx="2781300" cy="2781300"/>
            </a:xfrm>
            <a:prstGeom prst="ellipse">
              <a:avLst/>
            </a:prstGeom>
            <a:noFill/>
            <a:ln w="9525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5" name="Rectangle 5"/>
            <p:cNvSpPr/>
            <p:nvPr/>
          </p:nvSpPr>
          <p:spPr>
            <a:xfrm rot="2700000">
              <a:off x="10287000" y="1143000"/>
              <a:ext cx="190500" cy="190500"/>
            </a:xfrm>
            <a:prstGeom prst="rect">
              <a:avLst/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 rot="2700000">
              <a:off x="10668000" y="1562100"/>
              <a:ext cx="114300" cy="114300"/>
            </a:xfrm>
            <a:prstGeom prst="rect">
              <a:avLst/>
            </a:prstGeom>
            <a:solidFill>
              <a:srgbClr val="7FB0E0">
                <a:alpha val="35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809625" y="1947862"/>
            <a:ext cx="1480209" cy="1676400"/>
            <a:chOff x="809625" y="1947862"/>
            <a:chExt cx="1480209" cy="1676400"/>
          </a:xfrm>
        </p:grpSpPr>
        <p:sp>
          <p:nvSpPr>
            <p:cNvPr id="8" name="TextBox 8"/>
            <p:cNvSpPr txBox="1"/>
            <p:nvPr/>
          </p:nvSpPr>
          <p:spPr>
            <a:xfrm>
              <a:off x="809625" y="1947862"/>
              <a:ext cx="1480209" cy="1676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14400" y="3295650"/>
            <a:ext cx="6134100" cy="609600"/>
            <a:chOff x="914400" y="3295650"/>
            <a:chExt cx="6134100" cy="609600"/>
          </a:xfrm>
        </p:grpSpPr>
        <p:sp>
          <p:nvSpPr>
            <p:cNvPr id="10" name="TextBox 10"/>
            <p:cNvSpPr txBox="1"/>
            <p:nvPr/>
          </p:nvSpPr>
          <p:spPr>
            <a:xfrm>
              <a:off x="914400" y="3295650"/>
              <a:ext cx="553688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实现：站在开源组件上做增量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52500" y="3886200"/>
              <a:ext cx="6096000" cy="19050"/>
            </a:xfrm>
            <a:prstGeom prst="rect">
              <a:avLst/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935355" y="4197668"/>
            <a:ext cx="4786884" cy="922020"/>
            <a:chOff x="935355" y="4197668"/>
            <a:chExt cx="4786884" cy="922020"/>
          </a:xfrm>
        </p:grpSpPr>
        <p:sp>
          <p:nvSpPr>
            <p:cNvPr id="13" name="TextBox 13"/>
            <p:cNvSpPr txBox="1"/>
            <p:nvPr/>
          </p:nvSpPr>
          <p:spPr>
            <a:xfrm>
              <a:off x="935355" y="4197668"/>
              <a:ext cx="47868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 xml:space="preserve">2026 Q4 启动，累计 </a:t>
              </a:r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13 个版本节点 · 187 项测试全部通过</a:t>
              </a:r>
              <a:r>
                <a:rPr lang="zh-CN" sz="135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5355" y="452151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先看系统架构与关键实现，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5355" y="4845368"/>
              <a:ext cx="41748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再逐层拆开每一块</a:t>
              </a:r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用了哪些开源资源、哪些是自研</a:t>
              </a:r>
              <a:r>
                <a:rPr lang="zh-CN" sz="135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38212" y="6088856"/>
            <a:ext cx="10313671" cy="245269"/>
            <a:chOff x="938212" y="6088856"/>
            <a:chExt cx="10313671" cy="245269"/>
          </a:xfrm>
        </p:grpSpPr>
        <p:sp>
          <p:nvSpPr>
            <p:cNvPr id="17" name="TextBox 17"/>
            <p:cNvSpPr txBox="1"/>
            <p:nvPr/>
          </p:nvSpPr>
          <p:spPr>
            <a:xfrm>
              <a:off x="938212" y="6088856"/>
              <a:ext cx="5011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9C3E2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01 选题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85962" y="6088856"/>
              <a:ext cx="5386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9C3E2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02 立题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33712" y="6088856"/>
              <a:ext cx="5641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 实现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048000" y="6305550"/>
              <a:ext cx="495300" cy="28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081462" y="6088856"/>
              <a:ext cx="5386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9C3E2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04 计划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939957" y="6105049"/>
              <a:ext cx="13119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A9C3E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ecdet · 项目现状汇报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33400" y="495300"/>
            <a:ext cx="11135677" cy="671512"/>
            <a:chOff x="533400" y="495300"/>
            <a:chExt cx="11135677" cy="671512"/>
          </a:xfrm>
        </p:grpSpPr>
        <p:sp>
          <p:nvSpPr>
            <p:cNvPr id="3" name="Rectangle 3"/>
            <p:cNvSpPr/>
            <p:nvPr/>
          </p:nvSpPr>
          <p:spPr>
            <a:xfrm rot="2700000">
              <a:off x="552450" y="495300"/>
              <a:ext cx="161925" cy="161925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 rot="2700000">
              <a:off x="704850" y="590550"/>
              <a:ext cx="95250" cy="952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9168" y="523399"/>
              <a:ext cx="8308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PART 3 · 实现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2975" y="709612"/>
              <a:ext cx="708252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系统架构：五层流水线 + Web 控制台，核心零依赖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38821" y="539591"/>
              <a:ext cx="24302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ecdet · 嵌入式软件代码缺陷与安全漏洞检测系统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104900"/>
              <a:ext cx="11125200" cy="14288"/>
            </a:xfrm>
            <a:prstGeom prst="rect">
              <a:avLst/>
            </a:prstGeom>
            <a:solidFill>
              <a:srgbClr val="D8E0E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085850"/>
              <a:ext cx="1333500" cy="38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6255" y="1283018"/>
            <a:ext cx="8711374" cy="274320"/>
            <a:chOff x="516255" y="1283018"/>
            <a:chExt cx="8711374" cy="274320"/>
          </a:xfrm>
        </p:grpSpPr>
        <p:sp>
          <p:nvSpPr>
            <p:cNvPr id="11" name="TextBox 11"/>
            <p:cNvSpPr txBox="1"/>
            <p:nvPr/>
          </p:nvSpPr>
          <p:spPr>
            <a:xfrm>
              <a:off x="516255" y="1283018"/>
              <a:ext cx="87113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按数据流向五层贯通：</a:t>
              </a:r>
              <a:r>
                <a:rPr lang="zh-CN" sz="13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橙 = 自研</a:t>
              </a:r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350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蓝 = 复用标准 / 引擎</a:t>
              </a:r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3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深蓝 = 编排</a:t>
              </a:r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；外部引擎</a:t>
              </a:r>
              <a:r>
                <a:rPr lang="zh-CN" sz="1350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「检测到安装即接入」</a:t>
              </a:r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非硬依赖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3400" y="1581150"/>
            <a:ext cx="9772650" cy="742950"/>
            <a:chOff x="533400" y="1581150"/>
            <a:chExt cx="9772650" cy="742950"/>
          </a:xfrm>
        </p:grpSpPr>
        <p:sp>
          <p:nvSpPr>
            <p:cNvPr id="13" name="Rectangle 13"/>
            <p:cNvSpPr/>
            <p:nvPr/>
          </p:nvSpPr>
          <p:spPr>
            <a:xfrm>
              <a:off x="533400" y="1581150"/>
              <a:ext cx="495300" cy="742950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88986" y="1767364"/>
              <a:ext cx="18412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1022" y="2029539"/>
              <a:ext cx="440055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88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构建复现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104900" y="1581150"/>
              <a:ext cx="9201150" cy="74295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257300" y="1714500"/>
              <a:ext cx="28575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77791" y="1805226"/>
              <a:ext cx="194667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Keil / IAR 工程解析器（自研）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79696" y="2002393"/>
              <a:ext cx="1971401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.uvprojx / .ewp → 等价 Clang 命令行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267200" y="1714500"/>
              <a:ext cx="28575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387691" y="1805226"/>
              <a:ext cx="249247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compile_commands.json（标准格式）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89596" y="2002393"/>
              <a:ext cx="1747123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统一编译数据库，供分析引擎消费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277100" y="1714500"/>
              <a:ext cx="287655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97591" y="1805226"/>
              <a:ext cx="1443395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源码直扫退化（自研）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99496" y="2002393"/>
              <a:ext cx="1632109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无构建信息的工程也可直接扫描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33400" y="2400300"/>
            <a:ext cx="9772650" cy="742950"/>
            <a:chOff x="533400" y="2400300"/>
            <a:chExt cx="9772650" cy="742950"/>
          </a:xfrm>
        </p:grpSpPr>
        <p:sp>
          <p:nvSpPr>
            <p:cNvPr id="27" name="Rectangle 27"/>
            <p:cNvSpPr/>
            <p:nvPr/>
          </p:nvSpPr>
          <p:spPr>
            <a:xfrm>
              <a:off x="533400" y="2400300"/>
              <a:ext cx="495300" cy="742950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6670" y="2586514"/>
              <a:ext cx="22876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3529" y="2848689"/>
              <a:ext cx="335042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88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双通道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104900" y="2400300"/>
              <a:ext cx="9201150" cy="74295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1257300" y="2533650"/>
              <a:ext cx="28575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377791" y="2624376"/>
              <a:ext cx="227273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规则引擎 30 条 + 抽象解释（自研）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79696" y="2821543"/>
              <a:ext cx="130431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常量传播 → 可证明性分级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267200" y="2533650"/>
              <a:ext cx="28575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387691" y="2624376"/>
              <a:ext cx="2301089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硬件语义 SVD / ISR / RTOS（自研）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389596" y="2821543"/>
              <a:ext cx="1821882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MMIO · 竞态 · volatile · 阻塞调用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277100" y="2533650"/>
              <a:ext cx="287655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97591" y="2624376"/>
              <a:ext cx="2669685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cppcheck · clang-tidy · ESBMC（复用）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99496" y="2821543"/>
              <a:ext cx="2465963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输出统一归入 SARIF；另含动态通道（第 17 页）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33400" y="3219450"/>
            <a:ext cx="9772650" cy="742950"/>
            <a:chOff x="533400" y="3219450"/>
            <a:chExt cx="9772650" cy="742950"/>
          </a:xfrm>
        </p:grpSpPr>
        <p:sp>
          <p:nvSpPr>
            <p:cNvPr id="41" name="Rectangle 41"/>
            <p:cNvSpPr/>
            <p:nvPr/>
          </p:nvSpPr>
          <p:spPr>
            <a:xfrm>
              <a:off x="533400" y="3219450"/>
              <a:ext cx="495300" cy="742950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6670" y="3405664"/>
              <a:ext cx="22876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61022" y="3667839"/>
              <a:ext cx="440055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88" dirty="0">
                  <a:solidFill>
                    <a:srgbClr val="D8E6F4"/>
                  </a:solidFill>
                  <a:latin typeface="Arial"/>
                  <a:ea typeface="Microsoft YaHei"/>
                  <a:cs typeface="Arial"/>
                </a:rPr>
                <a:t>统一表示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104900" y="3219450"/>
              <a:ext cx="9201150" cy="74295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1257300" y="3352800"/>
              <a:ext cx="447675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377791" y="3443526"/>
              <a:ext cx="2662597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SARIF 2.1.0 唯一数据模型（OASIS 标准）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379696" y="3640693"/>
              <a:ext cx="2207181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多引擎告警统一交换格式，供下游工具消费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886450" y="3352800"/>
              <a:ext cx="42672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006941" y="3443526"/>
              <a:ext cx="231526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硬件语义注入 · 多引擎归一（自研）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008846" y="3640693"/>
              <a:ext cx="1764375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告警携带寄存器 / 中断上下文证据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33400" y="4038600"/>
            <a:ext cx="9772650" cy="742950"/>
            <a:chOff x="533400" y="4038600"/>
            <a:chExt cx="9772650" cy="742950"/>
          </a:xfrm>
        </p:grpSpPr>
        <p:sp>
          <p:nvSpPr>
            <p:cNvPr id="52" name="Rectangle 52"/>
            <p:cNvSpPr/>
            <p:nvPr/>
          </p:nvSpPr>
          <p:spPr>
            <a:xfrm>
              <a:off x="533400" y="4038600"/>
              <a:ext cx="495300" cy="742950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6670" y="4224814"/>
              <a:ext cx="22876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61022" y="4486989"/>
              <a:ext cx="440055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88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多智能体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104900" y="4038600"/>
              <a:ext cx="9201150" cy="74295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1257300" y="4171950"/>
              <a:ext cx="28575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377791" y="4262676"/>
              <a:ext cx="1159859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告警分诊（自研）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379696" y="4459843"/>
              <a:ext cx="2000155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上下文裁剪 → 首判 → A-RAG → 证据核对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4267200" y="4171950"/>
              <a:ext cx="28575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387691" y="4262676"/>
              <a:ext cx="1443395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修复验证闭环（自研）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389596" y="4459843"/>
              <a:ext cx="1758625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补丁须过静态重扫 + gcc 语法检查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277100" y="4171950"/>
              <a:ext cx="287655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397591" y="4262676"/>
              <a:ext cx="1868698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六智能体确定性编排（自研）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99496" y="4459843"/>
              <a:ext cx="2391204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vLLM / Ollama 端点（复用）+ Mock 离线可测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33400" y="4857750"/>
            <a:ext cx="9772650" cy="742950"/>
            <a:chOff x="533400" y="4857750"/>
            <a:chExt cx="9772650" cy="742950"/>
          </a:xfrm>
        </p:grpSpPr>
        <p:sp>
          <p:nvSpPr>
            <p:cNvPr id="66" name="Rectangle 66"/>
            <p:cNvSpPr/>
            <p:nvPr/>
          </p:nvSpPr>
          <p:spPr>
            <a:xfrm>
              <a:off x="533400" y="4857750"/>
              <a:ext cx="495300" cy="742950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66670" y="5043964"/>
              <a:ext cx="22876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L5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61022" y="5306139"/>
              <a:ext cx="440055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88" dirty="0">
                  <a:solidFill>
                    <a:srgbClr val="D8E6F4"/>
                  </a:solidFill>
                  <a:latin typeface="Arial"/>
                  <a:ea typeface="Microsoft YaHei"/>
                  <a:cs typeface="Arial"/>
                </a:rPr>
                <a:t>聚合输出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1104900" y="4857750"/>
              <a:ext cx="9201150" cy="74295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1257300" y="4991100"/>
              <a:ext cx="28575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377791" y="5081826"/>
              <a:ext cx="2173498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指纹去重 + 可证明性分级（自研）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379696" y="5278993"/>
              <a:ext cx="1741372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Proven / Detected / Suspected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4267200" y="4991100"/>
              <a:ext cx="28575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4387691" y="5081826"/>
              <a:ext cx="2549183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CWE ↔ MISRA ↔ GJB 双口径（标准映射）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389596" y="5278993"/>
              <a:ext cx="1172051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合规记录表双标准呈现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7277100" y="4991100"/>
              <a:ext cx="287655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397591" y="5081826"/>
              <a:ext cx="1847433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HTML 报告 + 证据链（自研）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399496" y="5278993"/>
              <a:ext cx="1563100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含 LLM 结论、PoC 与合规记录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10458450" y="1581150"/>
            <a:ext cx="1200150" cy="4019550"/>
            <a:chOff x="10458450" y="1581150"/>
            <a:chExt cx="1200150" cy="4019550"/>
          </a:xfrm>
        </p:grpSpPr>
        <p:sp>
          <p:nvSpPr>
            <p:cNvPr id="80" name="Rectangle 80"/>
            <p:cNvSpPr/>
            <p:nvPr/>
          </p:nvSpPr>
          <p:spPr>
            <a:xfrm>
              <a:off x="10458450" y="1581150"/>
              <a:ext cx="1200150" cy="4019550"/>
            </a:xfrm>
            <a:prstGeom prst="roundRect">
              <a:avLst>
                <a:gd name="adj" fmla="val 6349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0909625" y="1761649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产物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10610850" y="2057400"/>
              <a:ext cx="895350" cy="361950"/>
            </a:xfrm>
            <a:prstGeom prst="roundRect">
              <a:avLst>
                <a:gd name="adj" fmla="val 15789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0665148" y="2192893"/>
              <a:ext cx="786753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dirty="0">
                  <a:solidFill>
                    <a:srgbClr val="17375E"/>
                  </a:solidFill>
                  <a:latin typeface="Consolas"/>
                  <a:ea typeface="Microsoft YaHei"/>
                  <a:cs typeface="Consolas"/>
                </a:rPr>
                <a:t>results.sarif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10610850" y="2571750"/>
              <a:ext cx="895350" cy="361950"/>
            </a:xfrm>
            <a:prstGeom prst="roundRect">
              <a:avLst>
                <a:gd name="adj" fmla="val 15789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10702528" y="2707243"/>
              <a:ext cx="711994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dirty="0">
                  <a:solidFill>
                    <a:srgbClr val="17375E"/>
                  </a:solidFill>
                  <a:latin typeface="Consolas"/>
                  <a:ea typeface="Microsoft YaHei"/>
                  <a:cs typeface="Consolas"/>
                </a:rPr>
                <a:t>report.html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10610850" y="3086100"/>
              <a:ext cx="895350" cy="361950"/>
            </a:xfrm>
            <a:prstGeom prst="roundRect">
              <a:avLst>
                <a:gd name="adj" fmla="val 15789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10650772" y="3221593"/>
              <a:ext cx="815507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dirty="0">
                  <a:solidFill>
                    <a:srgbClr val="17375E"/>
                  </a:solidFill>
                  <a:latin typeface="Consolas"/>
                  <a:ea typeface="Microsoft YaHei"/>
                  <a:cs typeface="Consolas"/>
                </a:rPr>
                <a:t>fixes/*.patch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10610850" y="3600450"/>
              <a:ext cx="895350" cy="361950"/>
            </a:xfrm>
            <a:prstGeom prst="roundRect">
              <a:avLst>
                <a:gd name="adj" fmla="val 15789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10820418" y="3735943"/>
              <a:ext cx="476214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dirty="0">
                  <a:solidFill>
                    <a:srgbClr val="17375E"/>
                  </a:solidFill>
                  <a:latin typeface="Consolas"/>
                  <a:ea typeface="Microsoft YaHei"/>
                  <a:cs typeface="Consolas"/>
                </a:rPr>
                <a:t>PoC 证据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10610850" y="4114800"/>
              <a:ext cx="89535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10760035" y="4212193"/>
              <a:ext cx="596979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增量影响集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768661" y="4383643"/>
              <a:ext cx="579727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/ 告警基线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10610850" y="4743450"/>
              <a:ext cx="895350" cy="6286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D8E0E9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10817542" y="4897993"/>
              <a:ext cx="481965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消融评测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0932557" y="5069443"/>
              <a:ext cx="251936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报告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533400" y="5772150"/>
            <a:ext cx="11125200" cy="495300"/>
            <a:chOff x="533400" y="5772150"/>
            <a:chExt cx="11125200" cy="495300"/>
          </a:xfrm>
        </p:grpSpPr>
        <p:sp>
          <p:nvSpPr>
            <p:cNvPr id="97" name="Rectangle 97"/>
            <p:cNvSpPr/>
            <p:nvPr/>
          </p:nvSpPr>
          <p:spPr>
            <a:xfrm>
              <a:off x="533400" y="5772150"/>
              <a:ext cx="11125200" cy="495300"/>
            </a:xfrm>
            <a:prstGeom prst="roundRect">
              <a:avLst>
                <a:gd name="adj" fmla="val 15385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710089" y="5959554"/>
              <a:ext cx="9881604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零依赖策略</a:t>
              </a:r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：词法 / 结构分析、SARIF 读写、HTTP 服务均为标准库实现；Web 控制台（ThreadingHTTPServer + SQLite + 原生 JS/CSS）零外链离线可用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522922" y="6578441"/>
            <a:ext cx="11146156" cy="167640"/>
            <a:chOff x="522922" y="6578441"/>
            <a:chExt cx="11146156" cy="167640"/>
          </a:xfrm>
        </p:grpSpPr>
        <p:sp>
          <p:nvSpPr>
            <p:cNvPr id="100" name="TextBox 100"/>
            <p:cNvSpPr txBox="1"/>
            <p:nvPr/>
          </p:nvSpPr>
          <p:spPr>
            <a:xfrm>
              <a:off x="522922" y="6578441"/>
              <a:ext cx="67923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架构对照《调研与技术方案》V1.2 五层设计；模块与当前代码结构一一对应（ecdet.l1_build / l3_analysis / l2_ir / l4_llm / l5_report）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554611" y="6578441"/>
              <a:ext cx="1144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6" grpId="0"/>
      <p:bldP spid="40" grpId="0"/>
      <p:bldP spid="51" grpId="0"/>
      <p:bldP spid="65" grpId="0"/>
      <p:bldP spid="79" grpId="0"/>
      <p:bldP spid="96" grpId="0"/>
      <p:bldP spid="9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33400" y="495300"/>
            <a:ext cx="11135677" cy="671512"/>
            <a:chOff x="533400" y="495300"/>
            <a:chExt cx="11135677" cy="671512"/>
          </a:xfrm>
        </p:grpSpPr>
        <p:sp>
          <p:nvSpPr>
            <p:cNvPr id="3" name="Rectangle 3"/>
            <p:cNvSpPr/>
            <p:nvPr/>
          </p:nvSpPr>
          <p:spPr>
            <a:xfrm rot="2700000">
              <a:off x="552450" y="495300"/>
              <a:ext cx="161925" cy="161925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 rot="2700000">
              <a:off x="704850" y="590550"/>
              <a:ext cx="95250" cy="952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9168" y="523399"/>
              <a:ext cx="15719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PART 3 · 实现 · 关键实现①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2975" y="709612"/>
              <a:ext cx="660996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关键实现①：任意嵌入式工程 → 统一 SARIF 表示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38821" y="539591"/>
              <a:ext cx="24302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ecdet · 嵌入式软件代码缺陷与安全漏洞检测系统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104900"/>
              <a:ext cx="11125200" cy="14288"/>
            </a:xfrm>
            <a:prstGeom prst="rect">
              <a:avLst/>
            </a:prstGeom>
            <a:solidFill>
              <a:srgbClr val="D8E0E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085850"/>
              <a:ext cx="1333500" cy="38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4350" y="1323975"/>
            <a:ext cx="8659178" cy="304800"/>
            <a:chOff x="514350" y="1323975"/>
            <a:chExt cx="8659178" cy="304800"/>
          </a:xfrm>
        </p:grpSpPr>
        <p:sp>
          <p:nvSpPr>
            <p:cNvPr id="11" name="TextBox 11"/>
            <p:cNvSpPr txBox="1"/>
            <p:nvPr/>
          </p:nvSpPr>
          <p:spPr>
            <a:xfrm>
              <a:off x="514350" y="1323975"/>
              <a:ext cx="865917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输入的单位是</a:t>
              </a:r>
              <a:r>
                <a:rPr lang="zh-CN" sz="150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工程目录</a:t>
              </a:r>
              <a:r>
                <a:rPr lang="zh-CN" sz="15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：三种来源归一为服务端可访问目录，分析结果归一为</a:t>
              </a:r>
              <a:r>
                <a:rPr lang="zh-CN" sz="1500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单一 SARIF 数据模型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33400" y="1714500"/>
            <a:ext cx="2590800" cy="3200400"/>
            <a:chOff x="533400" y="1714500"/>
            <a:chExt cx="2590800" cy="3200400"/>
          </a:xfrm>
        </p:grpSpPr>
        <p:sp>
          <p:nvSpPr>
            <p:cNvPr id="13" name="Rectangle 13"/>
            <p:cNvSpPr/>
            <p:nvPr/>
          </p:nvSpPr>
          <p:spPr>
            <a:xfrm>
              <a:off x="533400" y="1714500"/>
              <a:ext cx="2590800" cy="3200400"/>
            </a:xfrm>
            <a:prstGeom prst="roundRect">
              <a:avLst>
                <a:gd name="adj" fmla="val 2941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33400" y="1714500"/>
              <a:ext cx="2590800" cy="400050"/>
            </a:xfrm>
            <a:custGeom>
              <a:avLst/>
              <a:gdLst/>
              <a:ahLst/>
              <a:cxnLst/>
              <a:rect l="l" t="t" r="r" b="b"/>
              <a:pathLst>
                <a:path w="2590800" h="40005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514600" y="0"/>
                  </a:lnTo>
                  <a:cubicBezTo>
                    <a:pt x="2556684" y="0"/>
                    <a:pt x="2590800" y="34116"/>
                    <a:pt x="2590800" y="76200"/>
                  </a:cubicBezTo>
                  <a:lnTo>
                    <a:pt x="2590800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08660" y="1861185"/>
              <a:ext cx="8453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① 工程接入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114550"/>
              <a:ext cx="2590800" cy="285750"/>
            </a:xfrm>
            <a:prstGeom prst="rect">
              <a:avLst/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313307" y="2207895"/>
              <a:ext cx="10309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三源归一（自研）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6762" y="2633662"/>
              <a:ext cx="66675" cy="66675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2018" y="2609374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本地路径：零拷贝直引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66762" y="2976562"/>
              <a:ext cx="66675" cy="66675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2018" y="2952274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压缩包：解压防路径逃逸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66762" y="3319462"/>
              <a:ext cx="66675" cy="66675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2018" y="3295174"/>
              <a:ext cx="1545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Git 仓库：浅克隆入工作区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2970" y="3560445"/>
              <a:ext cx="15890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私有库支持 token，支持重复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2970" y="3731895"/>
              <a:ext cx="6049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/ 增量扫描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85800" y="40767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D8E0E9"/>
              </a:solidFill>
              <a:prstDash val="dash"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23900" y="4229100"/>
              <a:ext cx="2209800" cy="533400"/>
            </a:xfrm>
            <a:prstGeom prst="roundRect">
              <a:avLst>
                <a:gd name="adj" fmla="val 10714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587294" y="4359116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阶段产物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3882" y="4544378"/>
              <a:ext cx="1349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可访问的工作区目录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505200" y="1714500"/>
            <a:ext cx="2590800" cy="3200400"/>
            <a:chOff x="3505200" y="1714500"/>
            <a:chExt cx="2590800" cy="3200400"/>
          </a:xfrm>
        </p:grpSpPr>
        <p:sp>
          <p:nvSpPr>
            <p:cNvPr id="31" name="Rectangle 31"/>
            <p:cNvSpPr/>
            <p:nvPr/>
          </p:nvSpPr>
          <p:spPr>
            <a:xfrm>
              <a:off x="3505200" y="1714500"/>
              <a:ext cx="2590800" cy="3200400"/>
            </a:xfrm>
            <a:prstGeom prst="roundRect">
              <a:avLst>
                <a:gd name="adj" fmla="val 2941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3505200" y="1714500"/>
              <a:ext cx="2590800" cy="400050"/>
            </a:xfrm>
            <a:custGeom>
              <a:avLst/>
              <a:gdLst/>
              <a:ahLst/>
              <a:cxnLst/>
              <a:rect l="l" t="t" r="r" b="b"/>
              <a:pathLst>
                <a:path w="2590800" h="40005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514600" y="0"/>
                  </a:lnTo>
                  <a:cubicBezTo>
                    <a:pt x="2556684" y="0"/>
                    <a:pt x="2590800" y="34116"/>
                    <a:pt x="2590800" y="76200"/>
                  </a:cubicBezTo>
                  <a:lnTo>
                    <a:pt x="2590800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680460" y="1861185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② 构建复现 L1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505200" y="2114550"/>
              <a:ext cx="2590800" cy="285750"/>
            </a:xfrm>
            <a:prstGeom prst="rect">
              <a:avLst/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907060" y="2207895"/>
              <a:ext cx="17870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闭源 IDE 工程格式（自研解析）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3738562" y="2633662"/>
              <a:ext cx="66675" cy="66675"/>
            </a:xfrm>
            <a:prstGeom prst="ellipse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873818" y="2609374"/>
              <a:ext cx="19360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Keil .uvprojx / IAR .ewp 解析器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3738562" y="2976562"/>
              <a:ext cx="66675" cy="66675"/>
            </a:xfrm>
            <a:prstGeom prst="ellipse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873818" y="2952274"/>
              <a:ext cx="14679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翻译为等价 Clang 命令行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3738562" y="3319462"/>
              <a:ext cx="66675" cy="66675"/>
            </a:xfrm>
            <a:prstGeom prst="ellipse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873818" y="3295174"/>
              <a:ext cx="16044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无构建信息 → 源码直扫退化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874770" y="3560445"/>
              <a:ext cx="14810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解决 P1：通用工具依赖完整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874770" y="3731895"/>
              <a:ext cx="1583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构建捕获，嵌入式工程多没有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3657600" y="40767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D8E0E9"/>
              </a:solidFill>
              <a:prstDash val="dash"/>
            </a:ln>
          </p:spPr>
        </p:sp>
        <p:sp>
          <p:nvSpPr>
            <p:cNvPr id="45" name="Rectangle 45"/>
            <p:cNvSpPr/>
            <p:nvPr/>
          </p:nvSpPr>
          <p:spPr>
            <a:xfrm>
              <a:off x="3695700" y="4229100"/>
              <a:ext cx="2209800" cy="533400"/>
            </a:xfrm>
            <a:prstGeom prst="roundRect">
              <a:avLst>
                <a:gd name="adj" fmla="val 10714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559094" y="4359116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阶段产物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010070" y="4552474"/>
              <a:ext cx="15810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7375E"/>
                  </a:solidFill>
                  <a:latin typeface="Consolas"/>
                  <a:ea typeface="Microsoft YaHei"/>
                  <a:cs typeface="Consolas"/>
                </a:rPr>
                <a:t>compile_commands.json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477000" y="1714500"/>
            <a:ext cx="2590800" cy="3200400"/>
            <a:chOff x="6477000" y="1714500"/>
            <a:chExt cx="2590800" cy="3200400"/>
          </a:xfrm>
        </p:grpSpPr>
        <p:sp>
          <p:nvSpPr>
            <p:cNvPr id="49" name="Rectangle 49"/>
            <p:cNvSpPr/>
            <p:nvPr/>
          </p:nvSpPr>
          <p:spPr>
            <a:xfrm>
              <a:off x="6477000" y="1714500"/>
              <a:ext cx="2590800" cy="3200400"/>
            </a:xfrm>
            <a:prstGeom prst="roundRect">
              <a:avLst>
                <a:gd name="adj" fmla="val 2941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6477000" y="1714500"/>
              <a:ext cx="2590800" cy="400050"/>
            </a:xfrm>
            <a:custGeom>
              <a:avLst/>
              <a:gdLst/>
              <a:ahLst/>
              <a:cxnLst/>
              <a:rect l="l" t="t" r="r" b="b"/>
              <a:pathLst>
                <a:path w="2590800" h="40005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514600" y="0"/>
                  </a:lnTo>
                  <a:cubicBezTo>
                    <a:pt x="2556684" y="0"/>
                    <a:pt x="2590800" y="34116"/>
                    <a:pt x="2590800" y="76200"/>
                  </a:cubicBezTo>
                  <a:lnTo>
                    <a:pt x="2590800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52260" y="1861185"/>
              <a:ext cx="12486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③ 多引擎分析 L3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77000" y="2114550"/>
              <a:ext cx="2590800" cy="285750"/>
            </a:xfrm>
            <a:prstGeom prst="rect">
              <a:avLst/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058432" y="2207895"/>
              <a:ext cx="14279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内置规则 + 外部引擎并行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710362" y="2633662"/>
              <a:ext cx="66675" cy="66675"/>
            </a:xfrm>
            <a:prstGeom prst="ellipse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45618" y="2609374"/>
              <a:ext cx="1545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自研 C 解析器 + 30 条规则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710362" y="2976562"/>
              <a:ext cx="66675" cy="66675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845618" y="2952274"/>
              <a:ext cx="19295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cppcheck / clang-tidy / ESBMC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710362" y="3319462"/>
              <a:ext cx="66675" cy="66675"/>
            </a:xfrm>
            <a:prstGeom prst="ellipse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845618" y="3295174"/>
              <a:ext cx="17344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硬件语义 + 抽象解释同场分析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846570" y="3560445"/>
              <a:ext cx="1583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外部引擎检测到安装即接入，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846570" y="3731895"/>
              <a:ext cx="14630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缺装自动降级不阻断流水线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6629400" y="40767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D8E0E9"/>
              </a:solidFill>
              <a:prstDash val="dash"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591300" y="4229100"/>
              <a:ext cx="2362200" cy="533400"/>
            </a:xfrm>
            <a:prstGeom prst="roundRect">
              <a:avLst>
                <a:gd name="adj" fmla="val 10714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530894" y="4359116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阶段产物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244501" y="4544378"/>
              <a:ext cx="1055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各引擎原始告警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9448800" y="1714500"/>
            <a:ext cx="2209800" cy="3200400"/>
            <a:chOff x="9448800" y="1714500"/>
            <a:chExt cx="2209800" cy="3200400"/>
          </a:xfrm>
        </p:grpSpPr>
        <p:sp>
          <p:nvSpPr>
            <p:cNvPr id="67" name="Rectangle 67"/>
            <p:cNvSpPr/>
            <p:nvPr/>
          </p:nvSpPr>
          <p:spPr>
            <a:xfrm>
              <a:off x="9448800" y="1714500"/>
              <a:ext cx="2209800" cy="3200400"/>
            </a:xfrm>
            <a:prstGeom prst="roundRect">
              <a:avLst>
                <a:gd name="adj" fmla="val 3448"/>
              </a:avLst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9448800" y="1714500"/>
              <a:ext cx="2209800" cy="400050"/>
            </a:xfrm>
            <a:custGeom>
              <a:avLst/>
              <a:gdLst/>
              <a:ahLst/>
              <a:cxnLst/>
              <a:rect l="l" t="t" r="r" b="b"/>
              <a:pathLst>
                <a:path w="2209800" h="40005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133600" y="0"/>
                  </a:lnTo>
                  <a:cubicBezTo>
                    <a:pt x="2175684" y="0"/>
                    <a:pt x="2209800" y="34116"/>
                    <a:pt x="2209800" y="76200"/>
                  </a:cubicBezTo>
                  <a:lnTo>
                    <a:pt x="2209800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624060" y="1861185"/>
              <a:ext cx="10806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④ 统一表示 L2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448800" y="2114550"/>
              <a:ext cx="2209800" cy="285750"/>
            </a:xfrm>
            <a:prstGeom prst="rect">
              <a:avLst/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987801" y="2207895"/>
              <a:ext cx="11317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SARIF 单一数据模型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9663112" y="2633662"/>
              <a:ext cx="66675" cy="66675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798368" y="2609374"/>
              <a:ext cx="16239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SARIF 2.1.0（OASIS 标准）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9663112" y="2976562"/>
              <a:ext cx="66675" cy="66675"/>
            </a:xfrm>
            <a:prstGeom prst="ellipse">
              <a:avLst/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798368" y="2952274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硬件语义注入告警上下文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9663112" y="3319462"/>
              <a:ext cx="66675" cy="66675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798368" y="3295174"/>
              <a:ext cx="16174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供 L4 研判 / L5 聚合 / Web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799320" y="3560445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一处分析，处处消费；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799320" y="3731895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标准格式可接任意下游</a:t>
              </a:r>
            </a:p>
          </p:txBody>
        </p:sp>
        <p:sp>
          <p:nvSpPr>
            <p:cNvPr id="80" name="Line 80"/>
            <p:cNvSpPr/>
            <p:nvPr/>
          </p:nvSpPr>
          <p:spPr>
            <a:xfrm>
              <a:off x="9601200" y="40767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D8E0E9"/>
              </a:solidFill>
              <a:prstDash val="dash"/>
            </a:ln>
          </p:spPr>
        </p:sp>
        <p:sp>
          <p:nvSpPr>
            <p:cNvPr id="81" name="Rectangle 81"/>
            <p:cNvSpPr/>
            <p:nvPr/>
          </p:nvSpPr>
          <p:spPr>
            <a:xfrm>
              <a:off x="9563100" y="4229100"/>
              <a:ext cx="1981200" cy="533400"/>
            </a:xfrm>
            <a:prstGeom prst="roundRect">
              <a:avLst>
                <a:gd name="adj" fmla="val 10714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10312194" y="4359116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阶段产物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087398" y="4552474"/>
              <a:ext cx="9326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70C0"/>
                  </a:solidFill>
                  <a:latin typeface="Consolas"/>
                  <a:ea typeface="Microsoft YaHei"/>
                  <a:cs typeface="Consolas"/>
                </a:rPr>
                <a:t>results.sarif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3162300" y="3200400"/>
            <a:ext cx="6229350" cy="228600"/>
            <a:chOff x="3162300" y="3200400"/>
            <a:chExt cx="6229350" cy="228600"/>
          </a:xfrm>
        </p:grpSpPr>
        <p:sp>
          <p:nvSpPr>
            <p:cNvPr id="85" name="Freeform 85"/>
            <p:cNvSpPr/>
            <p:nvPr/>
          </p:nvSpPr>
          <p:spPr>
            <a:xfrm>
              <a:off x="3162300" y="3200400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0" y="76200"/>
                  </a:moveTo>
                  <a:lnTo>
                    <a:pt x="123825" y="76200"/>
                  </a:lnTo>
                  <a:lnTo>
                    <a:pt x="123825" y="0"/>
                  </a:lnTo>
                  <a:lnTo>
                    <a:pt x="285750" y="114300"/>
                  </a:lnTo>
                  <a:lnTo>
                    <a:pt x="123825" y="228600"/>
                  </a:lnTo>
                  <a:lnTo>
                    <a:pt x="12382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  <p:sp>
          <p:nvSpPr>
            <p:cNvPr id="86" name="Freeform 86"/>
            <p:cNvSpPr/>
            <p:nvPr/>
          </p:nvSpPr>
          <p:spPr>
            <a:xfrm>
              <a:off x="6134100" y="3200400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0" y="76200"/>
                  </a:moveTo>
                  <a:lnTo>
                    <a:pt x="123825" y="76200"/>
                  </a:lnTo>
                  <a:lnTo>
                    <a:pt x="123825" y="0"/>
                  </a:lnTo>
                  <a:lnTo>
                    <a:pt x="285750" y="114300"/>
                  </a:lnTo>
                  <a:lnTo>
                    <a:pt x="123825" y="228600"/>
                  </a:lnTo>
                  <a:lnTo>
                    <a:pt x="12382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  <p:sp>
          <p:nvSpPr>
            <p:cNvPr id="87" name="Freeform 87"/>
            <p:cNvSpPr/>
            <p:nvPr/>
          </p:nvSpPr>
          <p:spPr>
            <a:xfrm>
              <a:off x="9105900" y="3200400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0" y="76200"/>
                  </a:moveTo>
                  <a:lnTo>
                    <a:pt x="123825" y="76200"/>
                  </a:lnTo>
                  <a:lnTo>
                    <a:pt x="123825" y="0"/>
                  </a:lnTo>
                  <a:lnTo>
                    <a:pt x="285750" y="114300"/>
                  </a:lnTo>
                  <a:lnTo>
                    <a:pt x="123825" y="228600"/>
                  </a:lnTo>
                  <a:lnTo>
                    <a:pt x="12382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</p:grpSp>
      <p:grpSp>
        <p:nvGrpSpPr>
          <p:cNvPr id="92" name="Group 92"/>
          <p:cNvGrpSpPr/>
          <p:nvPr/>
        </p:nvGrpSpPr>
        <p:grpSpPr>
          <a:xfrm>
            <a:off x="533400" y="5143500"/>
            <a:ext cx="11125200" cy="990600"/>
            <a:chOff x="533400" y="5143500"/>
            <a:chExt cx="11125200" cy="990600"/>
          </a:xfrm>
        </p:grpSpPr>
        <p:sp>
          <p:nvSpPr>
            <p:cNvPr id="89" name="Rectangle 89"/>
            <p:cNvSpPr/>
            <p:nvPr/>
          </p:nvSpPr>
          <p:spPr>
            <a:xfrm>
              <a:off x="533400" y="5143500"/>
              <a:ext cx="11125200" cy="990600"/>
            </a:xfrm>
            <a:prstGeom prst="roundRect">
              <a:avLst>
                <a:gd name="adj" fmla="val 7692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47712" y="5364956"/>
              <a:ext cx="62543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复用</a:t>
              </a:r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 xml:space="preserve"> SARIF 2.1.0 交换标准 · compile_commands.json 编译数据库格式 · Clang / GCC 工具链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47712" y="5707856"/>
              <a:ext cx="61568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自研</a:t>
              </a:r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 xml:space="preserve"> Keil / IAR 闭源工程解析器 · 三源归一管线 · C 词法 / 结构解析器与 30 条内置规则引擎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522922" y="6578441"/>
            <a:ext cx="11146156" cy="167640"/>
            <a:chOff x="522922" y="6578441"/>
            <a:chExt cx="11146156" cy="167640"/>
          </a:xfrm>
        </p:grpSpPr>
        <p:sp>
          <p:nvSpPr>
            <p:cNvPr id="93" name="TextBox 93"/>
            <p:cNvSpPr txBox="1"/>
            <p:nvPr/>
          </p:nvSpPr>
          <p:spPr>
            <a:xfrm>
              <a:off x="522922" y="6578441"/>
              <a:ext cx="573616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命令：uv run ecdet init-ccdb &lt;工程&gt; · uv run ecdet scan &lt;工程&gt;；对应问题域 P1（构建复现）与 P3（统一表示）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54611" y="6578441"/>
              <a:ext cx="1144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0" grpId="0"/>
      <p:bldP spid="48" grpId="0"/>
      <p:bldP spid="66" grpId="0"/>
      <p:bldP spid="84" grpId="0"/>
      <p:bldP spid="88" grpId="0"/>
      <p:bldP spid="9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33400" y="495300"/>
            <a:ext cx="11135677" cy="671512"/>
            <a:chOff x="533400" y="495300"/>
            <a:chExt cx="11135677" cy="671512"/>
          </a:xfrm>
        </p:grpSpPr>
        <p:sp>
          <p:nvSpPr>
            <p:cNvPr id="3" name="Rectangle 3"/>
            <p:cNvSpPr/>
            <p:nvPr/>
          </p:nvSpPr>
          <p:spPr>
            <a:xfrm rot="2700000">
              <a:off x="552450" y="495300"/>
              <a:ext cx="161925" cy="161925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 rot="2700000">
              <a:off x="704850" y="590550"/>
              <a:ext cx="95250" cy="952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9168" y="523399"/>
              <a:ext cx="15719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PART 3 · 实现 · 关键实现②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2975" y="709612"/>
              <a:ext cx="719279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关键实现②：静态通道——规则、硬件语义与可证明性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38821" y="539591"/>
              <a:ext cx="24302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ecdet · 嵌入式软件代码缺陷与安全漏洞检测系统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104900"/>
              <a:ext cx="11125200" cy="14288"/>
            </a:xfrm>
            <a:prstGeom prst="rect">
              <a:avLst/>
            </a:prstGeom>
            <a:solidFill>
              <a:srgbClr val="D8E0E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085850"/>
              <a:ext cx="1333500" cy="38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4350" y="1323975"/>
            <a:ext cx="8099108" cy="304800"/>
            <a:chOff x="514350" y="1323975"/>
            <a:chExt cx="8099108" cy="304800"/>
          </a:xfrm>
        </p:grpSpPr>
        <p:sp>
          <p:nvSpPr>
            <p:cNvPr id="11" name="TextBox 11"/>
            <p:cNvSpPr txBox="1"/>
            <p:nvPr/>
          </p:nvSpPr>
          <p:spPr>
            <a:xfrm>
              <a:off x="514350" y="1323975"/>
              <a:ext cx="809910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以自研 C 词法 / 结构解析器为底座，</a:t>
              </a:r>
              <a:r>
                <a:rPr lang="zh-CN" sz="1500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每条告警都带确定性证据</a:t>
              </a:r>
              <a:r>
                <a:rPr lang="zh-CN" sz="15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，而不是「模型觉得有问题」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33400" y="1695450"/>
            <a:ext cx="5334000" cy="3790950"/>
            <a:chOff x="533400" y="1695450"/>
            <a:chExt cx="5334000" cy="3790950"/>
          </a:xfrm>
        </p:grpSpPr>
        <p:sp>
          <p:nvSpPr>
            <p:cNvPr id="13" name="Rectangle 13"/>
            <p:cNvSpPr/>
            <p:nvPr/>
          </p:nvSpPr>
          <p:spPr>
            <a:xfrm>
              <a:off x="533400" y="1695450"/>
              <a:ext cx="5334000" cy="3790950"/>
            </a:xfrm>
            <a:prstGeom prst="roundRect">
              <a:avLst>
                <a:gd name="adj" fmla="val 2513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2955" y="1892618"/>
              <a:ext cx="21891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内置规则集构成（30 条）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51672" y="1937147"/>
              <a:ext cx="179903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38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条款来源：复用标准（第 11 页）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289" y="2301954"/>
              <a:ext cx="1672128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 xml:space="preserve">MISRA C:2012 子集 </a:t>
              </a:r>
              <a:r>
                <a:rPr lang="zh-CN" sz="1088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17 条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00100" y="2514600"/>
              <a:ext cx="2857500" cy="95250"/>
            </a:xfrm>
            <a:prstGeom prst="roundRect">
              <a:avLst>
                <a:gd name="adj" fmla="val 50000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800100" y="2514600"/>
              <a:ext cx="1619250" cy="95250"/>
            </a:xfrm>
            <a:prstGeom prst="roundRect">
              <a:avLst>
                <a:gd name="adj" fmla="val 50000"/>
              </a:avLst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503170" y="2512695"/>
              <a:ext cx="28432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10.3 / 10.4 整型转换族 · 17.2 递归 · 21.6 标准库 IO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6289" y="2911554"/>
              <a:ext cx="1169640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 xml:space="preserve">CERT C 子集 </a:t>
              </a:r>
              <a:r>
                <a:rPr lang="zh-CN" sz="1088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5 条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3124200"/>
              <a:ext cx="2857500" cy="95250"/>
            </a:xfrm>
            <a:prstGeom prst="roundRect">
              <a:avLst>
                <a:gd name="adj" fmla="val 50000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00100" y="3124200"/>
              <a:ext cx="476250" cy="95250"/>
            </a:xfrm>
            <a:prstGeom prst="roundRect">
              <a:avLst>
                <a:gd name="adj" fmla="val 50000"/>
              </a:avLst>
            </a:prstGeom>
            <a:solidFill>
              <a:srgbClr val="2E75B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503170" y="3122295"/>
              <a:ext cx="29572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STR31-C 缓冲区拷贝 · ARR30-C 越界 · FIO30-C 格式串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6289" y="3521154"/>
              <a:ext cx="1428498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 xml:space="preserve">ECDET 缺陷规则 </a:t>
              </a:r>
              <a:r>
                <a:rPr lang="zh-CN" sz="1088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4 条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00100" y="3733800"/>
              <a:ext cx="2857500" cy="95250"/>
            </a:xfrm>
            <a:prstGeom prst="roundRect">
              <a:avLst>
                <a:gd name="adj" fmla="val 50000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800100" y="3733800"/>
              <a:ext cx="381000" cy="95250"/>
            </a:xfrm>
            <a:prstGeom prst="roundRect">
              <a:avLst>
                <a:gd name="adj" fmla="val 50000"/>
              </a:avLst>
            </a:prstGeom>
            <a:solidFill>
              <a:srgbClr val="4A90D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503170" y="3731895"/>
              <a:ext cx="29812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CWE-242 gets · CWE-197 截断 · CWE-1284 scanf 无界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6289" y="4130754"/>
              <a:ext cx="3126297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 xml:space="preserve">ECDET 硬件语义规则 </a:t>
              </a:r>
              <a:r>
                <a:rPr lang="zh-CN" sz="1088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4 条</a:t>
              </a:r>
              <a:r>
                <a:rPr lang="zh-CN" sz="90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（自研 · 核心差异）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00100" y="4343400"/>
              <a:ext cx="2857500" cy="95250"/>
            </a:xfrm>
            <a:prstGeom prst="roundRect">
              <a:avLst>
                <a:gd name="adj" fmla="val 50000"/>
              </a:avLst>
            </a:prstGeom>
            <a:solidFill>
              <a:srgbClr val="F8EDE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00100" y="4343400"/>
              <a:ext cx="381000" cy="95250"/>
            </a:xfrm>
            <a:prstGeom prst="roundRect">
              <a:avLst>
                <a:gd name="adj" fmla="val 50000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503170" y="4341495"/>
              <a:ext cx="28612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MMIO 误写 · ISR 竞态 · volatile 缺失 · ISR 阻塞调用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00100" y="4762500"/>
              <a:ext cx="4800600" cy="495300"/>
            </a:xfrm>
            <a:prstGeom prst="roundRect">
              <a:avLst>
                <a:gd name="adj" fmla="val 11538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0118" y="4866799"/>
              <a:ext cx="33466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 xml:space="preserve">ISR 阻塞调用命中时自动提示 </a:t>
              </a:r>
              <a:r>
                <a:rPr lang="zh-CN" sz="975" b="1" dirty="0">
                  <a:solidFill>
                    <a:srgbClr val="5B6B7C"/>
                  </a:solidFill>
                  <a:latin typeface="Consolas"/>
                  <a:ea typeface="Microsoft YaHei"/>
                  <a:cs typeface="Consolas"/>
                </a:rPr>
                <a:t>FromISR</a:t>
              </a:r>
              <a:r>
                <a:rPr lang="zh-CN" sz="975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 xml:space="preserve"> 变体（FreeRTOS /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0118" y="5057299"/>
              <a:ext cx="34701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RT-Thread / CMSIS-OS2 语义表）；外部引擎告警同场分析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96000" y="1695450"/>
            <a:ext cx="5562600" cy="3790950"/>
            <a:chOff x="6096000" y="1695450"/>
            <a:chExt cx="5562600" cy="3790950"/>
          </a:xfrm>
        </p:grpSpPr>
        <p:sp>
          <p:nvSpPr>
            <p:cNvPr id="36" name="Rectangle 36"/>
            <p:cNvSpPr/>
            <p:nvPr/>
          </p:nvSpPr>
          <p:spPr>
            <a:xfrm>
              <a:off x="6096000" y="1695450"/>
              <a:ext cx="5562600" cy="3790950"/>
            </a:xfrm>
            <a:prstGeom prst="roundRect">
              <a:avLst>
                <a:gd name="adj" fmla="val 2513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45555" y="1892618"/>
              <a:ext cx="21891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可证明性三级（P4 机制）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879806" y="1937147"/>
              <a:ext cx="1524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38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误报抑制是机制，不是口号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362700" y="2228850"/>
              <a:ext cx="5029200" cy="933450"/>
            </a:xfrm>
            <a:prstGeom prst="roundRect">
              <a:avLst>
                <a:gd name="adj" fmla="val 8163"/>
              </a:avLst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75108" y="2415064"/>
              <a:ext cx="12106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Proven 已证明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78441" y="2710101"/>
              <a:ext cx="313110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D8E6F4"/>
                  </a:solidFill>
                  <a:latin typeface="Arial"/>
                  <a:ea typeface="Microsoft YaHei"/>
                  <a:cs typeface="Arial"/>
                </a:rPr>
                <a:t>抽象解释（函数内常量传播）证明必然越界才告警；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78441" y="2919651"/>
              <a:ext cx="2874574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D8E6F4"/>
                  </a:solidFill>
                  <a:latin typeface="Arial"/>
                  <a:ea typeface="Microsoft YaHei"/>
                  <a:cs typeface="Arial"/>
                </a:rPr>
                <a:t>证明</a:t>
              </a:r>
              <a:r>
                <a:rPr lang="zh-CN" sz="1012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必然在界内则直接不告警</a:t>
              </a:r>
              <a:r>
                <a:rPr lang="zh-CN" sz="1012" dirty="0">
                  <a:solidFill>
                    <a:srgbClr val="D8E6F4"/>
                  </a:solidFill>
                  <a:latin typeface="Arial"/>
                  <a:ea typeface="Microsoft YaHei"/>
                  <a:cs typeface="Arial"/>
                </a:rPr>
                <a:t>——机制性抑制误报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362700" y="3276600"/>
              <a:ext cx="5029200" cy="933450"/>
            </a:xfrm>
            <a:prstGeom prst="roundRect">
              <a:avLst>
                <a:gd name="adj" fmla="val 8163"/>
              </a:avLst>
            </a:prstGeom>
            <a:solidFill>
              <a:srgbClr val="2E75B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75108" y="3462814"/>
              <a:ext cx="1407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Detected 已检出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78441" y="3757851"/>
              <a:ext cx="2071223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D8E6F4"/>
                  </a:solidFill>
                  <a:latin typeface="Arial"/>
                  <a:ea typeface="Microsoft YaHei"/>
                  <a:cs typeface="Arial"/>
                </a:rPr>
                <a:t>确定性词法 / 规则证据核对通过；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78441" y="3967401"/>
              <a:ext cx="2219742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D8E6F4"/>
                  </a:solidFill>
                  <a:latin typeface="Arial"/>
                  <a:ea typeface="Microsoft YaHei"/>
                  <a:cs typeface="Arial"/>
                </a:rPr>
                <a:t>ESBMC 界内验证失败同样以此级输出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362700" y="4324350"/>
              <a:ext cx="5029200" cy="933450"/>
            </a:xfrm>
            <a:prstGeom prst="roundRect">
              <a:avLst>
                <a:gd name="adj" fmla="val 8163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75108" y="4510564"/>
              <a:ext cx="150519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Suspected 待研判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78441" y="4805601"/>
              <a:ext cx="265179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疑似告警交由</a:t>
              </a:r>
              <a:r>
                <a:rPr lang="zh-CN" sz="1012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动态通道执行验证</a:t>
              </a:r>
              <a:r>
                <a:rPr lang="zh-CN" sz="1012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（第 17 页）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78441" y="5015151"/>
              <a:ext cx="2921829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与</a:t>
              </a:r>
              <a:r>
                <a:rPr lang="zh-CN" sz="1012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大模型分诊</a:t>
              </a:r>
              <a:r>
                <a:rPr lang="zh-CN" sz="1012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继续查证（第 18 页），升级或降级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33400" y="5695950"/>
            <a:ext cx="11125200" cy="495300"/>
            <a:chOff x="533400" y="5695950"/>
            <a:chExt cx="11125200" cy="495300"/>
          </a:xfrm>
        </p:grpSpPr>
        <p:sp>
          <p:nvSpPr>
            <p:cNvPr id="52" name="Rectangle 52"/>
            <p:cNvSpPr/>
            <p:nvPr/>
          </p:nvSpPr>
          <p:spPr>
            <a:xfrm>
              <a:off x="533400" y="5695950"/>
              <a:ext cx="11125200" cy="495300"/>
            </a:xfrm>
            <a:prstGeom prst="roundRect">
              <a:avLst>
                <a:gd name="adj" fmla="val 15385"/>
              </a:avLst>
            </a:prstGeom>
            <a:solidFill>
              <a:srgbClr val="F8EDE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47712" y="5879306"/>
              <a:ext cx="82721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核心差异</a:t>
              </a:r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 xml:space="preserve"> 通用工具不懂的，ecdet 确定性检出：CMSIS-SVD 寄存器属性解析 + ISR 识别与临界区区间判定 + RTOS API 语义表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22922" y="6578441"/>
            <a:ext cx="11146156" cy="167640"/>
            <a:chOff x="522922" y="6578441"/>
            <a:chExt cx="11146156" cy="167640"/>
          </a:xfrm>
        </p:grpSpPr>
        <p:sp>
          <p:nvSpPr>
            <p:cNvPr id="55" name="TextBox 55"/>
            <p:cNvSpPr txBox="1"/>
            <p:nvPr/>
          </p:nvSpPr>
          <p:spPr>
            <a:xfrm>
              <a:off x="522922" y="6578441"/>
              <a:ext cx="450401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消融佐证：去掉硬件语义后召回率 100% → 50%（A2，见第 22 页）；对应问题域 P2 / P3 / P4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54611" y="6578441"/>
              <a:ext cx="1144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5" grpId="0"/>
      <p:bldP spid="51" grpId="0"/>
      <p:bldP spid="5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33400" y="495300"/>
            <a:ext cx="11135677" cy="671512"/>
            <a:chOff x="533400" y="495300"/>
            <a:chExt cx="11135677" cy="671512"/>
          </a:xfrm>
        </p:grpSpPr>
        <p:sp>
          <p:nvSpPr>
            <p:cNvPr id="3" name="Rectangle 3"/>
            <p:cNvSpPr/>
            <p:nvPr/>
          </p:nvSpPr>
          <p:spPr>
            <a:xfrm rot="2700000">
              <a:off x="552450" y="495300"/>
              <a:ext cx="161925" cy="161925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 rot="2700000">
              <a:off x="704850" y="590550"/>
              <a:ext cx="95250" cy="952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9168" y="523399"/>
              <a:ext cx="18644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PART 3 · 实现 · 关键实现③ · P7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2975" y="709612"/>
              <a:ext cx="686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关键实现③：动态通道——崩溃即实锤，PoC 可复现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38821" y="539591"/>
              <a:ext cx="24302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ecdet · 嵌入式软件代码缺陷与安全漏洞检测系统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104900"/>
              <a:ext cx="11125200" cy="14288"/>
            </a:xfrm>
            <a:prstGeom prst="rect">
              <a:avLst/>
            </a:prstGeom>
            <a:solidFill>
              <a:srgbClr val="D8E0E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085850"/>
              <a:ext cx="1333500" cy="38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4350" y="1323975"/>
            <a:ext cx="7239000" cy="304800"/>
            <a:chOff x="514350" y="1323975"/>
            <a:chExt cx="7239000" cy="304800"/>
          </a:xfrm>
        </p:grpSpPr>
        <p:sp>
          <p:nvSpPr>
            <p:cNvPr id="11" name="TextBox 11"/>
            <p:cNvSpPr txBox="1"/>
            <p:nvPr/>
          </p:nvSpPr>
          <p:spPr>
            <a:xfrm>
              <a:off x="514350" y="1323975"/>
              <a:ext cx="7239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静态怀疑、</a:t>
              </a:r>
              <a:r>
                <a:rPr lang="zh-CN" sz="1500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动态裁决</a:t>
              </a:r>
              <a:r>
                <a:rPr lang="zh-CN" sz="15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：对疑似告警自动生成测试驱动并真实执行，</a:t>
              </a:r>
              <a:r>
                <a:rPr lang="zh-CN" sz="150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跑崩溃即为实锤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33400" y="1714500"/>
            <a:ext cx="2019300" cy="1562100"/>
            <a:chOff x="533400" y="1714500"/>
            <a:chExt cx="2019300" cy="1562100"/>
          </a:xfrm>
        </p:grpSpPr>
        <p:sp>
          <p:nvSpPr>
            <p:cNvPr id="13" name="Rectangle 13"/>
            <p:cNvSpPr/>
            <p:nvPr/>
          </p:nvSpPr>
          <p:spPr>
            <a:xfrm>
              <a:off x="533400" y="1714500"/>
              <a:ext cx="2019300" cy="1562100"/>
            </a:xfrm>
            <a:prstGeom prst="roundRect">
              <a:avLst>
                <a:gd name="adj" fmla="val 4878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1714500"/>
              <a:ext cx="2019300" cy="38100"/>
            </a:xfrm>
            <a:prstGeom prst="roundRect">
              <a:avLst>
                <a:gd name="adj" fmla="val 50000"/>
              </a:avLst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0562" y="1897856"/>
              <a:ext cx="7925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① 激励建模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2944" y="2184797"/>
              <a:ext cx="159275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确定性特殊值表（0 / 边界 /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2944" y="2365772"/>
              <a:ext cx="150524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回绕点）+ 乘法散列采样；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2944" y="2546747"/>
              <a:ext cx="126771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SVD 语义收窄取值域，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2944" y="2727722"/>
              <a:ext cx="114895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一次建模、静动两用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809875" y="1714500"/>
            <a:ext cx="2019300" cy="1562100"/>
            <a:chOff x="2809875" y="1714500"/>
            <a:chExt cx="2019300" cy="1562100"/>
          </a:xfrm>
        </p:grpSpPr>
        <p:sp>
          <p:nvSpPr>
            <p:cNvPr id="21" name="Rectangle 21"/>
            <p:cNvSpPr/>
            <p:nvPr/>
          </p:nvSpPr>
          <p:spPr>
            <a:xfrm>
              <a:off x="2809875" y="1714500"/>
              <a:ext cx="2019300" cy="1562100"/>
            </a:xfrm>
            <a:prstGeom prst="roundRect">
              <a:avLst>
                <a:gd name="adj" fmla="val 4878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809875" y="1714500"/>
              <a:ext cx="2019300" cy="38100"/>
            </a:xfrm>
            <a:prstGeom prst="roundRect">
              <a:avLst>
                <a:gd name="adj" fmla="val 50000"/>
              </a:avLst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967038" y="1897856"/>
              <a:ext cx="11312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② harness 生成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69419" y="2184797"/>
              <a:ext cx="139898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以解析器产出的参数类型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969419" y="2365772"/>
              <a:ext cx="154275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为骨架生成模板 harness；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69419" y="2546747"/>
              <a:ext cx="141773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激励组合表嵌入 C 数组，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69419" y="2727722"/>
              <a:ext cx="89892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每函数一次编译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086350" y="1714500"/>
            <a:ext cx="2019300" cy="1562100"/>
            <a:chOff x="5086350" y="1714500"/>
            <a:chExt cx="2019300" cy="1562100"/>
          </a:xfrm>
        </p:grpSpPr>
        <p:sp>
          <p:nvSpPr>
            <p:cNvPr id="29" name="Rectangle 29"/>
            <p:cNvSpPr/>
            <p:nvPr/>
          </p:nvSpPr>
          <p:spPr>
            <a:xfrm>
              <a:off x="5086350" y="1714500"/>
              <a:ext cx="2019300" cy="1562100"/>
            </a:xfrm>
            <a:prstGeom prst="roundRect">
              <a:avLst>
                <a:gd name="adj" fmla="val 4878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086350" y="1714500"/>
              <a:ext cx="2019300" cy="38100"/>
            </a:xfrm>
            <a:prstGeom prst="roundRect">
              <a:avLst>
                <a:gd name="adj" fmla="val 50000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43512" y="1897856"/>
              <a:ext cx="11942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③ 编译-修正闭环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45894" y="2184797"/>
              <a:ext cx="139898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链接失败自动打桩重编，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45894" y="2365772"/>
              <a:ext cx="114895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一次收全多条错误；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45894" y="2546747"/>
              <a:ext cx="158025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仍失败交</a:t>
              </a:r>
              <a:r>
                <a:rPr lang="zh-CN" sz="938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 xml:space="preserve"> LLM 修正器</a:t>
              </a:r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重写，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45894" y="2727722"/>
              <a:ext cx="127396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产物必须再过编译验证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362825" y="1714500"/>
            <a:ext cx="2019300" cy="1562100"/>
            <a:chOff x="7362825" y="1714500"/>
            <a:chExt cx="2019300" cy="1562100"/>
          </a:xfrm>
        </p:grpSpPr>
        <p:sp>
          <p:nvSpPr>
            <p:cNvPr id="37" name="Rectangle 37"/>
            <p:cNvSpPr/>
            <p:nvPr/>
          </p:nvSpPr>
          <p:spPr>
            <a:xfrm>
              <a:off x="7362825" y="1714500"/>
              <a:ext cx="2019300" cy="1562100"/>
            </a:xfrm>
            <a:prstGeom prst="roundRect">
              <a:avLst>
                <a:gd name="adj" fmla="val 4878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362825" y="1714500"/>
              <a:ext cx="2019300" cy="38100"/>
            </a:xfrm>
            <a:prstGeom prst="roundRect">
              <a:avLst>
                <a:gd name="adj" fmla="val 50000"/>
              </a:avLst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519988" y="1897856"/>
              <a:ext cx="11627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④ 执行与 oracle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22369" y="2184797"/>
              <a:ext cx="1524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宿主机真实执行，判定依据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22369" y="2365772"/>
              <a:ext cx="139898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三类：崩溃退出码分类、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22369" y="2546747"/>
              <a:ext cx="78015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UBSan 输出、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22369" y="2727722"/>
              <a:ext cx="1524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看门狗超时（疑似死循环）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639300" y="1714500"/>
            <a:ext cx="2019300" cy="1562100"/>
            <a:chOff x="9639300" y="1714500"/>
            <a:chExt cx="2019300" cy="1562100"/>
          </a:xfrm>
        </p:grpSpPr>
        <p:sp>
          <p:nvSpPr>
            <p:cNvPr id="45" name="Rectangle 45"/>
            <p:cNvSpPr/>
            <p:nvPr/>
          </p:nvSpPr>
          <p:spPr>
            <a:xfrm>
              <a:off x="9639300" y="1714500"/>
              <a:ext cx="2019300" cy="1562100"/>
            </a:xfrm>
            <a:prstGeom prst="roundRect">
              <a:avLst>
                <a:gd name="adj" fmla="val 4878"/>
              </a:avLst>
            </a:prstGeom>
            <a:solidFill>
              <a:srgbClr val="EAF1F8"/>
            </a:solidFill>
            <a:ln w="19050">
              <a:solidFill>
                <a:srgbClr val="0070C0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639300" y="1714500"/>
              <a:ext cx="2019300" cy="38100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796462" y="1897856"/>
              <a:ext cx="9500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⑤ 命中即实锤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798844" y="2184797"/>
              <a:ext cx="164276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 xml:space="preserve">Suspected 升级 </a:t>
              </a:r>
              <a:r>
                <a:rPr lang="zh-CN" sz="938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Detected</a:t>
              </a:r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798844" y="2365772"/>
              <a:ext cx="174902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实参组合随告警证据落 SARIF；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798844" y="2546747"/>
              <a:ext cx="76765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PoC 可复现：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799796" y="2735818"/>
              <a:ext cx="1187291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b="1" dirty="0">
                  <a:solidFill>
                    <a:srgbClr val="0070C0"/>
                  </a:solidFill>
                  <a:latin typeface="Consolas"/>
                  <a:ea typeface="Microsoft YaHei"/>
                  <a:cs typeface="Consolas"/>
                </a:rPr>
                <a:t>harness.exe &lt;seed&gt;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2581275" y="2390775"/>
            <a:ext cx="7029450" cy="209550"/>
            <a:chOff x="2581275" y="2390775"/>
            <a:chExt cx="7029450" cy="209550"/>
          </a:xfrm>
        </p:grpSpPr>
        <p:sp>
          <p:nvSpPr>
            <p:cNvPr id="53" name="Freeform 53"/>
            <p:cNvSpPr/>
            <p:nvPr/>
          </p:nvSpPr>
          <p:spPr>
            <a:xfrm>
              <a:off x="2581275" y="2390775"/>
              <a:ext cx="200025" cy="209550"/>
            </a:xfrm>
            <a:custGeom>
              <a:avLst/>
              <a:gdLst/>
              <a:ahLst/>
              <a:cxnLst/>
              <a:rect l="l" t="t" r="r" b="b"/>
              <a:pathLst>
                <a:path w="200025" h="209550">
                  <a:moveTo>
                    <a:pt x="0" y="66675"/>
                  </a:moveTo>
                  <a:lnTo>
                    <a:pt x="85725" y="66675"/>
                  </a:lnTo>
                  <a:lnTo>
                    <a:pt x="85725" y="0"/>
                  </a:lnTo>
                  <a:lnTo>
                    <a:pt x="200025" y="104775"/>
                  </a:lnTo>
                  <a:lnTo>
                    <a:pt x="85725" y="209550"/>
                  </a:lnTo>
                  <a:lnTo>
                    <a:pt x="85725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4857750" y="2390775"/>
              <a:ext cx="200025" cy="209550"/>
            </a:xfrm>
            <a:custGeom>
              <a:avLst/>
              <a:gdLst/>
              <a:ahLst/>
              <a:cxnLst/>
              <a:rect l="l" t="t" r="r" b="b"/>
              <a:pathLst>
                <a:path w="200025" h="209550">
                  <a:moveTo>
                    <a:pt x="0" y="66675"/>
                  </a:moveTo>
                  <a:lnTo>
                    <a:pt x="85725" y="66675"/>
                  </a:lnTo>
                  <a:lnTo>
                    <a:pt x="85725" y="0"/>
                  </a:lnTo>
                  <a:lnTo>
                    <a:pt x="200025" y="104775"/>
                  </a:lnTo>
                  <a:lnTo>
                    <a:pt x="85725" y="209550"/>
                  </a:lnTo>
                  <a:lnTo>
                    <a:pt x="85725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7134225" y="2390775"/>
              <a:ext cx="200025" cy="209550"/>
            </a:xfrm>
            <a:custGeom>
              <a:avLst/>
              <a:gdLst/>
              <a:ahLst/>
              <a:cxnLst/>
              <a:rect l="l" t="t" r="r" b="b"/>
              <a:pathLst>
                <a:path w="200025" h="209550">
                  <a:moveTo>
                    <a:pt x="0" y="66675"/>
                  </a:moveTo>
                  <a:lnTo>
                    <a:pt x="85725" y="66675"/>
                  </a:lnTo>
                  <a:lnTo>
                    <a:pt x="85725" y="0"/>
                  </a:lnTo>
                  <a:lnTo>
                    <a:pt x="200025" y="104775"/>
                  </a:lnTo>
                  <a:lnTo>
                    <a:pt x="85725" y="209550"/>
                  </a:lnTo>
                  <a:lnTo>
                    <a:pt x="85725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9410700" y="2390775"/>
              <a:ext cx="200025" cy="209550"/>
            </a:xfrm>
            <a:custGeom>
              <a:avLst/>
              <a:gdLst/>
              <a:ahLst/>
              <a:cxnLst/>
              <a:rect l="l" t="t" r="r" b="b"/>
              <a:pathLst>
                <a:path w="200025" h="209550">
                  <a:moveTo>
                    <a:pt x="0" y="66675"/>
                  </a:moveTo>
                  <a:lnTo>
                    <a:pt x="85725" y="66675"/>
                  </a:lnTo>
                  <a:lnTo>
                    <a:pt x="85725" y="0"/>
                  </a:lnTo>
                  <a:lnTo>
                    <a:pt x="200025" y="104775"/>
                  </a:lnTo>
                  <a:lnTo>
                    <a:pt x="85725" y="209550"/>
                  </a:lnTo>
                  <a:lnTo>
                    <a:pt x="85725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517208" y="3539014"/>
            <a:ext cx="11153775" cy="259080"/>
            <a:chOff x="517208" y="3539014"/>
            <a:chExt cx="11153775" cy="259080"/>
          </a:xfrm>
        </p:grpSpPr>
        <p:sp>
          <p:nvSpPr>
            <p:cNvPr id="58" name="TextBox 58"/>
            <p:cNvSpPr txBox="1"/>
            <p:nvPr/>
          </p:nvSpPr>
          <p:spPr>
            <a:xfrm>
              <a:off x="517208" y="3539014"/>
              <a:ext cx="245136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执行载体：三级吞吐-保真梯度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897499" y="3571399"/>
              <a:ext cx="17734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 xml:space="preserve">吞吐高 ← → 保真高 </a:t>
              </a:r>
              <a:r>
                <a:rPr lang="zh-CN" sz="975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红 = 未完成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33400" y="3829050"/>
            <a:ext cx="3390900" cy="1066800"/>
            <a:chOff x="533400" y="3829050"/>
            <a:chExt cx="3390900" cy="1066800"/>
          </a:xfrm>
        </p:grpSpPr>
        <p:sp>
          <p:nvSpPr>
            <p:cNvPr id="61" name="Rectangle 61"/>
            <p:cNvSpPr/>
            <p:nvPr/>
          </p:nvSpPr>
          <p:spPr>
            <a:xfrm>
              <a:off x="533400" y="3829050"/>
              <a:ext cx="3390900" cy="1066800"/>
            </a:xfrm>
            <a:prstGeom prst="roundRect">
              <a:avLst>
                <a:gd name="adj" fmla="val 7143"/>
              </a:avLst>
            </a:prstGeom>
            <a:solidFill>
              <a:srgbClr val="EAF1F8"/>
            </a:solidFill>
            <a:ln w="14288">
              <a:solidFill>
                <a:srgbClr val="0070C0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47236" y="4027408"/>
              <a:ext cx="1600261" cy="236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2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宿主原生执行（gcc）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009900" y="3981450"/>
              <a:ext cx="723900" cy="247650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097411" y="4051697"/>
              <a:ext cx="54887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当前可用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49618" y="4333399"/>
              <a:ext cx="2105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第一档：吞吐最高，纯函数与算法类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49618" y="4542949"/>
              <a:ext cx="18449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缺陷即刻可验；编译器就绪即用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4400550" y="3829050"/>
            <a:ext cx="3390900" cy="1066800"/>
            <a:chOff x="4400550" y="3829050"/>
            <a:chExt cx="3390900" cy="1066800"/>
          </a:xfrm>
        </p:grpSpPr>
        <p:sp>
          <p:nvSpPr>
            <p:cNvPr id="68" name="Rectangle 68"/>
            <p:cNvSpPr/>
            <p:nvPr/>
          </p:nvSpPr>
          <p:spPr>
            <a:xfrm>
              <a:off x="4400550" y="3829050"/>
              <a:ext cx="3390900" cy="1066800"/>
            </a:xfrm>
            <a:prstGeom prst="roundRect">
              <a:avLst>
                <a:gd name="adj" fmla="val 7143"/>
              </a:avLst>
            </a:prstGeom>
            <a:solidFill>
              <a:srgbClr val="FBEDED"/>
            </a:solidFill>
            <a:ln w="14288">
              <a:solidFill>
                <a:srgbClr val="C00000"/>
              </a:solidFill>
              <a:custDash>
                <a:ds d="400000" sp="266666"/>
              </a:custDash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614386" y="4027408"/>
              <a:ext cx="1478184" cy="236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2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Unicorn 指令级仿真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877050" y="3981450"/>
              <a:ext cx="723900" cy="247650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030194" y="4051697"/>
              <a:ext cx="41761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未完成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616768" y="4333399"/>
              <a:ext cx="20660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第二档：pip 探测即接入（就绪），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616768" y="4542949"/>
              <a:ext cx="18579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执行回路待真实固件语料（P2）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8267700" y="3829050"/>
            <a:ext cx="3390900" cy="1066800"/>
            <a:chOff x="8267700" y="3829050"/>
            <a:chExt cx="3390900" cy="1066800"/>
          </a:xfrm>
        </p:grpSpPr>
        <p:sp>
          <p:nvSpPr>
            <p:cNvPr id="75" name="Rectangle 75"/>
            <p:cNvSpPr/>
            <p:nvPr/>
          </p:nvSpPr>
          <p:spPr>
            <a:xfrm>
              <a:off x="8267700" y="3829050"/>
              <a:ext cx="3390900" cy="1066800"/>
            </a:xfrm>
            <a:prstGeom prst="roundRect">
              <a:avLst>
                <a:gd name="adj" fmla="val 7143"/>
              </a:avLst>
            </a:prstGeom>
            <a:solidFill>
              <a:srgbClr val="FBEDED"/>
            </a:solidFill>
            <a:ln w="14288">
              <a:solidFill>
                <a:srgbClr val="C00000"/>
              </a:solidFill>
              <a:custDash>
                <a:ds d="400000" sp="266666"/>
              </a:custDash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481536" y="4027408"/>
              <a:ext cx="1429352" cy="236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2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Renode 外设级仿真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10744200" y="3981450"/>
              <a:ext cx="723900" cy="247650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0897344" y="4051697"/>
              <a:ext cx="41761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未完成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483918" y="4333399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第三档：二进制探测即接入（就绪），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483918" y="4542949"/>
              <a:ext cx="21180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保真最高档，同样待固件语料（P2）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3979354" y="4290060"/>
            <a:ext cx="3985641" cy="243840"/>
            <a:chOff x="3979354" y="4290060"/>
            <a:chExt cx="3985641" cy="243840"/>
          </a:xfrm>
        </p:grpSpPr>
        <p:sp>
          <p:nvSpPr>
            <p:cNvPr id="82" name="TextBox 82"/>
            <p:cNvSpPr txBox="1"/>
            <p:nvPr/>
          </p:nvSpPr>
          <p:spPr>
            <a:xfrm>
              <a:off x="3979354" y="4290060"/>
              <a:ext cx="118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846504" y="4290060"/>
              <a:ext cx="118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533400" y="5124450"/>
            <a:ext cx="11125200" cy="1028700"/>
            <a:chOff x="533400" y="5124450"/>
            <a:chExt cx="11125200" cy="1028700"/>
          </a:xfrm>
        </p:grpSpPr>
        <p:sp>
          <p:nvSpPr>
            <p:cNvPr id="85" name="Rectangle 85"/>
            <p:cNvSpPr/>
            <p:nvPr/>
          </p:nvSpPr>
          <p:spPr>
            <a:xfrm>
              <a:off x="533400" y="5124450"/>
              <a:ext cx="11125200" cy="1028700"/>
            </a:xfrm>
            <a:prstGeom prst="roundRect">
              <a:avLst>
                <a:gd name="adj" fmla="val 740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47712" y="5345906"/>
              <a:ext cx="77995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消融佐证（A5 去动态通道）</a:t>
              </a:r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 xml:space="preserve"> 召回率 100% → 66.7%，</a:t>
              </a:r>
              <a:r>
                <a:rPr lang="zh-CN" sz="1125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动态贡献率 33%</a:t>
              </a:r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（动态新发现且静态未报占全部已确认缺陷之比）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47712" y="5650706"/>
              <a:ext cx="72894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同时可见成本：关闭动态通道后耗时 62s → 0.2s——</a:t>
              </a:r>
              <a:r>
                <a:rPr lang="zh-CN" sz="1125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双通道互补、动态按需开启</a:t>
              </a:r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，静态怀疑、动态裁决各司其职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522922" y="6578441"/>
            <a:ext cx="11146156" cy="167640"/>
            <a:chOff x="522922" y="6578441"/>
            <a:chExt cx="11146156" cy="167640"/>
          </a:xfrm>
        </p:grpSpPr>
        <p:sp>
          <p:nvSpPr>
            <p:cNvPr id="89" name="TextBox 89"/>
            <p:cNvSpPr txBox="1"/>
            <p:nvPr/>
          </p:nvSpPr>
          <p:spPr>
            <a:xfrm>
              <a:off x="522922" y="6578441"/>
              <a:ext cx="65667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命令：uv run ecdet orchestrate &lt;工程&gt; --mock；运行时监控将静态 Suspected 转为定向探针，命中回填 PoC 证据（方案 3.3.6）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54611" y="6578441"/>
              <a:ext cx="1144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47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0" grpId="0"/>
      <p:bldP spid="28" grpId="0"/>
      <p:bldP spid="36" grpId="0"/>
      <p:bldP spid="44" grpId="0"/>
      <p:bldP spid="52" grpId="0"/>
      <p:bldP spid="57" grpId="0"/>
      <p:bldP spid="60" grpId="0"/>
      <p:bldP spid="67" grpId="0"/>
      <p:bldP spid="74" grpId="0"/>
      <p:bldP spid="81" grpId="0"/>
      <p:bldP spid="84" grpId="0"/>
      <p:bldP spid="8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33400" y="495300"/>
            <a:ext cx="11135677" cy="671512"/>
            <a:chOff x="533400" y="495300"/>
            <a:chExt cx="11135677" cy="671512"/>
          </a:xfrm>
        </p:grpSpPr>
        <p:sp>
          <p:nvSpPr>
            <p:cNvPr id="3" name="Rectangle 3"/>
            <p:cNvSpPr/>
            <p:nvPr/>
          </p:nvSpPr>
          <p:spPr>
            <a:xfrm rot="2700000">
              <a:off x="552450" y="495300"/>
              <a:ext cx="161925" cy="161925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 rot="2700000">
              <a:off x="704850" y="590550"/>
              <a:ext cx="95250" cy="952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9168" y="523399"/>
              <a:ext cx="18644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PART 3 · 实现 · 关键实现④ · P5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2975" y="709612"/>
              <a:ext cx="684624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关键实现④：大模型只当「参谋」，不当「裁判」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38821" y="539591"/>
              <a:ext cx="24302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ecdet · 嵌入式软件代码缺陷与安全漏洞检测系统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104900"/>
              <a:ext cx="11125200" cy="14288"/>
            </a:xfrm>
            <a:prstGeom prst="rect">
              <a:avLst/>
            </a:prstGeom>
            <a:solidFill>
              <a:srgbClr val="D8E0E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085850"/>
              <a:ext cx="1333500" cy="38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4350" y="1323975"/>
            <a:ext cx="8489156" cy="304800"/>
            <a:chOff x="514350" y="1323975"/>
            <a:chExt cx="8489156" cy="304800"/>
          </a:xfrm>
        </p:grpSpPr>
        <p:sp>
          <p:nvSpPr>
            <p:cNvPr id="11" name="TextBox 11"/>
            <p:cNvSpPr txBox="1"/>
            <p:nvPr/>
          </p:nvSpPr>
          <p:spPr>
            <a:xfrm>
              <a:off x="514350" y="1323975"/>
              <a:ext cx="84891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LLM 负责语义推理，</a:t>
              </a:r>
              <a:r>
                <a:rPr lang="zh-CN" sz="1500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结论必须通过确定性验证才能落地</a:t>
              </a:r>
              <a:r>
                <a:rPr lang="zh-CN" sz="15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——幻觉被关在闸门里，而不是赌它不发生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33400" y="1714500"/>
            <a:ext cx="2019300" cy="1333500"/>
            <a:chOff x="533400" y="1714500"/>
            <a:chExt cx="2019300" cy="1333500"/>
          </a:xfrm>
        </p:grpSpPr>
        <p:sp>
          <p:nvSpPr>
            <p:cNvPr id="13" name="Rectangle 13"/>
            <p:cNvSpPr/>
            <p:nvPr/>
          </p:nvSpPr>
          <p:spPr>
            <a:xfrm>
              <a:off x="533400" y="1714500"/>
              <a:ext cx="2019300" cy="13335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1714500"/>
              <a:ext cx="2019300" cy="38100"/>
            </a:xfrm>
            <a:prstGeom prst="roundRect">
              <a:avLst>
                <a:gd name="adj" fmla="val 50000"/>
              </a:avLst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0562" y="1897856"/>
              <a:ext cx="9500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① 上下文裁剪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2944" y="2184797"/>
              <a:ext cx="156150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告警函数 + 深度 2 调用闭包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2944" y="2365772"/>
              <a:ext cx="163026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+ 引用宏，按字符预算截取，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2944" y="2546747"/>
              <a:ext cx="139898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不把整个文件塞进提示词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809875" y="1714500"/>
            <a:ext cx="2019300" cy="1333500"/>
            <a:chOff x="2809875" y="1714500"/>
            <a:chExt cx="2019300" cy="1333500"/>
          </a:xfrm>
        </p:grpSpPr>
        <p:sp>
          <p:nvSpPr>
            <p:cNvPr id="20" name="Rectangle 20"/>
            <p:cNvSpPr/>
            <p:nvPr/>
          </p:nvSpPr>
          <p:spPr>
            <a:xfrm>
              <a:off x="2809875" y="1714500"/>
              <a:ext cx="2019300" cy="13335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809875" y="1714500"/>
              <a:ext cx="2019300" cy="38100"/>
            </a:xfrm>
            <a:prstGeom prst="roundRect">
              <a:avLst>
                <a:gd name="adj" fmla="val 50000"/>
              </a:avLst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967038" y="18978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② LLM 首判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969419" y="2184797"/>
              <a:ext cx="127396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强制结构化 JSON 输出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69419" y="2365772"/>
              <a:ext cx="154275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（真缺陷 / 误报 + 置信度 +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969419" y="2546747"/>
              <a:ext cx="1524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引用行号），可解析才有效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086350" y="1714500"/>
            <a:ext cx="2019300" cy="1333500"/>
            <a:chOff x="5086350" y="1714500"/>
            <a:chExt cx="2019300" cy="1333500"/>
          </a:xfrm>
        </p:grpSpPr>
        <p:sp>
          <p:nvSpPr>
            <p:cNvPr id="27" name="Rectangle 27"/>
            <p:cNvSpPr/>
            <p:nvPr/>
          </p:nvSpPr>
          <p:spPr>
            <a:xfrm>
              <a:off x="5086350" y="1714500"/>
              <a:ext cx="2019300" cy="13335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086350" y="1714500"/>
              <a:ext cx="2019300" cy="38100"/>
            </a:xfrm>
            <a:prstGeom prst="roundRect">
              <a:avLst>
                <a:gd name="adj" fmla="val 50000"/>
              </a:avLst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43512" y="1897856"/>
              <a:ext cx="9579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③ A-RAG 重判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45894" y="2184797"/>
              <a:ext cx="166151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置信度 &lt; 0.6 触发本地知识库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45894" y="2365772"/>
              <a:ext cx="177403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检索后重判；知识库离线可建，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45894" y="2546747"/>
              <a:ext cx="64889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数据不出域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362825" y="1714500"/>
            <a:ext cx="2019300" cy="1333500"/>
            <a:chOff x="7362825" y="1714500"/>
            <a:chExt cx="2019300" cy="1333500"/>
          </a:xfrm>
        </p:grpSpPr>
        <p:sp>
          <p:nvSpPr>
            <p:cNvPr id="34" name="Rectangle 34"/>
            <p:cNvSpPr/>
            <p:nvPr/>
          </p:nvSpPr>
          <p:spPr>
            <a:xfrm>
              <a:off x="7362825" y="1714500"/>
              <a:ext cx="2019300" cy="13335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362825" y="1714500"/>
              <a:ext cx="2019300" cy="38100"/>
            </a:xfrm>
            <a:prstGeom prst="roundRect">
              <a:avLst>
                <a:gd name="adj" fmla="val 50000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19988" y="1897856"/>
              <a:ext cx="11075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④ 证据行号核对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22369" y="2184797"/>
              <a:ext cx="164901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引用行必须落在函数区间内、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22369" y="2365772"/>
              <a:ext cx="177403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为真实代码且包含告警行本身，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22369" y="2546747"/>
              <a:ext cx="138023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 xml:space="preserve">否则降级 </a:t>
              </a:r>
              <a:r>
                <a:rPr lang="zh-CN" sz="938" b="1" dirty="0">
                  <a:solidFill>
                    <a:srgbClr val="5B6B7C"/>
                  </a:solidFill>
                  <a:latin typeface="Consolas"/>
                  <a:ea typeface="Microsoft YaHei"/>
                  <a:cs typeface="Consolas"/>
                </a:rPr>
                <a:t>NEEDS_REVIEW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639300" y="1714500"/>
            <a:ext cx="2019300" cy="1333500"/>
            <a:chOff x="9639300" y="1714500"/>
            <a:chExt cx="2019300" cy="1333500"/>
          </a:xfrm>
        </p:grpSpPr>
        <p:sp>
          <p:nvSpPr>
            <p:cNvPr id="41" name="Rectangle 41"/>
            <p:cNvSpPr/>
            <p:nvPr/>
          </p:nvSpPr>
          <p:spPr>
            <a:xfrm>
              <a:off x="9639300" y="1714500"/>
              <a:ext cx="2019300" cy="1333500"/>
            </a:xfrm>
            <a:prstGeom prst="roundRect">
              <a:avLst>
                <a:gd name="adj" fmla="val 5714"/>
              </a:avLst>
            </a:prstGeom>
            <a:solidFill>
              <a:srgbClr val="EAF1F8"/>
            </a:solidFill>
            <a:ln w="19050">
              <a:solidFill>
                <a:srgbClr val="0070C0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9639300" y="1714500"/>
              <a:ext cx="2019300" cy="38100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796462" y="1897856"/>
              <a:ext cx="7925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⑤ 结论回写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798844" y="2184797"/>
              <a:ext cx="162401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研判结论与置信度写回 SARIF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798844" y="2365772"/>
              <a:ext cx="166776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与报告；Web 告警中心可人工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798844" y="2546747"/>
              <a:ext cx="106144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确认 / 豁免 / 重置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2581275" y="2276475"/>
            <a:ext cx="7029450" cy="209550"/>
            <a:chOff x="2581275" y="2276475"/>
            <a:chExt cx="7029450" cy="209550"/>
          </a:xfrm>
        </p:grpSpPr>
        <p:sp>
          <p:nvSpPr>
            <p:cNvPr id="48" name="Freeform 48"/>
            <p:cNvSpPr/>
            <p:nvPr/>
          </p:nvSpPr>
          <p:spPr>
            <a:xfrm>
              <a:off x="2581275" y="2276475"/>
              <a:ext cx="200025" cy="209550"/>
            </a:xfrm>
            <a:custGeom>
              <a:avLst/>
              <a:gdLst/>
              <a:ahLst/>
              <a:cxnLst/>
              <a:rect l="l" t="t" r="r" b="b"/>
              <a:pathLst>
                <a:path w="200025" h="209550">
                  <a:moveTo>
                    <a:pt x="0" y="66675"/>
                  </a:moveTo>
                  <a:lnTo>
                    <a:pt x="85725" y="66675"/>
                  </a:lnTo>
                  <a:lnTo>
                    <a:pt x="85725" y="0"/>
                  </a:lnTo>
                  <a:lnTo>
                    <a:pt x="200025" y="104775"/>
                  </a:lnTo>
                  <a:lnTo>
                    <a:pt x="85725" y="209550"/>
                  </a:lnTo>
                  <a:lnTo>
                    <a:pt x="85725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4857750" y="2276475"/>
              <a:ext cx="200025" cy="209550"/>
            </a:xfrm>
            <a:custGeom>
              <a:avLst/>
              <a:gdLst/>
              <a:ahLst/>
              <a:cxnLst/>
              <a:rect l="l" t="t" r="r" b="b"/>
              <a:pathLst>
                <a:path w="200025" h="209550">
                  <a:moveTo>
                    <a:pt x="0" y="66675"/>
                  </a:moveTo>
                  <a:lnTo>
                    <a:pt x="85725" y="66675"/>
                  </a:lnTo>
                  <a:lnTo>
                    <a:pt x="85725" y="0"/>
                  </a:lnTo>
                  <a:lnTo>
                    <a:pt x="200025" y="104775"/>
                  </a:lnTo>
                  <a:lnTo>
                    <a:pt x="85725" y="209550"/>
                  </a:lnTo>
                  <a:lnTo>
                    <a:pt x="85725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7134225" y="2276475"/>
              <a:ext cx="200025" cy="209550"/>
            </a:xfrm>
            <a:custGeom>
              <a:avLst/>
              <a:gdLst/>
              <a:ahLst/>
              <a:cxnLst/>
              <a:rect l="l" t="t" r="r" b="b"/>
              <a:pathLst>
                <a:path w="200025" h="209550">
                  <a:moveTo>
                    <a:pt x="0" y="66675"/>
                  </a:moveTo>
                  <a:lnTo>
                    <a:pt x="85725" y="66675"/>
                  </a:lnTo>
                  <a:lnTo>
                    <a:pt x="85725" y="0"/>
                  </a:lnTo>
                  <a:lnTo>
                    <a:pt x="200025" y="104775"/>
                  </a:lnTo>
                  <a:lnTo>
                    <a:pt x="85725" y="209550"/>
                  </a:lnTo>
                  <a:lnTo>
                    <a:pt x="85725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9410700" y="2276475"/>
              <a:ext cx="200025" cy="209550"/>
            </a:xfrm>
            <a:custGeom>
              <a:avLst/>
              <a:gdLst/>
              <a:ahLst/>
              <a:cxnLst/>
              <a:rect l="l" t="t" r="r" b="b"/>
              <a:pathLst>
                <a:path w="200025" h="209550">
                  <a:moveTo>
                    <a:pt x="0" y="66675"/>
                  </a:moveTo>
                  <a:lnTo>
                    <a:pt x="85725" y="66675"/>
                  </a:lnTo>
                  <a:lnTo>
                    <a:pt x="85725" y="0"/>
                  </a:lnTo>
                  <a:lnTo>
                    <a:pt x="200025" y="104775"/>
                  </a:lnTo>
                  <a:lnTo>
                    <a:pt x="85725" y="209550"/>
                  </a:lnTo>
                  <a:lnTo>
                    <a:pt x="85725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533400" y="3219450"/>
            <a:ext cx="11125200" cy="838200"/>
            <a:chOff x="533400" y="3219450"/>
            <a:chExt cx="11125200" cy="838200"/>
          </a:xfrm>
        </p:grpSpPr>
        <p:sp>
          <p:nvSpPr>
            <p:cNvPr id="53" name="Rectangle 53"/>
            <p:cNvSpPr/>
            <p:nvPr/>
          </p:nvSpPr>
          <p:spPr>
            <a:xfrm>
              <a:off x="533400" y="3219450"/>
              <a:ext cx="11125200" cy="838200"/>
            </a:xfrm>
            <a:prstGeom prst="roundRect">
              <a:avLst>
                <a:gd name="adj" fmla="val 9091"/>
              </a:avLst>
            </a:prstGeom>
            <a:solidFill>
              <a:srgbClr val="FBEDED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6760" y="3394710"/>
              <a:ext cx="30548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幻觉抑制三道闸（规则化，确定性执行）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48189" y="3711654"/>
              <a:ext cx="8126885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闸①</a:t>
              </a:r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 xml:space="preserve"> 输出不可解析 JSON → NEEDS_REVIEW </a:t>
              </a:r>
              <a:r>
                <a:rPr lang="zh-CN" sz="1088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闸②</a:t>
              </a:r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 xml:space="preserve"> 引用行号越界 / 指向注释 / 缺告警行 → 降级 </a:t>
              </a:r>
              <a:r>
                <a:rPr lang="zh-CN" sz="1088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闸③</a:t>
              </a:r>
              <a:r>
                <a:rPr lang="zh-CN" sz="1088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 xml:space="preserve"> LLM 调用失败 → NEEDS_REVIEW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33400" y="4248150"/>
            <a:ext cx="7239000" cy="1905000"/>
            <a:chOff x="533400" y="4248150"/>
            <a:chExt cx="7239000" cy="1905000"/>
          </a:xfrm>
        </p:grpSpPr>
        <p:sp>
          <p:nvSpPr>
            <p:cNvPr id="57" name="Rectangle 57"/>
            <p:cNvSpPr/>
            <p:nvPr/>
          </p:nvSpPr>
          <p:spPr>
            <a:xfrm>
              <a:off x="533400" y="4248150"/>
              <a:ext cx="7239000" cy="1905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83908" y="4453414"/>
              <a:ext cx="3281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修复验证闭环（ToolLoopVerify，自研）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86765" y="4801552"/>
              <a:ext cx="28270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对确认缺陷生成</a:t>
              </a:r>
              <a:r>
                <a:rPr lang="zh-CN" sz="105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函数级补丁</a:t>
              </a:r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，三道验证把关：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86765" y="5087302"/>
              <a:ext cx="35551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① 静态重扫：原告警必须消除，且不引入新 error 级告警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86765" y="5354002"/>
              <a:ext cx="38771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② gcc 语法检查：</a:t>
              </a:r>
              <a:r>
                <a:rPr lang="zh-CN" sz="1050" dirty="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-fsyntax-only -std=gnu89</a:t>
              </a:r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（可用即启用）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86765" y="5620702"/>
              <a:ext cx="40031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③ 通过才产出统一 diff 与修复记录，未通过一律拒绝并记录原因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87241" y="5891451"/>
              <a:ext cx="4791813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自动修复模式：验证通过</a:t>
              </a:r>
              <a:r>
                <a:rPr lang="zh-CN" sz="1012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写入源文件（先备份）</a:t>
              </a:r>
              <a:r>
                <a:rPr lang="zh-CN" sz="1012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 xml:space="preserve"> → 逐轮迭代至收敛 → 全工程验收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001000" y="4248150"/>
            <a:ext cx="3657600" cy="1905000"/>
            <a:chOff x="8001000" y="4248150"/>
            <a:chExt cx="3657600" cy="1905000"/>
          </a:xfrm>
        </p:grpSpPr>
        <p:sp>
          <p:nvSpPr>
            <p:cNvPr id="65" name="Rectangle 65"/>
            <p:cNvSpPr/>
            <p:nvPr/>
          </p:nvSpPr>
          <p:spPr>
            <a:xfrm>
              <a:off x="8001000" y="4248150"/>
              <a:ext cx="3657600" cy="1905000"/>
            </a:xfrm>
            <a:prstGeom prst="roundRect">
              <a:avLst>
                <a:gd name="adj" fmla="val 5000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232458" y="445341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端点与可测性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235315" y="4782502"/>
              <a:ext cx="26519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本地推理：</a:t>
              </a:r>
              <a:r>
                <a:rPr lang="zh-CN" sz="105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vLLM 95.7k ★ / Ollama 185k ★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235315" y="5030152"/>
              <a:ext cx="19239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OpenAI 兼容端点，</a:t>
              </a:r>
              <a:r>
                <a:rPr lang="zh-CN" sz="105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数据不出域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235315" y="5334952"/>
              <a:ext cx="24279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Web 大模型设置页可直填端点与密钥，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235315" y="558260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带测试连接探针，凭据存本机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235791" y="5891451"/>
              <a:ext cx="313110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确定性 Mock 客户端保证离线可测（四条路径覆盖）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522922" y="6578441"/>
            <a:ext cx="11146156" cy="167640"/>
            <a:chOff x="522922" y="6578441"/>
            <a:chExt cx="11146156" cy="167640"/>
          </a:xfrm>
        </p:grpSpPr>
        <p:sp>
          <p:nvSpPr>
            <p:cNvPr id="73" name="TextBox 73"/>
            <p:cNvSpPr txBox="1"/>
            <p:nvPr/>
          </p:nvSpPr>
          <p:spPr>
            <a:xfrm>
              <a:off x="522922" y="6578441"/>
              <a:ext cx="632474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消融佐证：去掉 LLM 分诊后精确率 100% → 50%（A1，示例语料过滤 8–10 条误报，见第 22 页）；命令：ecdet triage / ecdet fix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54611" y="6578441"/>
              <a:ext cx="1144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43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9" grpId="0"/>
      <p:bldP spid="26" grpId="0"/>
      <p:bldP spid="33" grpId="0"/>
      <p:bldP spid="40" grpId="0"/>
      <p:bldP spid="47" grpId="0"/>
      <p:bldP spid="52" grpId="0"/>
      <p:bldP spid="56" grpId="0"/>
      <p:bldP spid="64" grpId="0"/>
      <p:bldP spid="7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33400" y="495300"/>
            <a:ext cx="11135677" cy="671512"/>
            <a:chOff x="533400" y="495300"/>
            <a:chExt cx="11135677" cy="671512"/>
          </a:xfrm>
        </p:grpSpPr>
        <p:sp>
          <p:nvSpPr>
            <p:cNvPr id="3" name="Rectangle 3"/>
            <p:cNvSpPr/>
            <p:nvPr/>
          </p:nvSpPr>
          <p:spPr>
            <a:xfrm rot="2700000">
              <a:off x="552450" y="495300"/>
              <a:ext cx="161925" cy="161925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 rot="2700000">
              <a:off x="704850" y="590550"/>
              <a:ext cx="95250" cy="952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9168" y="523399"/>
              <a:ext cx="15329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PART 3 · 实现 · P5 · 现状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2975" y="709612"/>
              <a:ext cx="698801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多智能体协作（现状）：六类智能体的确定性编排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38821" y="539591"/>
              <a:ext cx="24302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ecdet · 嵌入式软件代码缺陷与安全漏洞检测系统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104900"/>
              <a:ext cx="11125200" cy="14288"/>
            </a:xfrm>
            <a:prstGeom prst="rect">
              <a:avLst/>
            </a:prstGeom>
            <a:solidFill>
              <a:srgbClr val="D8E0E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085850"/>
              <a:ext cx="1333500" cy="38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6255" y="1302068"/>
            <a:ext cx="6740128" cy="274320"/>
            <a:chOff x="516255" y="1302068"/>
            <a:chExt cx="6740128" cy="274320"/>
          </a:xfrm>
        </p:grpSpPr>
        <p:sp>
          <p:nvSpPr>
            <p:cNvPr id="11" name="TextBox 11"/>
            <p:cNvSpPr txBox="1"/>
            <p:nvPr/>
          </p:nvSpPr>
          <p:spPr>
            <a:xfrm>
              <a:off x="516255" y="1302068"/>
              <a:ext cx="67401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ecdet orchestrate</a:t>
              </a:r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：状态机式流水线，</a:t>
              </a:r>
              <a:r>
                <a:rPr lang="zh-CN" sz="1350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LLM 负责语义推理，确定性工具守最终裁决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33400" y="1619250"/>
            <a:ext cx="10839450" cy="1219200"/>
            <a:chOff x="533400" y="1619250"/>
            <a:chExt cx="10839450" cy="1219200"/>
          </a:xfrm>
        </p:grpSpPr>
        <p:sp>
          <p:nvSpPr>
            <p:cNvPr id="13" name="Rectangle 13"/>
            <p:cNvSpPr/>
            <p:nvPr/>
          </p:nvSpPr>
          <p:spPr>
            <a:xfrm>
              <a:off x="533400" y="1619250"/>
              <a:ext cx="2381250" cy="1219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17375E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33400" y="1619250"/>
              <a:ext cx="2381250" cy="342900"/>
            </a:xfrm>
            <a:custGeom>
              <a:avLst/>
              <a:gdLst/>
              <a:ahLst/>
              <a:cxnLst/>
              <a:rect l="l" t="t" r="r" b="b"/>
              <a:pathLst>
                <a:path w="2381250" h="3429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305050" y="0"/>
                  </a:lnTo>
                  <a:cubicBezTo>
                    <a:pt x="2347134" y="0"/>
                    <a:pt x="2381250" y="34116"/>
                    <a:pt x="2381250" y="76200"/>
                  </a:cubicBezTo>
                  <a:lnTo>
                    <a:pt x="238125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64827" y="1720929"/>
              <a:ext cx="918396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88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① 规划智能体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1994" y="2146697"/>
              <a:ext cx="177403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读取工程与扫描配置，生成检测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1994" y="2337197"/>
              <a:ext cx="139898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计划；分层路由控制成本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352800" y="1619250"/>
              <a:ext cx="2381250" cy="1219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2E75B6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352800" y="1619250"/>
              <a:ext cx="2381250" cy="342900"/>
            </a:xfrm>
            <a:custGeom>
              <a:avLst/>
              <a:gdLst/>
              <a:ahLst/>
              <a:cxnLst/>
              <a:rect l="l" t="t" r="r" b="b"/>
              <a:pathLst>
                <a:path w="2381250" h="3429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305050" y="0"/>
                  </a:lnTo>
                  <a:cubicBezTo>
                    <a:pt x="2347134" y="0"/>
                    <a:pt x="2381250" y="34116"/>
                    <a:pt x="2381250" y="76200"/>
                  </a:cubicBezTo>
                  <a:lnTo>
                    <a:pt x="238125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160361" y="1720929"/>
              <a:ext cx="766127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88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② 静态通道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31394" y="2146697"/>
              <a:ext cx="166776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规则 + 抽象解释 + 硬件语义 +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31394" y="2337197"/>
              <a:ext cx="1524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外部引擎，产出证据化告警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172200" y="1619250"/>
              <a:ext cx="2381250" cy="1219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17375E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6172200" y="1619250"/>
              <a:ext cx="2381250" cy="342900"/>
            </a:xfrm>
            <a:custGeom>
              <a:avLst/>
              <a:gdLst/>
              <a:ahLst/>
              <a:cxnLst/>
              <a:rect l="l" t="t" r="r" b="b"/>
              <a:pathLst>
                <a:path w="2381250" h="3429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305050" y="0"/>
                  </a:lnTo>
                  <a:cubicBezTo>
                    <a:pt x="2347134" y="0"/>
                    <a:pt x="2381250" y="34116"/>
                    <a:pt x="2381250" y="76200"/>
                  </a:cubicBezTo>
                  <a:lnTo>
                    <a:pt x="238125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46820" y="1720929"/>
              <a:ext cx="1832011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88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③ 分诊智能体（并行扇出）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50794" y="2108597"/>
              <a:ext cx="177403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每条告警独立研判，两路并行：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362700" y="2324100"/>
              <a:ext cx="990600" cy="228600"/>
            </a:xfrm>
            <a:prstGeom prst="roundRect">
              <a:avLst>
                <a:gd name="adj" fmla="val 16667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56635" y="2383393"/>
              <a:ext cx="602730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A-RAG 重判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448550" y="2324100"/>
              <a:ext cx="990600" cy="228600"/>
            </a:xfrm>
            <a:prstGeom prst="roundRect">
              <a:avLst>
                <a:gd name="adj" fmla="val 16667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87853" y="2383393"/>
              <a:ext cx="711994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证据行号核对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51270" y="2646045"/>
              <a:ext cx="13430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低置信度触发知识库检索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991600" y="1619250"/>
              <a:ext cx="2381250" cy="1219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2E75B6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991600" y="1619250"/>
              <a:ext cx="2381250" cy="342900"/>
            </a:xfrm>
            <a:custGeom>
              <a:avLst/>
              <a:gdLst/>
              <a:ahLst/>
              <a:cxnLst/>
              <a:rect l="l" t="t" r="r" b="b"/>
              <a:pathLst>
                <a:path w="2381250" h="3429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305050" y="0"/>
                  </a:lnTo>
                  <a:cubicBezTo>
                    <a:pt x="2347134" y="0"/>
                    <a:pt x="2381250" y="34116"/>
                    <a:pt x="2381250" y="76200"/>
                  </a:cubicBezTo>
                  <a:lnTo>
                    <a:pt x="238125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799161" y="1720929"/>
              <a:ext cx="766127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88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④ 动态通道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70194" y="2146697"/>
              <a:ext cx="161151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对 Suspected 生成 harness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170194" y="2337197"/>
              <a:ext cx="139273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真实执行，命中产出 PoC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2914650" y="2162175"/>
              <a:ext cx="228600" cy="209550"/>
            </a:xfrm>
            <a:custGeom>
              <a:avLst/>
              <a:gdLst/>
              <a:ahLst/>
              <a:cxnLst/>
              <a:rect l="l" t="t" r="r" b="b"/>
              <a:pathLst>
                <a:path w="228600" h="209550">
                  <a:moveTo>
                    <a:pt x="0" y="66675"/>
                  </a:moveTo>
                  <a:lnTo>
                    <a:pt x="114300" y="66675"/>
                  </a:lnTo>
                  <a:lnTo>
                    <a:pt x="114300" y="0"/>
                  </a:lnTo>
                  <a:lnTo>
                    <a:pt x="228600" y="104775"/>
                  </a:lnTo>
                  <a:lnTo>
                    <a:pt x="114300" y="209550"/>
                  </a:lnTo>
                  <a:lnTo>
                    <a:pt x="114300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5734050" y="2162175"/>
              <a:ext cx="228600" cy="209550"/>
            </a:xfrm>
            <a:custGeom>
              <a:avLst/>
              <a:gdLst/>
              <a:ahLst/>
              <a:cxnLst/>
              <a:rect l="l" t="t" r="r" b="b"/>
              <a:pathLst>
                <a:path w="228600" h="209550">
                  <a:moveTo>
                    <a:pt x="0" y="66675"/>
                  </a:moveTo>
                  <a:lnTo>
                    <a:pt x="114300" y="66675"/>
                  </a:lnTo>
                  <a:lnTo>
                    <a:pt x="114300" y="0"/>
                  </a:lnTo>
                  <a:lnTo>
                    <a:pt x="228600" y="104775"/>
                  </a:lnTo>
                  <a:lnTo>
                    <a:pt x="114300" y="209550"/>
                  </a:lnTo>
                  <a:lnTo>
                    <a:pt x="114300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8553450" y="2162175"/>
              <a:ext cx="228600" cy="209550"/>
            </a:xfrm>
            <a:custGeom>
              <a:avLst/>
              <a:gdLst/>
              <a:ahLst/>
              <a:cxnLst/>
              <a:rect l="l" t="t" r="r" b="b"/>
              <a:pathLst>
                <a:path w="228600" h="209550">
                  <a:moveTo>
                    <a:pt x="0" y="66675"/>
                  </a:moveTo>
                  <a:lnTo>
                    <a:pt x="114300" y="66675"/>
                  </a:lnTo>
                  <a:lnTo>
                    <a:pt x="114300" y="0"/>
                  </a:lnTo>
                  <a:lnTo>
                    <a:pt x="228600" y="104775"/>
                  </a:lnTo>
                  <a:lnTo>
                    <a:pt x="114300" y="209550"/>
                  </a:lnTo>
                  <a:lnTo>
                    <a:pt x="114300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1657350" y="2838450"/>
            <a:ext cx="8524875" cy="609600"/>
            <a:chOff x="1657350" y="2838450"/>
            <a:chExt cx="8524875" cy="609600"/>
          </a:xfrm>
        </p:grpSpPr>
        <p:sp>
          <p:nvSpPr>
            <p:cNvPr id="41" name="Freeform 41"/>
            <p:cNvSpPr/>
            <p:nvPr/>
          </p:nvSpPr>
          <p:spPr>
            <a:xfrm>
              <a:off x="1724025" y="2838450"/>
              <a:ext cx="8458200" cy="514350"/>
            </a:xfrm>
            <a:custGeom>
              <a:avLst/>
              <a:gdLst/>
              <a:ahLst/>
              <a:cxnLst/>
              <a:rect l="l" t="t" r="r" b="b"/>
              <a:pathLst>
                <a:path w="8458200" h="514350">
                  <a:moveTo>
                    <a:pt x="8458200" y="0"/>
                  </a:moveTo>
                  <a:lnTo>
                    <a:pt x="8458200" y="304800"/>
                  </a:lnTo>
                  <a:lnTo>
                    <a:pt x="0" y="304800"/>
                  </a:lnTo>
                  <a:lnTo>
                    <a:pt x="0" y="514350"/>
                  </a:lnTo>
                </a:path>
              </a:pathLst>
            </a:custGeom>
            <a:noFill/>
            <a:ln w="23812">
              <a:solidFill>
                <a:srgbClr val="8C9AA9"/>
              </a:solidFill>
            </a:ln>
          </p:spPr>
        </p:sp>
        <p:sp>
          <p:nvSpPr>
            <p:cNvPr id="42" name="Polygon 42"/>
            <p:cNvSpPr/>
            <p:nvPr/>
          </p:nvSpPr>
          <p:spPr>
            <a:xfrm>
              <a:off x="1657350" y="33337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533400" y="3486150"/>
            <a:ext cx="10839450" cy="1219200"/>
            <a:chOff x="533400" y="3486150"/>
            <a:chExt cx="10839450" cy="1219200"/>
          </a:xfrm>
        </p:grpSpPr>
        <p:sp>
          <p:nvSpPr>
            <p:cNvPr id="44" name="Rectangle 44"/>
            <p:cNvSpPr/>
            <p:nvPr/>
          </p:nvSpPr>
          <p:spPr>
            <a:xfrm>
              <a:off x="533400" y="3486150"/>
              <a:ext cx="2381250" cy="1219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2E75B6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533400" y="3486150"/>
              <a:ext cx="2381250" cy="342900"/>
            </a:xfrm>
            <a:custGeom>
              <a:avLst/>
              <a:gdLst/>
              <a:ahLst/>
              <a:cxnLst/>
              <a:rect l="l" t="t" r="r" b="b"/>
              <a:pathLst>
                <a:path w="2381250" h="3429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305050" y="0"/>
                  </a:lnTo>
                  <a:cubicBezTo>
                    <a:pt x="2347134" y="0"/>
                    <a:pt x="2381250" y="34116"/>
                    <a:pt x="2381250" y="76200"/>
                  </a:cubicBezTo>
                  <a:lnTo>
                    <a:pt x="238125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60289" y="3587829"/>
              <a:ext cx="1527472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88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⑤ 监控智能体（裁决）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1994" y="4013597"/>
              <a:ext cx="171777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静态 Suspected 转定向探针，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1994" y="4204097"/>
              <a:ext cx="189279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执行命中回填 PoC 升级 Detected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352800" y="3486150"/>
              <a:ext cx="2381250" cy="1219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17375E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3352800" y="3486150"/>
              <a:ext cx="2381250" cy="342900"/>
            </a:xfrm>
            <a:custGeom>
              <a:avLst/>
              <a:gdLst/>
              <a:ahLst/>
              <a:cxnLst/>
              <a:rect l="l" t="t" r="r" b="b"/>
              <a:pathLst>
                <a:path w="2381250" h="3429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305050" y="0"/>
                  </a:lnTo>
                  <a:cubicBezTo>
                    <a:pt x="2347134" y="0"/>
                    <a:pt x="2381250" y="34116"/>
                    <a:pt x="2381250" y="76200"/>
                  </a:cubicBezTo>
                  <a:lnTo>
                    <a:pt x="238125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084227" y="3587829"/>
              <a:ext cx="918396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88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⑥ 修复智能体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531394" y="4013597"/>
              <a:ext cx="192405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生成函数级补丁，ToolLoopVerify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531394" y="4204097"/>
              <a:ext cx="1524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三道验证，不通过一律拒绝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172200" y="3486150"/>
              <a:ext cx="2381250" cy="1219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B45309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6172200" y="3486150"/>
              <a:ext cx="2381250" cy="342900"/>
            </a:xfrm>
            <a:custGeom>
              <a:avLst/>
              <a:gdLst/>
              <a:ahLst/>
              <a:cxnLst/>
              <a:rect l="l" t="t" r="r" b="b"/>
              <a:pathLst>
                <a:path w="2381250" h="3429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305050" y="0"/>
                  </a:lnTo>
                  <a:cubicBezTo>
                    <a:pt x="2347134" y="0"/>
                    <a:pt x="2381250" y="34116"/>
                    <a:pt x="2381250" y="76200"/>
                  </a:cubicBezTo>
                  <a:lnTo>
                    <a:pt x="238125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B45309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75223" y="3587829"/>
              <a:ext cx="1375203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88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⑦ 高危人工复核闸门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350794" y="4013597"/>
              <a:ext cx="189904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高危结论必须人工确认后才放行；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350794" y="4204097"/>
              <a:ext cx="129272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LLM 不拥有最终裁决权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991600" y="3486150"/>
              <a:ext cx="2381250" cy="12192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2E75B6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8991600" y="3486150"/>
              <a:ext cx="2381250" cy="342900"/>
            </a:xfrm>
            <a:custGeom>
              <a:avLst/>
              <a:gdLst/>
              <a:ahLst/>
              <a:cxnLst/>
              <a:rect l="l" t="t" r="r" b="b"/>
              <a:pathLst>
                <a:path w="2381250" h="3429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305050" y="0"/>
                  </a:lnTo>
                  <a:cubicBezTo>
                    <a:pt x="2347134" y="0"/>
                    <a:pt x="2381250" y="34116"/>
                    <a:pt x="2381250" y="76200"/>
                  </a:cubicBezTo>
                  <a:lnTo>
                    <a:pt x="238125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692573" y="3587829"/>
              <a:ext cx="979304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88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⑧ L5 聚合输出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170194" y="4013597"/>
              <a:ext cx="164901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去重、双口径映射、可证明性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170194" y="4204097"/>
              <a:ext cx="141148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分级，产出 SARIF 与报告</a:t>
              </a:r>
            </a:p>
          </p:txBody>
        </p:sp>
        <p:sp>
          <p:nvSpPr>
            <p:cNvPr id="64" name="Freeform 64"/>
            <p:cNvSpPr/>
            <p:nvPr/>
          </p:nvSpPr>
          <p:spPr>
            <a:xfrm>
              <a:off x="2914650" y="4029075"/>
              <a:ext cx="228600" cy="209550"/>
            </a:xfrm>
            <a:custGeom>
              <a:avLst/>
              <a:gdLst/>
              <a:ahLst/>
              <a:cxnLst/>
              <a:rect l="l" t="t" r="r" b="b"/>
              <a:pathLst>
                <a:path w="228600" h="209550">
                  <a:moveTo>
                    <a:pt x="0" y="66675"/>
                  </a:moveTo>
                  <a:lnTo>
                    <a:pt x="114300" y="66675"/>
                  </a:lnTo>
                  <a:lnTo>
                    <a:pt x="114300" y="0"/>
                  </a:lnTo>
                  <a:lnTo>
                    <a:pt x="228600" y="104775"/>
                  </a:lnTo>
                  <a:lnTo>
                    <a:pt x="114300" y="209550"/>
                  </a:lnTo>
                  <a:lnTo>
                    <a:pt x="114300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5734050" y="4029075"/>
              <a:ext cx="228600" cy="209550"/>
            </a:xfrm>
            <a:custGeom>
              <a:avLst/>
              <a:gdLst/>
              <a:ahLst/>
              <a:cxnLst/>
              <a:rect l="l" t="t" r="r" b="b"/>
              <a:pathLst>
                <a:path w="228600" h="209550">
                  <a:moveTo>
                    <a:pt x="0" y="66675"/>
                  </a:moveTo>
                  <a:lnTo>
                    <a:pt x="114300" y="66675"/>
                  </a:lnTo>
                  <a:lnTo>
                    <a:pt x="114300" y="0"/>
                  </a:lnTo>
                  <a:lnTo>
                    <a:pt x="228600" y="104775"/>
                  </a:lnTo>
                  <a:lnTo>
                    <a:pt x="114300" y="209550"/>
                  </a:lnTo>
                  <a:lnTo>
                    <a:pt x="114300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8553450" y="4029075"/>
              <a:ext cx="228600" cy="209550"/>
            </a:xfrm>
            <a:custGeom>
              <a:avLst/>
              <a:gdLst/>
              <a:ahLst/>
              <a:cxnLst/>
              <a:rect l="l" t="t" r="r" b="b"/>
              <a:pathLst>
                <a:path w="228600" h="209550">
                  <a:moveTo>
                    <a:pt x="0" y="66675"/>
                  </a:moveTo>
                  <a:lnTo>
                    <a:pt x="114300" y="66675"/>
                  </a:lnTo>
                  <a:lnTo>
                    <a:pt x="114300" y="0"/>
                  </a:lnTo>
                  <a:lnTo>
                    <a:pt x="228600" y="104775"/>
                  </a:lnTo>
                  <a:lnTo>
                    <a:pt x="114300" y="209550"/>
                  </a:lnTo>
                  <a:lnTo>
                    <a:pt x="114300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533400" y="4895850"/>
            <a:ext cx="11125200" cy="876300"/>
            <a:chOff x="533400" y="4895850"/>
            <a:chExt cx="11125200" cy="876300"/>
          </a:xfrm>
        </p:grpSpPr>
        <p:sp>
          <p:nvSpPr>
            <p:cNvPr id="68" name="Rectangle 68"/>
            <p:cNvSpPr/>
            <p:nvPr/>
          </p:nvSpPr>
          <p:spPr>
            <a:xfrm>
              <a:off x="533400" y="4895850"/>
              <a:ext cx="3581400" cy="876300"/>
            </a:xfrm>
            <a:prstGeom prst="roundRect">
              <a:avLst>
                <a:gd name="adj" fmla="val 8696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48189" y="5083254"/>
              <a:ext cx="788968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结构化交接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49618" y="5343049"/>
              <a:ext cx="22480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智能体间以结构化 AgentState 传递，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49618" y="5533549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不靠自由文本对话拼接上下文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4305300" y="4895850"/>
              <a:ext cx="3581400" cy="876300"/>
            </a:xfrm>
            <a:prstGeom prst="roundRect">
              <a:avLst>
                <a:gd name="adj" fmla="val 8696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4520089" y="5083254"/>
              <a:ext cx="1093506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分层路由控成本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521518" y="5343049"/>
              <a:ext cx="21700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note 级告警不进大模型；结构化输出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521518" y="5533549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失败即降级，不会阻塞流水线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077200" y="4895850"/>
              <a:ext cx="3581400" cy="876300"/>
            </a:xfrm>
            <a:prstGeom prst="roundRect">
              <a:avLst>
                <a:gd name="adj" fmla="val 8696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291989" y="5083254"/>
              <a:ext cx="941237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降级对照形态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293418" y="5343049"/>
              <a:ext cx="19100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--single-agent 单智能体串行，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293418" y="5533549"/>
              <a:ext cx="16759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作为 A6 消融对照与降级形态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33400" y="5924550"/>
            <a:ext cx="11125200" cy="438150"/>
            <a:chOff x="533400" y="5924550"/>
            <a:chExt cx="11125200" cy="438150"/>
          </a:xfrm>
        </p:grpSpPr>
        <p:sp>
          <p:nvSpPr>
            <p:cNvPr id="81" name="Rectangle 81"/>
            <p:cNvSpPr/>
            <p:nvPr/>
          </p:nvSpPr>
          <p:spPr>
            <a:xfrm>
              <a:off x="533400" y="5924550"/>
              <a:ext cx="11125200" cy="438150"/>
            </a:xfrm>
            <a:prstGeom prst="roundRect">
              <a:avLst>
                <a:gd name="adj" fmla="val 17391"/>
              </a:avLst>
            </a:prstGeom>
            <a:solidFill>
              <a:srgbClr val="FBEDED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48189" y="6083379"/>
              <a:ext cx="7568565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现状局限：</a:t>
              </a:r>
              <a:r>
                <a:rPr lang="zh-CN" sz="1088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单一分诊提示词未按领域分工 · 人工复核结论未回流优化 · 线性状态机无动态重规划 —— 目标架构见下一页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522922" y="6578441"/>
            <a:ext cx="11146156" cy="167640"/>
            <a:chOff x="522922" y="6578441"/>
            <a:chExt cx="11146156" cy="167640"/>
          </a:xfrm>
        </p:grpSpPr>
        <p:sp>
          <p:nvSpPr>
            <p:cNvPr id="84" name="TextBox 84"/>
            <p:cNvSpPr txBox="1"/>
            <p:nvPr/>
          </p:nvSpPr>
          <p:spPr>
            <a:xfrm>
              <a:off x="522922" y="6578441"/>
              <a:ext cx="529061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图例：</a:t>
              </a:r>
              <a:r>
                <a:rPr lang="zh-CN" sz="82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深蓝 = LLM 参与</a:t>
              </a:r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825" b="1" dirty="0">
                  <a:solidFill>
                    <a:srgbClr val="2E75B6"/>
                  </a:solidFill>
                  <a:latin typeface="Arial"/>
                  <a:ea typeface="Microsoft YaHei"/>
                  <a:cs typeface="Arial"/>
                </a:rPr>
                <a:t>中蓝 = 确定性工具</a:t>
              </a:r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82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橙 = 人工闸门</a:t>
              </a:r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；消融 A6 证明编排不改变检测能力（组织学贡献）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54611" y="6578441"/>
              <a:ext cx="1144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40" grpId="0"/>
      <p:bldP spid="43" grpId="0"/>
      <p:bldP spid="67" grpId="0"/>
      <p:bldP spid="80" grpId="0"/>
      <p:bldP spid="8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33400" y="495300"/>
            <a:ext cx="11135677" cy="671512"/>
            <a:chOff x="533400" y="495300"/>
            <a:chExt cx="11135677" cy="671512"/>
          </a:xfrm>
        </p:grpSpPr>
        <p:sp>
          <p:nvSpPr>
            <p:cNvPr id="3" name="Rectangle 3"/>
            <p:cNvSpPr/>
            <p:nvPr/>
          </p:nvSpPr>
          <p:spPr>
            <a:xfrm rot="2700000">
              <a:off x="552450" y="495300"/>
              <a:ext cx="161925" cy="161925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 rot="2700000">
              <a:off x="704850" y="590550"/>
              <a:ext cx="95250" cy="952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9168" y="523399"/>
              <a:ext cx="15329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PART 3 · 实现 · P5 · 目标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2975" y="709612"/>
              <a:ext cx="834268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多智能体协作（目标）：分域专家 + 元认知校验 + 反馈闭环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38821" y="539591"/>
              <a:ext cx="24302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ecdet · 嵌入式软件代码缺陷与安全漏洞检测系统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104900"/>
              <a:ext cx="11125200" cy="14288"/>
            </a:xfrm>
            <a:prstGeom prst="rect">
              <a:avLst/>
            </a:prstGeom>
            <a:solidFill>
              <a:srgbClr val="D8E0E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085850"/>
              <a:ext cx="1333500" cy="38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6255" y="1302068"/>
            <a:ext cx="7253192" cy="274320"/>
            <a:chOff x="516255" y="1302068"/>
            <a:chExt cx="7253192" cy="274320"/>
          </a:xfrm>
        </p:grpSpPr>
        <p:sp>
          <p:nvSpPr>
            <p:cNvPr id="11" name="TextBox 11"/>
            <p:cNvSpPr txBox="1"/>
            <p:nvPr/>
          </p:nvSpPr>
          <p:spPr>
            <a:xfrm>
              <a:off x="516255" y="1302068"/>
              <a:ext cx="72531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对外部工程化建议书逐条评判后</a:t>
              </a:r>
              <a:r>
                <a:rPr lang="zh-CN" sz="1350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不推倒重写、点状吸收</a:t>
              </a:r>
              <a:r>
                <a:rPr lang="zh-CN" sz="13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——红色为现状没有、目标要补的四块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33400" y="1600200"/>
            <a:ext cx="11125200" cy="1447800"/>
            <a:chOff x="533400" y="1600200"/>
            <a:chExt cx="11125200" cy="1447800"/>
          </a:xfrm>
        </p:grpSpPr>
        <p:sp>
          <p:nvSpPr>
            <p:cNvPr id="13" name="Rectangle 13"/>
            <p:cNvSpPr/>
            <p:nvPr/>
          </p:nvSpPr>
          <p:spPr>
            <a:xfrm>
              <a:off x="533400" y="1600200"/>
              <a:ext cx="1714500" cy="144780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14288">
              <a:solidFill>
                <a:srgbClr val="17375E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33400" y="1600200"/>
              <a:ext cx="1714500" cy="342900"/>
            </a:xfrm>
            <a:custGeom>
              <a:avLst/>
              <a:gdLst/>
              <a:ahLst/>
              <a:cxnLst/>
              <a:rect l="l" t="t" r="r" b="b"/>
              <a:pathLst>
                <a:path w="1714500" h="3429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1638300" y="0"/>
                  </a:lnTo>
                  <a:cubicBezTo>
                    <a:pt x="1680384" y="0"/>
                    <a:pt x="1714500" y="34116"/>
                    <a:pt x="1714500" y="76200"/>
                  </a:cubicBezTo>
                  <a:lnTo>
                    <a:pt x="171450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09769" y="1705928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规划智能体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4370" y="2112645"/>
              <a:ext cx="11029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现状保留：计划生成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4370" y="2303145"/>
              <a:ext cx="6229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与分层路由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495550" y="1600200"/>
              <a:ext cx="2286000" cy="144780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14288">
              <a:solidFill>
                <a:srgbClr val="17375E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495550" y="1600200"/>
              <a:ext cx="2286000" cy="342900"/>
            </a:xfrm>
            <a:custGeom>
              <a:avLst/>
              <a:gdLst/>
              <a:ahLst/>
              <a:cxnLst/>
              <a:rect l="l" t="t" r="r" b="b"/>
              <a:pathLst>
                <a:path w="2286000" h="3429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209800" y="0"/>
                  </a:lnTo>
                  <a:cubicBezTo>
                    <a:pt x="2251884" y="0"/>
                    <a:pt x="2286000" y="34116"/>
                    <a:pt x="2286000" y="76200"/>
                  </a:cubicBezTo>
                  <a:lnTo>
                    <a:pt x="228600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184160" y="1705928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静态锚点优先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36520" y="2112645"/>
              <a:ext cx="1583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现状保留：规则 / 抽象解释 /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36520" y="2303145"/>
              <a:ext cx="17030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硬件语义先给证据，宁漏勿误；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36520" y="2493645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高危域不交给模型猜测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029200" y="1600200"/>
              <a:ext cx="3619500" cy="1447800"/>
            </a:xfrm>
            <a:prstGeom prst="roundRect">
              <a:avLst>
                <a:gd name="adj" fmla="val 5263"/>
              </a:avLst>
            </a:prstGeom>
            <a:solidFill>
              <a:srgbClr val="F2F6FA"/>
            </a:solidFill>
            <a:ln w="14288">
              <a:solidFill>
                <a:srgbClr val="D8E0E9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07465" y="1723549"/>
              <a:ext cx="16629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并行审查域（按领域分工）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181600" y="1943100"/>
              <a:ext cx="1695450" cy="495300"/>
            </a:xfrm>
            <a:prstGeom prst="roundRect">
              <a:avLst>
                <a:gd name="adj" fmla="val 11538"/>
              </a:avLst>
            </a:prstGeom>
            <a:solidFill>
              <a:srgbClr val="FBEDED"/>
            </a:solidFill>
            <a:ln w="11430">
              <a:solidFill>
                <a:srgbClr val="C00000"/>
              </a:solidFill>
              <a:custDash>
                <a:ds d="416666" sp="250000"/>
              </a:custDash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83994" y="2051447"/>
              <a:ext cx="81141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内存安全专家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85422" y="2254091"/>
              <a:ext cx="9890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领域化 prompt · P1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953250" y="1943100"/>
              <a:ext cx="1695450" cy="495300"/>
            </a:xfrm>
            <a:prstGeom prst="roundRect">
              <a:avLst>
                <a:gd name="adj" fmla="val 11538"/>
              </a:avLst>
            </a:prstGeom>
            <a:solidFill>
              <a:srgbClr val="FBEDED"/>
            </a:solidFill>
            <a:ln w="11430">
              <a:solidFill>
                <a:srgbClr val="C00000"/>
              </a:solidFill>
              <a:custDash>
                <a:ds d="416666" sp="250000"/>
              </a:custDash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55644" y="2051447"/>
              <a:ext cx="81141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实时资源专家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57072" y="2254091"/>
              <a:ext cx="9890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领域化 prompt · P1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181600" y="2495550"/>
              <a:ext cx="1695450" cy="495300"/>
            </a:xfrm>
            <a:prstGeom prst="roundRect">
              <a:avLst>
                <a:gd name="adj" fmla="val 11538"/>
              </a:avLst>
            </a:prstGeom>
            <a:solidFill>
              <a:srgbClr val="EAF1F8"/>
            </a:solidFill>
            <a:ln w="11430">
              <a:solidFill>
                <a:srgbClr val="0070C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83994" y="2603897"/>
              <a:ext cx="83110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并发 · 中断层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85422" y="2806541"/>
              <a:ext cx="11210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确定性规则已有，保留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953250" y="2495550"/>
              <a:ext cx="1695450" cy="495300"/>
            </a:xfrm>
            <a:prstGeom prst="roundRect">
              <a:avLst>
                <a:gd name="adj" fmla="val 11538"/>
              </a:avLst>
            </a:prstGeom>
            <a:solidFill>
              <a:srgbClr val="EAF1F8"/>
            </a:solidFill>
            <a:ln w="11430">
              <a:solidFill>
                <a:srgbClr val="0070C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55644" y="2603897"/>
              <a:ext cx="68014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硬件交互层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57072" y="2806541"/>
              <a:ext cx="133561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SVD 确定性解析已有，保留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896350" y="1600200"/>
              <a:ext cx="2762250" cy="1447800"/>
            </a:xfrm>
            <a:prstGeom prst="roundRect">
              <a:avLst>
                <a:gd name="adj" fmla="val 5263"/>
              </a:avLst>
            </a:prstGeom>
            <a:solidFill>
              <a:srgbClr val="FBEDED"/>
            </a:solidFill>
            <a:ln w="17145">
              <a:solidFill>
                <a:srgbClr val="C00000"/>
              </a:solidFill>
              <a:custDash>
                <a:ds d="388888" sp="222222"/>
              </a:custDash>
            </a:ln>
          </p:spPr>
        </p:sp>
        <p:sp>
          <p:nvSpPr>
            <p:cNvPr id="39" name="Freeform 39"/>
            <p:cNvSpPr/>
            <p:nvPr/>
          </p:nvSpPr>
          <p:spPr>
            <a:xfrm>
              <a:off x="8896350" y="1600200"/>
              <a:ext cx="2762250" cy="342900"/>
            </a:xfrm>
            <a:custGeom>
              <a:avLst/>
              <a:gdLst/>
              <a:ahLst/>
              <a:cxnLst/>
              <a:rect l="l" t="t" r="r" b="b"/>
              <a:pathLst>
                <a:path w="2762250" h="3429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686050" y="0"/>
                  </a:lnTo>
                  <a:cubicBezTo>
                    <a:pt x="2728134" y="0"/>
                    <a:pt x="2762250" y="34116"/>
                    <a:pt x="2762250" y="76200"/>
                  </a:cubicBezTo>
                  <a:lnTo>
                    <a:pt x="276225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418784" y="1705928"/>
              <a:ext cx="17173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元认知 Critic（P0 新增）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37320" y="2112645"/>
              <a:ext cx="17030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代码片段一致性：引用代码逐字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37320" y="2303145"/>
              <a:ext cx="17030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比对源文件；上下文自洽：结论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37320" y="2493645"/>
              <a:ext cx="1583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对照调用图与 ISR 标记核实；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037796" y="2688193"/>
              <a:ext cx="1402080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现有三道闸是其规则化子集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2247900" y="2257425"/>
              <a:ext cx="200025" cy="209550"/>
            </a:xfrm>
            <a:custGeom>
              <a:avLst/>
              <a:gdLst/>
              <a:ahLst/>
              <a:cxnLst/>
              <a:rect l="l" t="t" r="r" b="b"/>
              <a:pathLst>
                <a:path w="200025" h="209550">
                  <a:moveTo>
                    <a:pt x="0" y="66675"/>
                  </a:moveTo>
                  <a:lnTo>
                    <a:pt x="85725" y="66675"/>
                  </a:lnTo>
                  <a:lnTo>
                    <a:pt x="85725" y="0"/>
                  </a:lnTo>
                  <a:lnTo>
                    <a:pt x="200025" y="104775"/>
                  </a:lnTo>
                  <a:lnTo>
                    <a:pt x="85725" y="209550"/>
                  </a:lnTo>
                  <a:lnTo>
                    <a:pt x="85725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4781550" y="2257425"/>
              <a:ext cx="200025" cy="209550"/>
            </a:xfrm>
            <a:custGeom>
              <a:avLst/>
              <a:gdLst/>
              <a:ahLst/>
              <a:cxnLst/>
              <a:rect l="l" t="t" r="r" b="b"/>
              <a:pathLst>
                <a:path w="200025" h="209550">
                  <a:moveTo>
                    <a:pt x="0" y="66675"/>
                  </a:moveTo>
                  <a:lnTo>
                    <a:pt x="85725" y="66675"/>
                  </a:lnTo>
                  <a:lnTo>
                    <a:pt x="85725" y="0"/>
                  </a:lnTo>
                  <a:lnTo>
                    <a:pt x="200025" y="104775"/>
                  </a:lnTo>
                  <a:lnTo>
                    <a:pt x="85725" y="209550"/>
                  </a:lnTo>
                  <a:lnTo>
                    <a:pt x="85725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8648700" y="2257425"/>
              <a:ext cx="200025" cy="209550"/>
            </a:xfrm>
            <a:custGeom>
              <a:avLst/>
              <a:gdLst/>
              <a:ahLst/>
              <a:cxnLst/>
              <a:rect l="l" t="t" r="r" b="b"/>
              <a:pathLst>
                <a:path w="200025" h="209550">
                  <a:moveTo>
                    <a:pt x="0" y="66675"/>
                  </a:moveTo>
                  <a:lnTo>
                    <a:pt x="85725" y="66675"/>
                  </a:lnTo>
                  <a:lnTo>
                    <a:pt x="85725" y="0"/>
                  </a:lnTo>
                  <a:lnTo>
                    <a:pt x="200025" y="104775"/>
                  </a:lnTo>
                  <a:lnTo>
                    <a:pt x="85725" y="209550"/>
                  </a:lnTo>
                  <a:lnTo>
                    <a:pt x="85725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533400" y="3276600"/>
            <a:ext cx="11125200" cy="1143000"/>
            <a:chOff x="533400" y="3276600"/>
            <a:chExt cx="11125200" cy="1143000"/>
          </a:xfrm>
        </p:grpSpPr>
        <p:sp>
          <p:nvSpPr>
            <p:cNvPr id="49" name="Rectangle 49"/>
            <p:cNvSpPr/>
            <p:nvPr/>
          </p:nvSpPr>
          <p:spPr>
            <a:xfrm>
              <a:off x="533400" y="3276600"/>
              <a:ext cx="2286000" cy="11430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4288">
              <a:solidFill>
                <a:srgbClr val="2E75B6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533400" y="3276600"/>
              <a:ext cx="2286000" cy="342900"/>
            </a:xfrm>
            <a:custGeom>
              <a:avLst/>
              <a:gdLst/>
              <a:ahLst/>
              <a:cxnLst/>
              <a:rect l="l" t="t" r="r" b="b"/>
              <a:pathLst>
                <a:path w="2286000" h="3429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209800" y="0"/>
                  </a:lnTo>
                  <a:cubicBezTo>
                    <a:pt x="2251884" y="0"/>
                    <a:pt x="2286000" y="34116"/>
                    <a:pt x="2286000" y="76200"/>
                  </a:cubicBezTo>
                  <a:lnTo>
                    <a:pt x="228600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369028" y="338232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动态实证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4370" y="3789045"/>
              <a:ext cx="17210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现状保留：harness 执行裁决，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4370" y="3979545"/>
              <a:ext cx="1283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命中即 Detected + PoC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3200400" y="3276600"/>
              <a:ext cx="2286000" cy="11430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4288">
              <a:solidFill>
                <a:srgbClr val="2E75B6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3200400" y="3276600"/>
              <a:ext cx="2286000" cy="342900"/>
            </a:xfrm>
            <a:custGeom>
              <a:avLst/>
              <a:gdLst/>
              <a:ahLst/>
              <a:cxnLst/>
              <a:rect l="l" t="t" r="r" b="b"/>
              <a:pathLst>
                <a:path w="2286000" h="3429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209800" y="0"/>
                  </a:lnTo>
                  <a:cubicBezTo>
                    <a:pt x="2251884" y="0"/>
                    <a:pt x="2286000" y="34116"/>
                    <a:pt x="2286000" y="76200"/>
                  </a:cubicBezTo>
                  <a:lnTo>
                    <a:pt x="228600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889010" y="3382328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修复验证闭环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341370" y="3789045"/>
              <a:ext cx="16070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现状保留：ToolLoopVerify，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341370" y="3979545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补丁必须工具验证通过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867400" y="3276600"/>
              <a:ext cx="2286000" cy="11430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4288">
              <a:solidFill>
                <a:srgbClr val="B45309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5867400" y="3276600"/>
              <a:ext cx="2286000" cy="342900"/>
            </a:xfrm>
            <a:custGeom>
              <a:avLst/>
              <a:gdLst/>
              <a:ahLst/>
              <a:cxnLst/>
              <a:rect l="l" t="t" r="r" b="b"/>
              <a:pathLst>
                <a:path w="2286000" h="3429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2209800" y="0"/>
                  </a:lnTo>
                  <a:cubicBezTo>
                    <a:pt x="2251884" y="0"/>
                    <a:pt x="2286000" y="34116"/>
                    <a:pt x="2286000" y="76200"/>
                  </a:cubicBezTo>
                  <a:lnTo>
                    <a:pt x="228600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B45309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408992" y="3382328"/>
              <a:ext cx="1202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高危人工复核闸门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008370" y="3789045"/>
              <a:ext cx="1583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现状保留；复核状态流转已在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008370" y="3979545"/>
              <a:ext cx="10009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Web 告警中心落地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534400" y="3276600"/>
              <a:ext cx="3124200" cy="1143000"/>
            </a:xfrm>
            <a:prstGeom prst="roundRect">
              <a:avLst>
                <a:gd name="adj" fmla="val 6667"/>
              </a:avLst>
            </a:prstGeom>
            <a:solidFill>
              <a:srgbClr val="FBEDED"/>
            </a:solidFill>
            <a:ln w="17145">
              <a:solidFill>
                <a:srgbClr val="C00000"/>
              </a:solidFill>
              <a:custDash>
                <a:ds d="388888" sp="222222"/>
              </a:custDash>
            </a:ln>
          </p:spPr>
        </p:sp>
        <p:sp>
          <p:nvSpPr>
            <p:cNvPr id="65" name="Freeform 65"/>
            <p:cNvSpPr/>
            <p:nvPr/>
          </p:nvSpPr>
          <p:spPr>
            <a:xfrm>
              <a:off x="8534400" y="3276600"/>
              <a:ext cx="3124200" cy="342900"/>
            </a:xfrm>
            <a:custGeom>
              <a:avLst/>
              <a:gdLst/>
              <a:ahLst/>
              <a:cxnLst/>
              <a:rect l="l" t="t" r="r" b="b"/>
              <a:pathLst>
                <a:path w="3124200" h="3429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3048000" y="0"/>
                  </a:lnTo>
                  <a:cubicBezTo>
                    <a:pt x="3090084" y="0"/>
                    <a:pt x="3124200" y="34116"/>
                    <a:pt x="3124200" y="76200"/>
                  </a:cubicBezTo>
                  <a:lnTo>
                    <a:pt x="312420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035659" y="3382328"/>
              <a:ext cx="21216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反馈回写 + 大小模型分工（P2）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675370" y="37890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人工复核结论沉淀为标注库，回写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675370" y="3979545"/>
              <a:ext cx="20751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提示词精炼；大模型当 Critic、小模型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675370" y="4170045"/>
              <a:ext cx="17150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当并行审查员——均需先积累数据</a:t>
              </a:r>
            </a:p>
          </p:txBody>
        </p:sp>
        <p:sp>
          <p:nvSpPr>
            <p:cNvPr id="70" name="Freeform 70"/>
            <p:cNvSpPr/>
            <p:nvPr/>
          </p:nvSpPr>
          <p:spPr>
            <a:xfrm>
              <a:off x="2819400" y="3781425"/>
              <a:ext cx="200025" cy="209550"/>
            </a:xfrm>
            <a:custGeom>
              <a:avLst/>
              <a:gdLst/>
              <a:ahLst/>
              <a:cxnLst/>
              <a:rect l="l" t="t" r="r" b="b"/>
              <a:pathLst>
                <a:path w="200025" h="209550">
                  <a:moveTo>
                    <a:pt x="0" y="66675"/>
                  </a:moveTo>
                  <a:lnTo>
                    <a:pt x="85725" y="66675"/>
                  </a:lnTo>
                  <a:lnTo>
                    <a:pt x="85725" y="0"/>
                  </a:lnTo>
                  <a:lnTo>
                    <a:pt x="200025" y="104775"/>
                  </a:lnTo>
                  <a:lnTo>
                    <a:pt x="85725" y="209550"/>
                  </a:lnTo>
                  <a:lnTo>
                    <a:pt x="85725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  <p:sp>
          <p:nvSpPr>
            <p:cNvPr id="71" name="Freeform 71"/>
            <p:cNvSpPr/>
            <p:nvPr/>
          </p:nvSpPr>
          <p:spPr>
            <a:xfrm>
              <a:off x="5486400" y="3781425"/>
              <a:ext cx="200025" cy="209550"/>
            </a:xfrm>
            <a:custGeom>
              <a:avLst/>
              <a:gdLst/>
              <a:ahLst/>
              <a:cxnLst/>
              <a:rect l="l" t="t" r="r" b="b"/>
              <a:pathLst>
                <a:path w="200025" h="209550">
                  <a:moveTo>
                    <a:pt x="0" y="66675"/>
                  </a:moveTo>
                  <a:lnTo>
                    <a:pt x="85725" y="66675"/>
                  </a:lnTo>
                  <a:lnTo>
                    <a:pt x="85725" y="0"/>
                  </a:lnTo>
                  <a:lnTo>
                    <a:pt x="200025" y="104775"/>
                  </a:lnTo>
                  <a:lnTo>
                    <a:pt x="85725" y="209550"/>
                  </a:lnTo>
                  <a:lnTo>
                    <a:pt x="85725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  <p:sp>
          <p:nvSpPr>
            <p:cNvPr id="72" name="Freeform 72"/>
            <p:cNvSpPr/>
            <p:nvPr/>
          </p:nvSpPr>
          <p:spPr>
            <a:xfrm>
              <a:off x="8153400" y="3781425"/>
              <a:ext cx="200025" cy="209550"/>
            </a:xfrm>
            <a:custGeom>
              <a:avLst/>
              <a:gdLst/>
              <a:ahLst/>
              <a:cxnLst/>
              <a:rect l="l" t="t" r="r" b="b"/>
              <a:pathLst>
                <a:path w="200025" h="209550">
                  <a:moveTo>
                    <a:pt x="0" y="66675"/>
                  </a:moveTo>
                  <a:lnTo>
                    <a:pt x="85725" y="66675"/>
                  </a:lnTo>
                  <a:lnTo>
                    <a:pt x="85725" y="0"/>
                  </a:lnTo>
                  <a:lnTo>
                    <a:pt x="200025" y="104775"/>
                  </a:lnTo>
                  <a:lnTo>
                    <a:pt x="85725" y="209550"/>
                  </a:lnTo>
                  <a:lnTo>
                    <a:pt x="85725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8C9AA9"/>
            </a:solidFill>
            <a:ln>
              <a:noFill/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533400" y="4648200"/>
            <a:ext cx="5467350" cy="1562100"/>
            <a:chOff x="533400" y="4648200"/>
            <a:chExt cx="5467350" cy="1562100"/>
          </a:xfrm>
        </p:grpSpPr>
        <p:sp>
          <p:nvSpPr>
            <p:cNvPr id="74" name="Rectangle 74"/>
            <p:cNvSpPr/>
            <p:nvPr/>
          </p:nvSpPr>
          <p:spPr>
            <a:xfrm>
              <a:off x="533400" y="4648200"/>
              <a:ext cx="5467350" cy="1562100"/>
            </a:xfrm>
            <a:prstGeom prst="roundRect">
              <a:avLst>
                <a:gd name="adj" fmla="val 6098"/>
              </a:avLst>
            </a:prstGeom>
            <a:solidFill>
              <a:srgbClr val="FFFFFF"/>
            </a:solidFill>
            <a:ln w="14288">
              <a:solidFill>
                <a:srgbClr val="C00000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84860" y="4842510"/>
              <a:ext cx="3390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点状吸收（红色四块，均有优先级与工作量）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87241" y="5167551"/>
              <a:ext cx="48525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P0</a:t>
              </a:r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 xml:space="preserve"> 元认知校验增强——2–3 天；幻觉用例（伪行号 / 伪代码 / 伪结论）须全部拦截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87241" y="5434251"/>
              <a:ext cx="3988463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P1</a:t>
              </a:r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 xml:space="preserve"> 分诊领域化路由——2–3 天；内存安全 / 实时资源两类专业提示词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87241" y="5700951"/>
              <a:ext cx="252353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P2</a:t>
              </a:r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 xml:space="preserve"> 人工复核反馈回写——需先积累标注数据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87241" y="5967651"/>
              <a:ext cx="3198614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P2</a:t>
              </a:r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 xml:space="preserve"> 大小模型分工——需真实端点使用数据支撑成本评估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6229350" y="4648200"/>
            <a:ext cx="5429250" cy="1562100"/>
            <a:chOff x="6229350" y="4648200"/>
            <a:chExt cx="5429250" cy="1562100"/>
          </a:xfrm>
        </p:grpSpPr>
        <p:sp>
          <p:nvSpPr>
            <p:cNvPr id="81" name="Rectangle 81"/>
            <p:cNvSpPr/>
            <p:nvPr/>
          </p:nvSpPr>
          <p:spPr>
            <a:xfrm>
              <a:off x="6229350" y="4648200"/>
              <a:ext cx="5429250" cy="1562100"/>
            </a:xfrm>
            <a:prstGeom prst="roundRect">
              <a:avLst>
                <a:gd name="adj" fmla="val 6098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480810" y="4842510"/>
              <a:ext cx="28868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评估后不采纳（维持现状，理由明确）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483191" y="5167551"/>
              <a:ext cx="3549658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双服务架构重写</a:t>
              </a:r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——引入框架破坏零依赖原则；推理分离已由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483191" y="5377101"/>
              <a:ext cx="2503277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指向 vLLM / Ollama 端点实现，代价更小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483191" y="5700951"/>
              <a:ext cx="3549658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ReAct 循环核查寄存器访问</a:t>
              </a:r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——SVD 确定性解析已完整覆盖，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483191" y="5910501"/>
              <a:ext cx="2321004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硬件语义高风险域不交给模型反复试探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522922" y="6578441"/>
            <a:ext cx="11146155" cy="167640"/>
            <a:chOff x="522922" y="6578441"/>
            <a:chExt cx="11146155" cy="167640"/>
          </a:xfrm>
        </p:grpSpPr>
        <p:sp>
          <p:nvSpPr>
            <p:cNvPr id="88" name="TextBox 88"/>
            <p:cNvSpPr txBox="1"/>
            <p:nvPr/>
          </p:nvSpPr>
          <p:spPr>
            <a:xfrm>
              <a:off x="522922" y="6578441"/>
              <a:ext cx="717734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图例：</a:t>
              </a:r>
              <a:r>
                <a:rPr lang="zh-CN" sz="825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实线蓝 = 现状已有</a:t>
              </a:r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825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红虚线 = 目标新增</a:t>
              </a:r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；评判依据：外部建议书 10 要点逐条比对（现状文档第 5 章，2 项达成 / 6 项部分达成 / 2 项不采纳）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27107" y="6578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48" grpId="0"/>
      <p:bldP spid="73" grpId="0"/>
      <p:bldP spid="80" grpId="0"/>
      <p:bldP spid="8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33400" y="495300"/>
            <a:ext cx="11135677" cy="671512"/>
            <a:chOff x="533400" y="495300"/>
            <a:chExt cx="11135677" cy="671512"/>
          </a:xfrm>
        </p:grpSpPr>
        <p:sp>
          <p:nvSpPr>
            <p:cNvPr id="3" name="Rectangle 3"/>
            <p:cNvSpPr/>
            <p:nvPr/>
          </p:nvSpPr>
          <p:spPr>
            <a:xfrm rot="2700000">
              <a:off x="552450" y="495300"/>
              <a:ext cx="161925" cy="161925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 rot="2700000">
              <a:off x="704850" y="590550"/>
              <a:ext cx="95250" cy="952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9168" y="523399"/>
              <a:ext cx="12404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PART 3 · 实现 · 小结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2975" y="709612"/>
              <a:ext cx="626342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实现小结：已完成的全链路 vs 待补充的清单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38821" y="539591"/>
              <a:ext cx="24302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ecdet · 嵌入式软件代码缺陷与安全漏洞检测系统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104900"/>
              <a:ext cx="11125200" cy="14288"/>
            </a:xfrm>
            <a:prstGeom prst="rect">
              <a:avLst/>
            </a:prstGeom>
            <a:solidFill>
              <a:srgbClr val="D8E0E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085850"/>
              <a:ext cx="1333500" cy="38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4350" y="1323975"/>
            <a:ext cx="7659052" cy="304800"/>
            <a:chOff x="514350" y="1323975"/>
            <a:chExt cx="7659052" cy="304800"/>
          </a:xfrm>
        </p:grpSpPr>
        <p:sp>
          <p:nvSpPr>
            <p:cNvPr id="11" name="TextBox 11"/>
            <p:cNvSpPr txBox="1"/>
            <p:nvPr/>
          </p:nvSpPr>
          <p:spPr>
            <a:xfrm>
              <a:off x="514350" y="1323975"/>
              <a:ext cx="76590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现状一句话：</a:t>
              </a:r>
              <a:r>
                <a:rPr lang="zh-CN" sz="1500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骨架完整、工程扎实、单点深度有限</a:t>
              </a:r>
              <a:r>
                <a:rPr lang="zh-CN" sz="15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——</a:t>
              </a:r>
              <a:r>
                <a:rPr lang="zh-CN" sz="15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每个红项都有优先级与工作量估计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33400" y="1676400"/>
            <a:ext cx="2638425" cy="3848100"/>
            <a:chOff x="533400" y="1676400"/>
            <a:chExt cx="2638425" cy="3848100"/>
          </a:xfrm>
        </p:grpSpPr>
        <p:sp>
          <p:nvSpPr>
            <p:cNvPr id="13" name="Rectangle 13"/>
            <p:cNvSpPr/>
            <p:nvPr/>
          </p:nvSpPr>
          <p:spPr>
            <a:xfrm>
              <a:off x="533400" y="1676400"/>
              <a:ext cx="2638425" cy="3848100"/>
            </a:xfrm>
            <a:prstGeom prst="roundRect">
              <a:avLst>
                <a:gd name="adj" fmla="val 3610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33400" y="1676400"/>
              <a:ext cx="2638425" cy="628650"/>
            </a:xfrm>
            <a:custGeom>
              <a:avLst/>
              <a:gdLst/>
              <a:ahLst/>
              <a:cxnLst/>
              <a:rect l="l" t="t" r="r" b="b"/>
              <a:pathLst>
                <a:path w="2638425" h="628650">
                  <a:moveTo>
                    <a:pt x="95250" y="0"/>
                  </a:moveTo>
                  <a:lnTo>
                    <a:pt x="2543175" y="0"/>
                  </a:lnTo>
                  <a:cubicBezTo>
                    <a:pt x="2595780" y="0"/>
                    <a:pt x="2638425" y="42645"/>
                    <a:pt x="2638425" y="95250"/>
                  </a:cubicBezTo>
                  <a:lnTo>
                    <a:pt x="2638425" y="628650"/>
                  </a:lnTo>
                  <a:lnTo>
                    <a:pt x="0" y="628650"/>
                  </a:ln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AF1F8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76288" y="1828800"/>
              <a:ext cx="200025" cy="228600"/>
              <a:chOff x="776288" y="1828800"/>
              <a:chExt cx="200025" cy="2286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76288" y="1828800"/>
                <a:ext cx="2000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14300">
                    <a:moveTo>
                      <a:pt x="0" y="71438"/>
                    </a:moveTo>
                    <a:lnTo>
                      <a:pt x="0" y="42862"/>
                    </a:lnTo>
                    <a:lnTo>
                      <a:pt x="100012" y="0"/>
                    </a:lnTo>
                    <a:lnTo>
                      <a:pt x="200025" y="42862"/>
                    </a:lnTo>
                    <a:lnTo>
                      <a:pt x="200025" y="71438"/>
                    </a:lnTo>
                    <a:lnTo>
                      <a:pt x="100012" y="114300"/>
                    </a:lnTo>
                    <a:lnTo>
                      <a:pt x="0" y="71438"/>
                    </a:lnTo>
                    <a:close/>
                  </a:path>
                </a:pathLst>
              </a:custGeom>
              <a:solidFill>
                <a:srgbClr val="17375E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76288" y="1985962"/>
                <a:ext cx="20002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71438">
                    <a:moveTo>
                      <a:pt x="100012" y="71438"/>
                    </a:moveTo>
                    <a:lnTo>
                      <a:pt x="0" y="28575"/>
                    </a:lnTo>
                    <a:lnTo>
                      <a:pt x="0" y="0"/>
                    </a:lnTo>
                    <a:lnTo>
                      <a:pt x="100012" y="42862"/>
                    </a:lnTo>
                    <a:lnTo>
                      <a:pt x="200025" y="0"/>
                    </a:lnTo>
                    <a:lnTo>
                      <a:pt x="200025" y="28575"/>
                    </a:lnTo>
                    <a:lnTo>
                      <a:pt x="100012" y="71438"/>
                    </a:lnTo>
                    <a:close/>
                  </a:path>
                </a:pathLst>
              </a:custGeom>
              <a:solidFill>
                <a:srgbClr val="17375E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76288" y="1928812"/>
                <a:ext cx="20002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71438">
                    <a:moveTo>
                      <a:pt x="0" y="28575"/>
                    </a:moveTo>
                    <a:lnTo>
                      <a:pt x="100012" y="71438"/>
                    </a:lnTo>
                    <a:lnTo>
                      <a:pt x="200025" y="28575"/>
                    </a:lnTo>
                    <a:lnTo>
                      <a:pt x="200025" y="0"/>
                    </a:lnTo>
                    <a:lnTo>
                      <a:pt x="100012" y="42862"/>
                    </a:lnTo>
                    <a:lnTo>
                      <a:pt x="0" y="0"/>
                    </a:lnTo>
                    <a:lnTo>
                      <a:pt x="0" y="28575"/>
                    </a:lnTo>
                    <a:close/>
                  </a:path>
                </a:pathLst>
              </a:custGeom>
              <a:solidFill>
                <a:srgbClr val="17375E"/>
              </a:solidFill>
              <a:ln>
                <a:noFill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89184" y="1866662"/>
              <a:ext cx="897791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38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检测流水线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1050" y="2495550"/>
              <a:ext cx="76200" cy="762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9641" y="2471976"/>
              <a:ext cx="1578412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五层全链路贯通（L1–L5）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1050" y="2857500"/>
              <a:ext cx="76200" cy="762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39641" y="2833926"/>
              <a:ext cx="1605415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30 条规则 + 硬件语义 4 条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81050" y="3219450"/>
              <a:ext cx="76200" cy="762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9641" y="3195876"/>
              <a:ext cx="153115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抽象解释 → 三级可证明性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81050" y="3581400"/>
              <a:ext cx="76200" cy="762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39641" y="3557826"/>
              <a:ext cx="1909203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动态通道：harness 闭环 + PoC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81050" y="3943350"/>
              <a:ext cx="76200" cy="762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39641" y="3919776"/>
              <a:ext cx="153115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增量分析 + 告警基线差分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81050" y="4305300"/>
              <a:ext cx="76200" cy="762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39641" y="4281726"/>
              <a:ext cx="169317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自建数据集六步管线 + GHSA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23900" y="4857750"/>
              <a:ext cx="2257425" cy="457200"/>
            </a:xfrm>
            <a:prstGeom prst="roundRect">
              <a:avLst>
                <a:gd name="adj" fmla="val 125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207740" y="5023247"/>
              <a:ext cx="128022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对应问题域 P1–P4 · P7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362325" y="1676400"/>
            <a:ext cx="2638425" cy="3848100"/>
            <a:chOff x="3362325" y="1676400"/>
            <a:chExt cx="2638425" cy="3848100"/>
          </a:xfrm>
        </p:grpSpPr>
        <p:sp>
          <p:nvSpPr>
            <p:cNvPr id="35" name="Rectangle 35"/>
            <p:cNvSpPr/>
            <p:nvPr/>
          </p:nvSpPr>
          <p:spPr>
            <a:xfrm>
              <a:off x="3362325" y="1676400"/>
              <a:ext cx="2638425" cy="3848100"/>
            </a:xfrm>
            <a:prstGeom prst="roundRect">
              <a:avLst>
                <a:gd name="adj" fmla="val 3610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3362325" y="1676400"/>
              <a:ext cx="2638425" cy="628650"/>
            </a:xfrm>
            <a:custGeom>
              <a:avLst/>
              <a:gdLst/>
              <a:ahLst/>
              <a:cxnLst/>
              <a:rect l="l" t="t" r="r" b="b"/>
              <a:pathLst>
                <a:path w="2638425" h="628650">
                  <a:moveTo>
                    <a:pt x="95250" y="0"/>
                  </a:moveTo>
                  <a:lnTo>
                    <a:pt x="2543175" y="0"/>
                  </a:lnTo>
                  <a:cubicBezTo>
                    <a:pt x="2595780" y="0"/>
                    <a:pt x="2638425" y="42645"/>
                    <a:pt x="2638425" y="95250"/>
                  </a:cubicBezTo>
                  <a:lnTo>
                    <a:pt x="2638425" y="628650"/>
                  </a:lnTo>
                  <a:lnTo>
                    <a:pt x="0" y="628650"/>
                  </a:ln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AF1F8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3590925" y="1828800"/>
              <a:ext cx="228600" cy="214312"/>
            </a:xfrm>
            <a:custGeom>
              <a:avLst/>
              <a:gdLst/>
              <a:ahLst/>
              <a:cxnLst/>
              <a:rect l="l" t="t" r="r" b="b"/>
              <a:pathLst>
                <a:path w="228600" h="214312">
                  <a:moveTo>
                    <a:pt x="128588" y="0"/>
                  </a:moveTo>
                  <a:lnTo>
                    <a:pt x="128588" y="28575"/>
                  </a:lnTo>
                  <a:lnTo>
                    <a:pt x="185738" y="28575"/>
                  </a:lnTo>
                  <a:lnTo>
                    <a:pt x="228600" y="121444"/>
                  </a:lnTo>
                  <a:lnTo>
                    <a:pt x="185738" y="214312"/>
                  </a:lnTo>
                  <a:lnTo>
                    <a:pt x="42862" y="214312"/>
                  </a:lnTo>
                  <a:lnTo>
                    <a:pt x="0" y="121444"/>
                  </a:lnTo>
                  <a:lnTo>
                    <a:pt x="42862" y="28575"/>
                  </a:lnTo>
                  <a:lnTo>
                    <a:pt x="100012" y="28575"/>
                  </a:lnTo>
                  <a:lnTo>
                    <a:pt x="100012" y="0"/>
                  </a:lnTo>
                  <a:lnTo>
                    <a:pt x="128588" y="0"/>
                  </a:lnTo>
                  <a:close/>
                  <a:moveTo>
                    <a:pt x="65693" y="167712"/>
                  </a:moveTo>
                  <a:lnTo>
                    <a:pt x="114300" y="175190"/>
                  </a:lnTo>
                  <a:lnTo>
                    <a:pt x="162908" y="167712"/>
                  </a:lnTo>
                  <a:lnTo>
                    <a:pt x="158561" y="139469"/>
                  </a:lnTo>
                  <a:lnTo>
                    <a:pt x="114300" y="146278"/>
                  </a:lnTo>
                  <a:lnTo>
                    <a:pt x="70038" y="139469"/>
                  </a:lnTo>
                  <a:lnTo>
                    <a:pt x="65693" y="167712"/>
                  </a:lnTo>
                  <a:close/>
                  <a:moveTo>
                    <a:pt x="100012" y="96441"/>
                  </a:moveTo>
                  <a:cubicBezTo>
                    <a:pt x="100012" y="106304"/>
                    <a:pt x="92017" y="114300"/>
                    <a:pt x="82153" y="114300"/>
                  </a:cubicBezTo>
                  <a:cubicBezTo>
                    <a:pt x="72290" y="114300"/>
                    <a:pt x="64294" y="106304"/>
                    <a:pt x="64294" y="96441"/>
                  </a:cubicBezTo>
                  <a:cubicBezTo>
                    <a:pt x="64294" y="86577"/>
                    <a:pt x="72290" y="78581"/>
                    <a:pt x="82153" y="78581"/>
                  </a:cubicBezTo>
                  <a:cubicBezTo>
                    <a:pt x="92017" y="78581"/>
                    <a:pt x="100012" y="86577"/>
                    <a:pt x="100012" y="96441"/>
                  </a:cubicBezTo>
                  <a:close/>
                  <a:moveTo>
                    <a:pt x="146447" y="114300"/>
                  </a:moveTo>
                  <a:cubicBezTo>
                    <a:pt x="156311" y="114300"/>
                    <a:pt x="164306" y="106304"/>
                    <a:pt x="164306" y="96441"/>
                  </a:cubicBezTo>
                  <a:cubicBezTo>
                    <a:pt x="164306" y="86577"/>
                    <a:pt x="156311" y="78581"/>
                    <a:pt x="146447" y="78581"/>
                  </a:cubicBezTo>
                  <a:cubicBezTo>
                    <a:pt x="136583" y="78581"/>
                    <a:pt x="128588" y="86577"/>
                    <a:pt x="128588" y="96441"/>
                  </a:cubicBezTo>
                  <a:cubicBezTo>
                    <a:pt x="128588" y="106304"/>
                    <a:pt x="136583" y="114300"/>
                    <a:pt x="146447" y="114300"/>
                  </a:cubicBez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918109" y="1866662"/>
              <a:ext cx="1071062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38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大模型智能体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3609975" y="2495550"/>
              <a:ext cx="76200" cy="762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768566" y="2471976"/>
              <a:ext cx="1760684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分诊管线：裁剪→首判→A-RAG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3609975" y="2857500"/>
              <a:ext cx="76200" cy="762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768566" y="2833926"/>
              <a:ext cx="1666173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幻觉三道闸 + 证据行号核对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3609975" y="3219450"/>
              <a:ext cx="76200" cy="762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768566" y="3195876"/>
              <a:ext cx="188895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修复 ToolLoopVerify 三道验证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3609975" y="3581400"/>
              <a:ext cx="76200" cy="762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768566" y="3557826"/>
              <a:ext cx="193620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自动修复写入源文件 + 迭代收敛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3609975" y="3943350"/>
              <a:ext cx="76200" cy="762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768566" y="3919776"/>
              <a:ext cx="1801189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六智能体编排 + 人工复核闸门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3609975" y="4305300"/>
              <a:ext cx="76200" cy="762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768566" y="4281726"/>
              <a:ext cx="1875449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Mock 客户端离线可测四条路径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3552825" y="4857750"/>
              <a:ext cx="2257425" cy="457200"/>
            </a:xfrm>
            <a:prstGeom prst="roundRect">
              <a:avLst>
                <a:gd name="adj" fmla="val 125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264819" y="5023247"/>
              <a:ext cx="82391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对应问题域 P5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191250" y="1676400"/>
            <a:ext cx="2638425" cy="3848100"/>
            <a:chOff x="6191250" y="1676400"/>
            <a:chExt cx="2638425" cy="3848100"/>
          </a:xfrm>
        </p:grpSpPr>
        <p:sp>
          <p:nvSpPr>
            <p:cNvPr id="54" name="Rectangle 54"/>
            <p:cNvSpPr/>
            <p:nvPr/>
          </p:nvSpPr>
          <p:spPr>
            <a:xfrm>
              <a:off x="6191250" y="1676400"/>
              <a:ext cx="2638425" cy="3848100"/>
            </a:xfrm>
            <a:prstGeom prst="roundRect">
              <a:avLst>
                <a:gd name="adj" fmla="val 3610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6191250" y="1676400"/>
              <a:ext cx="2638425" cy="628650"/>
            </a:xfrm>
            <a:custGeom>
              <a:avLst/>
              <a:gdLst/>
              <a:ahLst/>
              <a:cxnLst/>
              <a:rect l="l" t="t" r="r" b="b"/>
              <a:pathLst>
                <a:path w="2638425" h="628650">
                  <a:moveTo>
                    <a:pt x="95250" y="0"/>
                  </a:moveTo>
                  <a:lnTo>
                    <a:pt x="2543175" y="0"/>
                  </a:lnTo>
                  <a:cubicBezTo>
                    <a:pt x="2595780" y="0"/>
                    <a:pt x="2638425" y="42645"/>
                    <a:pt x="2638425" y="95250"/>
                  </a:cubicBezTo>
                  <a:lnTo>
                    <a:pt x="2638425" y="628650"/>
                  </a:lnTo>
                  <a:lnTo>
                    <a:pt x="0" y="628650"/>
                  </a:ln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AF1F8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6424448" y="1828800"/>
              <a:ext cx="219404" cy="228600"/>
            </a:xfrm>
            <a:custGeom>
              <a:avLst/>
              <a:gdLst/>
              <a:ahLst/>
              <a:cxnLst/>
              <a:rect l="l" t="t" r="r" b="b"/>
              <a:pathLst>
                <a:path w="219404" h="228600">
                  <a:moveTo>
                    <a:pt x="88271" y="0"/>
                  </a:moveTo>
                  <a:lnTo>
                    <a:pt x="131134" y="0"/>
                  </a:lnTo>
                  <a:lnTo>
                    <a:pt x="139619" y="33940"/>
                  </a:lnTo>
                  <a:cubicBezTo>
                    <a:pt x="148673" y="37312"/>
                    <a:pt x="157004" y="42170"/>
                    <a:pt x="164313" y="48219"/>
                  </a:cubicBezTo>
                  <a:lnTo>
                    <a:pt x="197973" y="38590"/>
                  </a:lnTo>
                  <a:lnTo>
                    <a:pt x="219404" y="75710"/>
                  </a:lnTo>
                  <a:lnTo>
                    <a:pt x="194246" y="100036"/>
                  </a:lnTo>
                  <a:cubicBezTo>
                    <a:pt x="195023" y="104675"/>
                    <a:pt x="195427" y="109440"/>
                    <a:pt x="195427" y="114300"/>
                  </a:cubicBezTo>
                  <a:cubicBezTo>
                    <a:pt x="195427" y="119160"/>
                    <a:pt x="195023" y="123925"/>
                    <a:pt x="194246" y="128564"/>
                  </a:cubicBezTo>
                  <a:lnTo>
                    <a:pt x="219404" y="152891"/>
                  </a:lnTo>
                  <a:lnTo>
                    <a:pt x="197973" y="190009"/>
                  </a:lnTo>
                  <a:lnTo>
                    <a:pt x="164313" y="180381"/>
                  </a:lnTo>
                  <a:cubicBezTo>
                    <a:pt x="157004" y="186429"/>
                    <a:pt x="148673" y="191288"/>
                    <a:pt x="139619" y="194660"/>
                  </a:cubicBezTo>
                  <a:lnTo>
                    <a:pt x="131134" y="228600"/>
                  </a:lnTo>
                  <a:lnTo>
                    <a:pt x="88271" y="228600"/>
                  </a:lnTo>
                  <a:lnTo>
                    <a:pt x="79786" y="194660"/>
                  </a:lnTo>
                  <a:cubicBezTo>
                    <a:pt x="70732" y="191288"/>
                    <a:pt x="62401" y="186429"/>
                    <a:pt x="55091" y="180381"/>
                  </a:cubicBezTo>
                  <a:lnTo>
                    <a:pt x="21431" y="190009"/>
                  </a:lnTo>
                  <a:lnTo>
                    <a:pt x="0" y="152891"/>
                  </a:lnTo>
                  <a:lnTo>
                    <a:pt x="25159" y="128564"/>
                  </a:lnTo>
                  <a:cubicBezTo>
                    <a:pt x="24382" y="123925"/>
                    <a:pt x="23977" y="119160"/>
                    <a:pt x="23977" y="114300"/>
                  </a:cubicBezTo>
                  <a:cubicBezTo>
                    <a:pt x="23977" y="109440"/>
                    <a:pt x="24382" y="104675"/>
                    <a:pt x="25159" y="100036"/>
                  </a:cubicBezTo>
                  <a:lnTo>
                    <a:pt x="0" y="75710"/>
                  </a:lnTo>
                  <a:lnTo>
                    <a:pt x="21431" y="38590"/>
                  </a:lnTo>
                  <a:lnTo>
                    <a:pt x="55091" y="48219"/>
                  </a:lnTo>
                  <a:cubicBezTo>
                    <a:pt x="62401" y="42170"/>
                    <a:pt x="70732" y="37312"/>
                    <a:pt x="79786" y="33940"/>
                  </a:cubicBezTo>
                  <a:lnTo>
                    <a:pt x="88271" y="0"/>
                  </a:lnTo>
                  <a:close/>
                  <a:moveTo>
                    <a:pt x="109702" y="142875"/>
                  </a:moveTo>
                  <a:cubicBezTo>
                    <a:pt x="125484" y="142875"/>
                    <a:pt x="138277" y="130082"/>
                    <a:pt x="138277" y="114300"/>
                  </a:cubicBezTo>
                  <a:cubicBezTo>
                    <a:pt x="138277" y="98518"/>
                    <a:pt x="125484" y="85725"/>
                    <a:pt x="109702" y="85725"/>
                  </a:cubicBezTo>
                  <a:cubicBezTo>
                    <a:pt x="93921" y="85725"/>
                    <a:pt x="81127" y="98518"/>
                    <a:pt x="81127" y="114300"/>
                  </a:cubicBezTo>
                  <a:cubicBezTo>
                    <a:pt x="81127" y="130082"/>
                    <a:pt x="93921" y="142875"/>
                    <a:pt x="109702" y="142875"/>
                  </a:cubicBez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47034" y="1866662"/>
              <a:ext cx="897791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38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工程化外围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438900" y="2495550"/>
              <a:ext cx="76200" cy="762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97491" y="2471976"/>
              <a:ext cx="1666173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16 个测试文件 187 项全通过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438900" y="2857500"/>
              <a:ext cx="76200" cy="762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97491" y="2833926"/>
              <a:ext cx="164592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七配置消融评测框架可复现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438900" y="3219450"/>
              <a:ext cx="76200" cy="762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97491" y="3195876"/>
              <a:ext cx="1659422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Juliet 基准评测管线已打通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438900" y="3581400"/>
              <a:ext cx="76200" cy="762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597491" y="3557826"/>
              <a:ext cx="209147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Docker 容器化（内置 cppcheck）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438900" y="3943350"/>
              <a:ext cx="76200" cy="762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597491" y="3919776"/>
              <a:ext cx="196996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Web 控制台 v1.2：七页两轮迭代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438900" y="4305300"/>
              <a:ext cx="76200" cy="762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597491" y="4281726"/>
              <a:ext cx="153115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13 个版本节点全程可回溯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381750" y="4857750"/>
              <a:ext cx="2257425" cy="457200"/>
            </a:xfrm>
            <a:prstGeom prst="roundRect">
              <a:avLst>
                <a:gd name="adj" fmla="val 125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771829" y="5023247"/>
              <a:ext cx="146774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对应问题域 P6 + 交付工程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9020175" y="1676400"/>
            <a:ext cx="2638425" cy="3848100"/>
            <a:chOff x="9020175" y="1676400"/>
            <a:chExt cx="2638425" cy="3848100"/>
          </a:xfrm>
        </p:grpSpPr>
        <p:sp>
          <p:nvSpPr>
            <p:cNvPr id="73" name="Rectangle 73"/>
            <p:cNvSpPr/>
            <p:nvPr/>
          </p:nvSpPr>
          <p:spPr>
            <a:xfrm>
              <a:off x="9020175" y="1676400"/>
              <a:ext cx="2638425" cy="3848100"/>
            </a:xfrm>
            <a:prstGeom prst="roundRect">
              <a:avLst>
                <a:gd name="adj" fmla="val 3610"/>
              </a:avLst>
            </a:prstGeom>
            <a:solidFill>
              <a:srgbClr val="FFFFFF"/>
            </a:solidFill>
            <a:ln w="17145">
              <a:solidFill>
                <a:srgbClr val="C00000"/>
              </a:solidFill>
              <a:custDash>
                <a:ds d="388888" sp="222222"/>
              </a:custDash>
            </a:ln>
          </p:spPr>
        </p:sp>
        <p:sp>
          <p:nvSpPr>
            <p:cNvPr id="74" name="Freeform 74"/>
            <p:cNvSpPr/>
            <p:nvPr/>
          </p:nvSpPr>
          <p:spPr>
            <a:xfrm>
              <a:off x="9020175" y="1676400"/>
              <a:ext cx="2638425" cy="628650"/>
            </a:xfrm>
            <a:custGeom>
              <a:avLst/>
              <a:gdLst/>
              <a:ahLst/>
              <a:cxnLst/>
              <a:rect l="l" t="t" r="r" b="b"/>
              <a:pathLst>
                <a:path w="2638425" h="628650">
                  <a:moveTo>
                    <a:pt x="95250" y="0"/>
                  </a:moveTo>
                  <a:lnTo>
                    <a:pt x="2543175" y="0"/>
                  </a:lnTo>
                  <a:cubicBezTo>
                    <a:pt x="2595780" y="0"/>
                    <a:pt x="2638425" y="42645"/>
                    <a:pt x="2638425" y="95250"/>
                  </a:cubicBezTo>
                  <a:lnTo>
                    <a:pt x="2638425" y="628650"/>
                  </a:lnTo>
                  <a:lnTo>
                    <a:pt x="0" y="628650"/>
                  </a:ln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BEDED"/>
            </a:solidFill>
            <a:ln>
              <a:noFill/>
            </a:ln>
          </p:spPr>
        </p:sp>
        <p:sp>
          <p:nvSpPr>
            <p:cNvPr id="75" name="Freeform 75"/>
            <p:cNvSpPr/>
            <p:nvPr/>
          </p:nvSpPr>
          <p:spPr>
            <a:xfrm>
              <a:off x="9248775" y="1828800"/>
              <a:ext cx="228600" cy="214312"/>
            </a:xfrm>
            <a:custGeom>
              <a:avLst/>
              <a:gdLst/>
              <a:ahLst/>
              <a:cxnLst/>
              <a:rect l="l" t="t" r="r" b="b"/>
              <a:pathLst>
                <a:path w="228600" h="214312">
                  <a:moveTo>
                    <a:pt x="228600" y="214312"/>
                  </a:moveTo>
                  <a:lnTo>
                    <a:pt x="0" y="214312"/>
                  </a:lnTo>
                  <a:lnTo>
                    <a:pt x="0" y="171450"/>
                  </a:lnTo>
                  <a:lnTo>
                    <a:pt x="100012" y="0"/>
                  </a:lnTo>
                  <a:lnTo>
                    <a:pt x="128588" y="0"/>
                  </a:lnTo>
                  <a:lnTo>
                    <a:pt x="228600" y="171450"/>
                  </a:lnTo>
                  <a:lnTo>
                    <a:pt x="228600" y="214312"/>
                  </a:lnTo>
                  <a:close/>
                  <a:moveTo>
                    <a:pt x="100012" y="57150"/>
                  </a:moveTo>
                  <a:lnTo>
                    <a:pt x="128588" y="57150"/>
                  </a:lnTo>
                  <a:lnTo>
                    <a:pt x="128588" y="128588"/>
                  </a:lnTo>
                  <a:lnTo>
                    <a:pt x="100012" y="128588"/>
                  </a:lnTo>
                  <a:lnTo>
                    <a:pt x="100012" y="57150"/>
                  </a:lnTo>
                  <a:close/>
                  <a:moveTo>
                    <a:pt x="100012" y="157162"/>
                  </a:moveTo>
                  <a:lnTo>
                    <a:pt x="128588" y="157162"/>
                  </a:lnTo>
                  <a:lnTo>
                    <a:pt x="128588" y="185738"/>
                  </a:lnTo>
                  <a:lnTo>
                    <a:pt x="100012" y="185738"/>
                  </a:lnTo>
                  <a:lnTo>
                    <a:pt x="100012" y="157162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575959" y="1866662"/>
              <a:ext cx="1790140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38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待补充（红 = 未完成）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9267825" y="245745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426416" y="2433876"/>
              <a:ext cx="1902452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misra.py 基线接入（P0·1 天）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9267825" y="27813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9426416" y="2757726"/>
              <a:ext cx="1861947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元认知校验增强（P0·2–3 天）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9267825" y="310515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9426416" y="3081576"/>
              <a:ext cx="169317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链接脚本解析（P1·3–5 天）</a:t>
              </a:r>
            </a:p>
          </p:txBody>
        </p:sp>
        <p:sp>
          <p:nvSpPr>
            <p:cNvPr id="83" name="Ellipse 83"/>
            <p:cNvSpPr/>
            <p:nvPr/>
          </p:nvSpPr>
          <p:spPr>
            <a:xfrm>
              <a:off x="9267825" y="34290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9426416" y="3405426"/>
              <a:ext cx="1510903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编译配置注入（P1·1 天）</a:t>
              </a:r>
            </a:p>
          </p:txBody>
        </p:sp>
        <p:sp>
          <p:nvSpPr>
            <p:cNvPr id="85" name="Ellipse 85"/>
            <p:cNvSpPr/>
            <p:nvPr/>
          </p:nvSpPr>
          <p:spPr>
            <a:xfrm>
              <a:off x="9267825" y="375285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9426416" y="3729276"/>
              <a:ext cx="153115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领域路由 + CI 门控（P1）</a:t>
              </a:r>
            </a:p>
          </p:txBody>
        </p:sp>
        <p:sp>
          <p:nvSpPr>
            <p:cNvPr id="87" name="Ellipse 87"/>
            <p:cNvSpPr/>
            <p:nvPr/>
          </p:nvSpPr>
          <p:spPr>
            <a:xfrm>
              <a:off x="9267825" y="40767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9426416" y="4053126"/>
              <a:ext cx="1659422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跨函数数据流（P1·1–2 周）</a:t>
              </a:r>
            </a:p>
          </p:txBody>
        </p:sp>
        <p:sp>
          <p:nvSpPr>
            <p:cNvPr id="89" name="Ellipse 89"/>
            <p:cNvSpPr/>
            <p:nvPr/>
          </p:nvSpPr>
          <p:spPr>
            <a:xfrm>
              <a:off x="9267825" y="440055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9426416" y="4376976"/>
              <a:ext cx="181469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仿真档接入 + 反馈回写（P2）</a:t>
              </a:r>
            </a:p>
          </p:txBody>
        </p:sp>
        <p:sp>
          <p:nvSpPr>
            <p:cNvPr id="91" name="Ellipse 91"/>
            <p:cNvSpPr/>
            <p:nvPr/>
          </p:nvSpPr>
          <p:spPr>
            <a:xfrm>
              <a:off x="9267825" y="4724400"/>
              <a:ext cx="76200" cy="762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9426416" y="4700826"/>
              <a:ext cx="181469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Juliet 全量成稿 / Toyota ITC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9210675" y="5048250"/>
              <a:ext cx="2257425" cy="266700"/>
            </a:xfrm>
            <a:prstGeom prst="roundRect">
              <a:avLst>
                <a:gd name="adj" fmla="val 21429"/>
              </a:avLst>
            </a:prstGeom>
            <a:solidFill>
              <a:srgbClr val="FBEDED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9582102" y="5132070"/>
              <a:ext cx="15050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排期见第 25 页 P0 / P1 / P2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533400" y="5715000"/>
            <a:ext cx="11125200" cy="495300"/>
            <a:chOff x="533400" y="5715000"/>
            <a:chExt cx="11125200" cy="495300"/>
          </a:xfrm>
        </p:grpSpPr>
        <p:sp>
          <p:nvSpPr>
            <p:cNvPr id="96" name="Rectangle 96"/>
            <p:cNvSpPr/>
            <p:nvPr/>
          </p:nvSpPr>
          <p:spPr>
            <a:xfrm>
              <a:off x="533400" y="5715000"/>
              <a:ext cx="11125200" cy="495300"/>
            </a:xfrm>
            <a:prstGeom prst="roundRect">
              <a:avLst>
                <a:gd name="adj" fmla="val 15385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533400" y="5715000"/>
              <a:ext cx="47625" cy="495300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823436" y="5903833"/>
              <a:ext cx="8106037" cy="236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2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方法提炼③</a:t>
              </a:r>
              <a:r>
                <a:rPr lang="zh-CN" sz="116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 xml:space="preserve"> 立项时画</a:t>
              </a:r>
              <a:r>
                <a:rPr lang="zh-CN" sz="1162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「复用 / 自研」地图</a:t>
              </a:r>
              <a:r>
                <a:rPr lang="zh-CN" sz="116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，验收时对着</a:t>
              </a:r>
              <a:r>
                <a:rPr lang="zh-CN" sz="1162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「待办」清单讲差距</a:t>
              </a:r>
              <a:r>
                <a:rPr lang="zh-CN" sz="116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——每条红项都能指回调研依据与验收标准。</a:t>
              </a:r>
            </a:p>
          </p:txBody>
        </p:sp>
      </p:grpSp>
      <p:sp>
        <p:nvSpPr>
          <p:cNvPr id="100" name="TextBox 100"/>
          <p:cNvSpPr txBox="1"/>
          <p:nvPr/>
        </p:nvSpPr>
        <p:spPr>
          <a:xfrm>
            <a:off x="11554611" y="6578441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C9AA9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4" grpId="0"/>
      <p:bldP spid="53" grpId="0"/>
      <p:bldP spid="72" grpId="0"/>
      <p:bldP spid="95" grpId="0"/>
      <p:bldP spid="9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33400" y="495300"/>
            <a:ext cx="11135677" cy="671512"/>
            <a:chOff x="533400" y="495300"/>
            <a:chExt cx="11135677" cy="671512"/>
          </a:xfrm>
        </p:grpSpPr>
        <p:sp>
          <p:nvSpPr>
            <p:cNvPr id="3" name="Rectangle 3"/>
            <p:cNvSpPr/>
            <p:nvPr/>
          </p:nvSpPr>
          <p:spPr>
            <a:xfrm rot="2700000">
              <a:off x="552450" y="495300"/>
              <a:ext cx="161925" cy="161925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 rot="2700000">
              <a:off x="704850" y="590550"/>
              <a:ext cx="95250" cy="952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9168" y="523399"/>
              <a:ext cx="16304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PART 3 · 实现 · 质量与评测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2975" y="709612"/>
              <a:ext cx="631068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质量现状：187 项测试 + 消融实验验证净贡献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38821" y="539591"/>
              <a:ext cx="24302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ecdet · 嵌入式软件代码缺陷与安全漏洞检测系统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104900"/>
              <a:ext cx="11125200" cy="14288"/>
            </a:xfrm>
            <a:prstGeom prst="rect">
              <a:avLst/>
            </a:prstGeom>
            <a:solidFill>
              <a:srgbClr val="D8E0E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085850"/>
              <a:ext cx="1333500" cy="38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4350" y="1323975"/>
            <a:ext cx="6458902" cy="304800"/>
            <a:chOff x="514350" y="1323975"/>
            <a:chExt cx="6458902" cy="304800"/>
          </a:xfrm>
        </p:grpSpPr>
        <p:sp>
          <p:nvSpPr>
            <p:cNvPr id="11" name="TextBox 11"/>
            <p:cNvSpPr txBox="1"/>
            <p:nvPr/>
          </p:nvSpPr>
          <p:spPr>
            <a:xfrm>
              <a:off x="514350" y="1323975"/>
              <a:ext cx="64589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每个子系统都要回答</a:t>
              </a:r>
              <a:r>
                <a:rPr lang="zh-CN" sz="1500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「拿掉你会怎样」</a:t>
              </a:r>
              <a:r>
                <a:rPr lang="zh-CN" sz="15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——七配置消融在示例语料上可复现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49249" y="1676400"/>
            <a:ext cx="6008751" cy="4001691"/>
            <a:chOff x="849249" y="1676400"/>
            <a:chExt cx="6008751" cy="4001691"/>
          </a:xfrm>
        </p:grpSpPr>
        <p:sp>
          <p:nvSpPr>
            <p:cNvPr id="13" name="Line 13"/>
            <p:cNvSpPr/>
            <p:nvPr/>
          </p:nvSpPr>
          <p:spPr>
            <a:xfrm>
              <a:off x="1143000" y="2095500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dash"/>
            </a:ln>
          </p:spPr>
        </p:sp>
        <p:sp>
          <p:nvSpPr>
            <p:cNvPr id="14" name="Line 14"/>
            <p:cNvSpPr/>
            <p:nvPr/>
          </p:nvSpPr>
          <p:spPr>
            <a:xfrm>
              <a:off x="1143000" y="2905125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dash"/>
            </a:ln>
          </p:spPr>
        </p:sp>
        <p:sp>
          <p:nvSpPr>
            <p:cNvPr id="15" name="Line 15"/>
            <p:cNvSpPr/>
            <p:nvPr/>
          </p:nvSpPr>
          <p:spPr>
            <a:xfrm>
              <a:off x="1143000" y="3714750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dash"/>
            </a:ln>
          </p:spPr>
        </p:sp>
        <p:sp>
          <p:nvSpPr>
            <p:cNvPr id="16" name="Line 16"/>
            <p:cNvSpPr/>
            <p:nvPr/>
          </p:nvSpPr>
          <p:spPr>
            <a:xfrm>
              <a:off x="1143000" y="4524375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dash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51262" y="5284470"/>
              <a:ext cx="888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85254" y="44748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25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5254" y="3665220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50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5254" y="285559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75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9249" y="2045970"/>
              <a:ext cx="1908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100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1143000" y="209550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143000" y="5334000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276350" y="2095500"/>
              <a:ext cx="419100" cy="3238500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386259" y="1903095"/>
              <a:ext cx="1992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100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733550" y="2095500"/>
              <a:ext cx="419100" cy="32385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843459" y="1903095"/>
              <a:ext cx="1992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100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60636" y="5472351"/>
              <a:ext cx="507728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2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A0 完整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419350" y="3714750"/>
              <a:ext cx="419100" cy="1619250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548161" y="3522345"/>
              <a:ext cx="161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50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876550" y="2095500"/>
              <a:ext cx="419100" cy="32385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986459" y="1903095"/>
              <a:ext cx="1992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100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561106" y="5472351"/>
              <a:ext cx="592788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2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A1 去LLM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562350" y="2095500"/>
              <a:ext cx="419100" cy="3238500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672259" y="1903095"/>
              <a:ext cx="1992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100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019550" y="3714750"/>
              <a:ext cx="419100" cy="16192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148361" y="3522345"/>
              <a:ext cx="1614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50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533985" y="5472351"/>
              <a:ext cx="93303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2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A2 去硬件语义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705350" y="2095500"/>
              <a:ext cx="419100" cy="3238500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815259" y="1903095"/>
              <a:ext cx="1992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100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162550" y="3171825"/>
              <a:ext cx="419100" cy="216217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22053" y="2979420"/>
              <a:ext cx="3000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66.7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818752" y="5472351"/>
              <a:ext cx="649495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2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A5 去动态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848350" y="2095500"/>
              <a:ext cx="419100" cy="3238500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58259" y="1903095"/>
              <a:ext cx="1992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100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305550" y="2095500"/>
              <a:ext cx="419100" cy="32385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15459" y="1903095"/>
              <a:ext cx="1992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100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890868" y="5472351"/>
              <a:ext cx="791263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2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A6 单智能体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143000" y="1676400"/>
              <a:ext cx="133350" cy="133350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340168" y="168544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函数级精确率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381250" y="1676400"/>
              <a:ext cx="133350" cy="1333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578418" y="1685449"/>
              <a:ext cx="1136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函数级召回率（%）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239000" y="1676400"/>
            <a:ext cx="4419600" cy="2381250"/>
            <a:chOff x="7239000" y="1676400"/>
            <a:chExt cx="4419600" cy="2381250"/>
          </a:xfrm>
        </p:grpSpPr>
        <p:sp>
          <p:nvSpPr>
            <p:cNvPr id="54" name="Rectangle 54"/>
            <p:cNvSpPr/>
            <p:nvPr/>
          </p:nvSpPr>
          <p:spPr>
            <a:xfrm>
              <a:off x="7239000" y="1676400"/>
              <a:ext cx="4419600" cy="2381250"/>
            </a:xfrm>
            <a:prstGeom prst="roundRect">
              <a:avLst>
                <a:gd name="adj" fmla="val 4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429500" y="1905000"/>
              <a:ext cx="43815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534275" y="2024062"/>
              <a:ext cx="228600" cy="200025"/>
              <a:chOff x="7534275" y="2024062"/>
              <a:chExt cx="228600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705725" y="2024062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200025">
                    <a:moveTo>
                      <a:pt x="57150" y="0"/>
                    </a:moveTo>
                    <a:lnTo>
                      <a:pt x="0" y="0"/>
                    </a:lnTo>
                    <a:lnTo>
                      <a:pt x="0" y="200025"/>
                    </a:lnTo>
                    <a:lnTo>
                      <a:pt x="57150" y="200025"/>
                    </a:lnTo>
                    <a:lnTo>
                      <a:pt x="57150" y="0"/>
                    </a:lnTo>
                    <a:close/>
                  </a:path>
                </a:pathLst>
              </a:custGeom>
              <a:solidFill>
                <a:srgbClr val="17375E"/>
              </a:solidFill>
              <a:ln>
                <a:noFill/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620000" y="2081212"/>
                <a:ext cx="571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42875">
                    <a:moveTo>
                      <a:pt x="0" y="0"/>
                    </a:moveTo>
                    <a:lnTo>
                      <a:pt x="57150" y="0"/>
                    </a:lnTo>
                    <a:lnTo>
                      <a:pt x="57150" y="142875"/>
                    </a:lnTo>
                    <a:lnTo>
                      <a:pt x="0" y="1428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7375E"/>
              </a:solidFill>
              <a:ln>
                <a:noFill/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534275" y="2138362"/>
                <a:ext cx="571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85725">
                    <a:moveTo>
                      <a:pt x="0" y="0"/>
                    </a:moveTo>
                    <a:lnTo>
                      <a:pt x="57150" y="0"/>
                    </a:lnTo>
                    <a:lnTo>
                      <a:pt x="57150" y="85725"/>
                    </a:lnTo>
                    <a:lnTo>
                      <a:pt x="0" y="857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7375E"/>
              </a:solidFill>
              <a:ln>
                <a:noFill/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8043862" y="199310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自动化测试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41958" y="2186464"/>
              <a:ext cx="122848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187 项全部通过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475119" y="199310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动态贡献率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764229" y="2151698"/>
              <a:ext cx="50003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950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33%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7429500" y="2571750"/>
              <a:ext cx="4038600" cy="9525"/>
            </a:xfrm>
            <a:custGeom>
              <a:avLst/>
              <a:gdLst/>
              <a:ahLst/>
              <a:cxnLst/>
              <a:rect l="l" t="t" r="r" b="b"/>
              <a:pathLst>
                <a:path w="4038600" h="9525">
                  <a:moveTo>
                    <a:pt x="0" y="0"/>
                  </a:moveTo>
                  <a:lnTo>
                    <a:pt x="4038600" y="0"/>
                  </a:lnTo>
                </a:path>
              </a:pathLst>
            </a:custGeom>
            <a:noFill/>
            <a:ln w="9525">
              <a:solidFill>
                <a:srgbClr val="D8E0E9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416165" y="2744152"/>
              <a:ext cx="32540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A1 去 LLM：</a:t>
              </a:r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精确率降至 50%——LLM 过滤 8–10 条误报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416165" y="3029902"/>
              <a:ext cx="29460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A2 去硬件语义：</a:t>
              </a:r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召回降至 50%——P2 建模净贡献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416165" y="3315652"/>
              <a:ext cx="32120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A5 去动态通道：</a:t>
              </a:r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召回降至 66.7%，耗时 62s → 0.2s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416165" y="3601402"/>
              <a:ext cx="28550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A6 单智能体：</a:t>
              </a:r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与 A0 等价——编排为组织学贡献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239000" y="4210050"/>
            <a:ext cx="4419600" cy="1238250"/>
            <a:chOff x="7239000" y="4210050"/>
            <a:chExt cx="4419600" cy="1238250"/>
          </a:xfrm>
        </p:grpSpPr>
        <p:sp>
          <p:nvSpPr>
            <p:cNvPr id="70" name="Rectangle 70"/>
            <p:cNvSpPr/>
            <p:nvPr/>
          </p:nvSpPr>
          <p:spPr>
            <a:xfrm>
              <a:off x="7239000" y="4210050"/>
              <a:ext cx="4419600" cy="1238250"/>
            </a:xfrm>
            <a:prstGeom prst="roundRect">
              <a:avLst>
                <a:gd name="adj" fmla="val 7692"/>
              </a:avLst>
            </a:prstGeom>
            <a:solidFill>
              <a:srgbClr val="FBEDED"/>
            </a:solidFill>
            <a:ln>
              <a:noFill/>
            </a:ln>
          </p:spPr>
        </p:sp>
        <p:sp>
          <p:nvSpPr>
            <p:cNvPr id="71" name="Freeform 71"/>
            <p:cNvSpPr/>
            <p:nvPr/>
          </p:nvSpPr>
          <p:spPr>
            <a:xfrm>
              <a:off x="7467600" y="4438650"/>
              <a:ext cx="209550" cy="196453"/>
            </a:xfrm>
            <a:custGeom>
              <a:avLst/>
              <a:gdLst/>
              <a:ahLst/>
              <a:cxnLst/>
              <a:rect l="l" t="t" r="r" b="b"/>
              <a:pathLst>
                <a:path w="209550" h="196453">
                  <a:moveTo>
                    <a:pt x="209550" y="196453"/>
                  </a:moveTo>
                  <a:lnTo>
                    <a:pt x="0" y="196453"/>
                  </a:lnTo>
                  <a:lnTo>
                    <a:pt x="0" y="157162"/>
                  </a:lnTo>
                  <a:lnTo>
                    <a:pt x="91678" y="0"/>
                  </a:lnTo>
                  <a:lnTo>
                    <a:pt x="117872" y="0"/>
                  </a:lnTo>
                  <a:lnTo>
                    <a:pt x="209550" y="157162"/>
                  </a:lnTo>
                  <a:lnTo>
                    <a:pt x="209550" y="196453"/>
                  </a:lnTo>
                  <a:close/>
                  <a:moveTo>
                    <a:pt x="91678" y="52388"/>
                  </a:moveTo>
                  <a:lnTo>
                    <a:pt x="117872" y="52388"/>
                  </a:lnTo>
                  <a:lnTo>
                    <a:pt x="117872" y="117872"/>
                  </a:lnTo>
                  <a:lnTo>
                    <a:pt x="91678" y="117872"/>
                  </a:lnTo>
                  <a:lnTo>
                    <a:pt x="91678" y="52388"/>
                  </a:lnTo>
                  <a:close/>
                  <a:moveTo>
                    <a:pt x="91678" y="144066"/>
                  </a:moveTo>
                  <a:lnTo>
                    <a:pt x="117872" y="144066"/>
                  </a:lnTo>
                  <a:lnTo>
                    <a:pt x="117872" y="170259"/>
                  </a:lnTo>
                  <a:lnTo>
                    <a:pt x="91678" y="170259"/>
                  </a:lnTo>
                  <a:lnTo>
                    <a:pt x="91678" y="14406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777162" y="4469606"/>
              <a:ext cx="17849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待成稿（红色 = 未完成）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454741" y="4786551"/>
              <a:ext cx="2921829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A3（去 RAG）与 A4（去验证闭环）作用域分别在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454741" y="4996101"/>
              <a:ext cx="3279624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分诊置信度与修复验收率——</a:t>
              </a:r>
              <a:r>
                <a:rPr lang="zh-CN" sz="1012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待真实端点语料补充成稿</a:t>
              </a:r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；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454741" y="5205651"/>
              <a:ext cx="3225617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Juliet 全量基准与 Toyota ITC 成稿同列为数据依赖项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33400" y="5772150"/>
            <a:ext cx="11125200" cy="438150"/>
            <a:chOff x="533400" y="5772150"/>
            <a:chExt cx="11125200" cy="438150"/>
          </a:xfrm>
        </p:grpSpPr>
        <p:sp>
          <p:nvSpPr>
            <p:cNvPr id="77" name="Rectangle 77"/>
            <p:cNvSpPr/>
            <p:nvPr/>
          </p:nvSpPr>
          <p:spPr>
            <a:xfrm>
              <a:off x="533400" y="5772150"/>
              <a:ext cx="11125200" cy="438150"/>
            </a:xfrm>
            <a:prstGeom prst="roundRect">
              <a:avLst>
                <a:gd name="adj" fmla="val 17391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48665" y="5935028"/>
              <a:ext cx="94498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uv run python scripts/run_eval.py</a:t>
              </a:r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 xml:space="preserve"> 七配置消融 + 基线对比（cppcheck / clang-tidy / ESBMC 检测到安装即对比），指标含每千行耗时与动态贡献率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22922" y="6578441"/>
            <a:ext cx="11146155" cy="167640"/>
            <a:chOff x="522922" y="6578441"/>
            <a:chExt cx="11146155" cy="167640"/>
          </a:xfrm>
        </p:grpSpPr>
        <p:sp>
          <p:nvSpPr>
            <p:cNvPr id="80" name="TextBox 80"/>
            <p:cNvSpPr txBox="1"/>
            <p:nvPr/>
          </p:nvSpPr>
          <p:spPr>
            <a:xfrm>
              <a:off x="522922" y="6578441"/>
              <a:ext cx="602770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数据来源：示例语料消融实验（run_eval.py 可复现）；函数级 Precision / Recall 为主口径，结果将回填方案 V1.2 表 3-5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27107" y="6578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53" grpId="0"/>
      <p:bldP spid="69" grpId="0"/>
      <p:bldP spid="76" grpId="0"/>
      <p:bldP spid="7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3F6B"/>
              </a:gs>
              <a:gs pos="100000">
                <a:srgbClr val="122A47"/>
              </a:gs>
            </a:gsLst>
            <a:lin ang="2700000" scaled="1"/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9429750" y="1143000"/>
            <a:ext cx="3810000" cy="6477000"/>
            <a:chOff x="9429750" y="1143000"/>
            <a:chExt cx="3810000" cy="6477000"/>
          </a:xfrm>
        </p:grpSpPr>
        <p:sp>
          <p:nvSpPr>
            <p:cNvPr id="3" name="Ellipse 3"/>
            <p:cNvSpPr/>
            <p:nvPr/>
          </p:nvSpPr>
          <p:spPr>
            <a:xfrm>
              <a:off x="9429750" y="381000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FFFFFF">
                  <a:alpha val="5000"/>
                </a:srgbClr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9944100" y="4324350"/>
              <a:ext cx="2781300" cy="2781300"/>
            </a:xfrm>
            <a:prstGeom prst="ellipse">
              <a:avLst/>
            </a:prstGeom>
            <a:noFill/>
            <a:ln w="9525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5" name="Rectangle 5"/>
            <p:cNvSpPr/>
            <p:nvPr/>
          </p:nvSpPr>
          <p:spPr>
            <a:xfrm rot="2700000">
              <a:off x="10287000" y="1143000"/>
              <a:ext cx="190500" cy="190500"/>
            </a:xfrm>
            <a:prstGeom prst="rect">
              <a:avLst/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 rot="2700000">
              <a:off x="10668000" y="1562100"/>
              <a:ext cx="114300" cy="114300"/>
            </a:xfrm>
            <a:prstGeom prst="rect">
              <a:avLst/>
            </a:prstGeom>
            <a:solidFill>
              <a:srgbClr val="7FB0E0">
                <a:alpha val="35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809625" y="1947862"/>
            <a:ext cx="1480209" cy="1676400"/>
            <a:chOff x="809625" y="1947862"/>
            <a:chExt cx="1480209" cy="1676400"/>
          </a:xfrm>
        </p:grpSpPr>
        <p:sp>
          <p:nvSpPr>
            <p:cNvPr id="8" name="TextBox 8"/>
            <p:cNvSpPr txBox="1"/>
            <p:nvPr/>
          </p:nvSpPr>
          <p:spPr>
            <a:xfrm>
              <a:off x="809625" y="1947862"/>
              <a:ext cx="1480209" cy="1676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14400" y="3295650"/>
            <a:ext cx="7637145" cy="609600"/>
            <a:chOff x="914400" y="3295650"/>
            <a:chExt cx="7637145" cy="609600"/>
          </a:xfrm>
        </p:grpSpPr>
        <p:sp>
          <p:nvSpPr>
            <p:cNvPr id="10" name="TextBox 10"/>
            <p:cNvSpPr txBox="1"/>
            <p:nvPr/>
          </p:nvSpPr>
          <p:spPr>
            <a:xfrm>
              <a:off x="914400" y="3295650"/>
              <a:ext cx="763714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演示与计划：差多少、补什么、何时补齐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52500" y="3886200"/>
              <a:ext cx="6667500" cy="19050"/>
            </a:xfrm>
            <a:prstGeom prst="rect">
              <a:avLst/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935355" y="4197668"/>
            <a:ext cx="5903023" cy="922020"/>
            <a:chOff x="935355" y="4197668"/>
            <a:chExt cx="5903023" cy="922020"/>
          </a:xfrm>
        </p:grpSpPr>
        <p:sp>
          <p:nvSpPr>
            <p:cNvPr id="13" name="TextBox 13"/>
            <p:cNvSpPr txBox="1"/>
            <p:nvPr/>
          </p:nvSpPr>
          <p:spPr>
            <a:xfrm>
              <a:off x="935355" y="4197668"/>
              <a:ext cx="59030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Web 控制台可</a:t>
              </a:r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现场演示全流程</a:t>
              </a:r>
              <a:r>
                <a:rPr lang="zh-CN" sz="135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：注册工程 → 扫描 → 告警复核 → 一键修复；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5355" y="4521518"/>
              <a:ext cx="30856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 xml:space="preserve">未完成项按 </a:t>
              </a:r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P0 / P1 / P2 优先级排期</a:t>
              </a:r>
              <a:r>
                <a:rPr lang="zh-CN" sz="135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5355" y="4845368"/>
              <a:ext cx="43188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以</a:t>
              </a:r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评测数据驱动迭代</a:t>
              </a:r>
              <a:r>
                <a:rPr lang="zh-CN" sz="135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，对齐 2027 年下半年试点部署。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38212" y="6088856"/>
            <a:ext cx="10313671" cy="245269"/>
            <a:chOff x="938212" y="6088856"/>
            <a:chExt cx="10313671" cy="245269"/>
          </a:xfrm>
        </p:grpSpPr>
        <p:sp>
          <p:nvSpPr>
            <p:cNvPr id="17" name="TextBox 17"/>
            <p:cNvSpPr txBox="1"/>
            <p:nvPr/>
          </p:nvSpPr>
          <p:spPr>
            <a:xfrm>
              <a:off x="938212" y="6088856"/>
              <a:ext cx="5011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9C3E2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01 选题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85962" y="6088856"/>
              <a:ext cx="5386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9C3E2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02 立题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33712" y="6088856"/>
              <a:ext cx="5386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9C3E2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03 实现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81462" y="6088856"/>
              <a:ext cx="5641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 计划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095750" y="6305550"/>
              <a:ext cx="495300" cy="28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939957" y="6105049"/>
              <a:ext cx="13119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A9C3E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ecdet · 项目现状汇报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33400" y="495300"/>
            <a:ext cx="11135677" cy="671512"/>
            <a:chOff x="533400" y="495300"/>
            <a:chExt cx="11135677" cy="671512"/>
          </a:xfrm>
        </p:grpSpPr>
        <p:sp>
          <p:nvSpPr>
            <p:cNvPr id="3" name="Rectangle 3"/>
            <p:cNvSpPr/>
            <p:nvPr/>
          </p:nvSpPr>
          <p:spPr>
            <a:xfrm rot="2700000">
              <a:off x="552450" y="495300"/>
              <a:ext cx="161925" cy="161925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 rot="2700000">
              <a:off x="704850" y="590550"/>
              <a:ext cx="95250" cy="952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9168" y="523399"/>
              <a:ext cx="8308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PART 4 · 演示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2975" y="709612"/>
              <a:ext cx="612165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演示：Web 控制台——从注册工程到修复闭环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38821" y="539591"/>
              <a:ext cx="24302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ecdet · 嵌入式软件代码缺陷与安全漏洞检测系统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104900"/>
              <a:ext cx="11125200" cy="14288"/>
            </a:xfrm>
            <a:prstGeom prst="rect">
              <a:avLst/>
            </a:prstGeom>
            <a:solidFill>
              <a:srgbClr val="D8E0E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085850"/>
              <a:ext cx="1333500" cy="38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4350" y="1323975"/>
            <a:ext cx="6898958" cy="304800"/>
            <a:chOff x="514350" y="1323975"/>
            <a:chExt cx="6898958" cy="304800"/>
          </a:xfrm>
        </p:grpSpPr>
        <p:sp>
          <p:nvSpPr>
            <p:cNvPr id="11" name="TextBox 11"/>
            <p:cNvSpPr txBox="1"/>
            <p:nvPr/>
          </p:nvSpPr>
          <p:spPr>
            <a:xfrm>
              <a:off x="514350" y="1323975"/>
              <a:ext cx="68989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侧边栏三组七页：</a:t>
              </a:r>
              <a:r>
                <a:rPr lang="zh-CN" sz="1500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分析 / 工程与代码 / 结果与处置</a:t>
              </a:r>
              <a:r>
                <a:rPr lang="zh-CN" sz="15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，浏览器内完成检测全流程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33400" y="1676400"/>
            <a:ext cx="2638425" cy="1847850"/>
            <a:chOff x="533400" y="1676400"/>
            <a:chExt cx="2638425" cy="1847850"/>
          </a:xfrm>
        </p:grpSpPr>
        <p:sp>
          <p:nvSpPr>
            <p:cNvPr id="13" name="Rectangle 13"/>
            <p:cNvSpPr/>
            <p:nvPr/>
          </p:nvSpPr>
          <p:spPr>
            <a:xfrm>
              <a:off x="533400" y="1676400"/>
              <a:ext cx="2638425" cy="1847850"/>
            </a:xfrm>
            <a:prstGeom prst="roundRect">
              <a:avLst>
                <a:gd name="adj" fmla="val 5155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508566" y="1834515"/>
              <a:ext cx="476569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300" b="1" dirty="0">
                  <a:solidFill>
                    <a:srgbClr val="17375E">
                      <a:alphaMod val="7000"/>
                    </a:srgbClr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1905000"/>
              <a:ext cx="438150" cy="438150"/>
            </a:xfrm>
            <a:prstGeom prst="roundRect">
              <a:avLst>
                <a:gd name="adj" fmla="val 21739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888206" y="2009775"/>
              <a:ext cx="185738" cy="228600"/>
            </a:xfrm>
            <a:custGeom>
              <a:avLst/>
              <a:gdLst/>
              <a:ahLst/>
              <a:cxnLst/>
              <a:rect l="l" t="t" r="r" b="b"/>
              <a:pathLst>
                <a:path w="185738" h="228600">
                  <a:moveTo>
                    <a:pt x="50006" y="68465"/>
                  </a:moveTo>
                  <a:cubicBezTo>
                    <a:pt x="62621" y="62954"/>
                    <a:pt x="71438" y="50366"/>
                    <a:pt x="71438" y="35719"/>
                  </a:cubicBezTo>
                  <a:cubicBezTo>
                    <a:pt x="71438" y="15992"/>
                    <a:pt x="55446" y="0"/>
                    <a:pt x="35719" y="0"/>
                  </a:cubicBezTo>
                  <a:cubicBezTo>
                    <a:pt x="15992" y="0"/>
                    <a:pt x="0" y="15992"/>
                    <a:pt x="0" y="35719"/>
                  </a:cubicBezTo>
                  <a:cubicBezTo>
                    <a:pt x="0" y="50366"/>
                    <a:pt x="8816" y="62954"/>
                    <a:pt x="21431" y="68465"/>
                  </a:cubicBezTo>
                  <a:lnTo>
                    <a:pt x="21431" y="128588"/>
                  </a:lnTo>
                  <a:lnTo>
                    <a:pt x="78581" y="128588"/>
                  </a:lnTo>
                  <a:lnTo>
                    <a:pt x="78581" y="160134"/>
                  </a:lnTo>
                  <a:cubicBezTo>
                    <a:pt x="65966" y="165646"/>
                    <a:pt x="57150" y="178234"/>
                    <a:pt x="57150" y="192881"/>
                  </a:cubicBezTo>
                  <a:cubicBezTo>
                    <a:pt x="57150" y="212608"/>
                    <a:pt x="73142" y="228600"/>
                    <a:pt x="92869" y="228600"/>
                  </a:cubicBezTo>
                  <a:cubicBezTo>
                    <a:pt x="112596" y="228600"/>
                    <a:pt x="128588" y="212608"/>
                    <a:pt x="128588" y="192881"/>
                  </a:cubicBezTo>
                  <a:cubicBezTo>
                    <a:pt x="128588" y="178234"/>
                    <a:pt x="119771" y="165646"/>
                    <a:pt x="107156" y="160134"/>
                  </a:cubicBezTo>
                  <a:lnTo>
                    <a:pt x="107156" y="128588"/>
                  </a:lnTo>
                  <a:lnTo>
                    <a:pt x="164306" y="128588"/>
                  </a:lnTo>
                  <a:lnTo>
                    <a:pt x="164306" y="68465"/>
                  </a:lnTo>
                  <a:cubicBezTo>
                    <a:pt x="176922" y="62954"/>
                    <a:pt x="185738" y="50366"/>
                    <a:pt x="185738" y="35719"/>
                  </a:cubicBezTo>
                  <a:cubicBezTo>
                    <a:pt x="185738" y="15992"/>
                    <a:pt x="169746" y="0"/>
                    <a:pt x="150019" y="0"/>
                  </a:cubicBezTo>
                  <a:cubicBezTo>
                    <a:pt x="130292" y="0"/>
                    <a:pt x="114300" y="15992"/>
                    <a:pt x="114300" y="35719"/>
                  </a:cubicBezTo>
                  <a:cubicBezTo>
                    <a:pt x="114300" y="50366"/>
                    <a:pt x="123115" y="62954"/>
                    <a:pt x="135731" y="68465"/>
                  </a:cubicBezTo>
                  <a:lnTo>
                    <a:pt x="135731" y="100012"/>
                  </a:lnTo>
                  <a:lnTo>
                    <a:pt x="50006" y="100012"/>
                  </a:lnTo>
                  <a:lnTo>
                    <a:pt x="50006" y="68465"/>
                  </a:ln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6760" y="2556510"/>
              <a:ext cx="15678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工程管理 · 三源注册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0094" y="2851547"/>
              <a:ext cx="204281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本地路径零拷贝 / 压缩包防逃逸解压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0094" y="3042047"/>
              <a:ext cx="172402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/ Git 浅克隆（私有库 token）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362325" y="1676400"/>
            <a:ext cx="2638425" cy="1847850"/>
            <a:chOff x="3362325" y="1676400"/>
            <a:chExt cx="2638425" cy="1847850"/>
          </a:xfrm>
        </p:grpSpPr>
        <p:sp>
          <p:nvSpPr>
            <p:cNvPr id="21" name="Rectangle 21"/>
            <p:cNvSpPr/>
            <p:nvPr/>
          </p:nvSpPr>
          <p:spPr>
            <a:xfrm>
              <a:off x="3362325" y="1676400"/>
              <a:ext cx="2638425" cy="1847850"/>
            </a:xfrm>
            <a:prstGeom prst="roundRect">
              <a:avLst>
                <a:gd name="adj" fmla="val 5155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21976" y="1834515"/>
              <a:ext cx="59208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300" b="1" dirty="0">
                  <a:solidFill>
                    <a:srgbClr val="17375E">
                      <a:alphaMod val="7000"/>
                    </a:srgbClr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590925" y="1905000"/>
              <a:ext cx="438150" cy="438150"/>
            </a:xfrm>
            <a:prstGeom prst="roundRect">
              <a:avLst>
                <a:gd name="adj" fmla="val 21739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3767138" y="2009775"/>
              <a:ext cx="142875" cy="228600"/>
            </a:xfrm>
            <a:custGeom>
              <a:avLst/>
              <a:gdLst/>
              <a:ahLst/>
              <a:cxnLst/>
              <a:rect l="l" t="t" r="r" b="b"/>
              <a:pathLst>
                <a:path w="142875" h="228600">
                  <a:moveTo>
                    <a:pt x="0" y="228600"/>
                  </a:moveTo>
                  <a:lnTo>
                    <a:pt x="28575" y="228600"/>
                  </a:lnTo>
                  <a:lnTo>
                    <a:pt x="142875" y="114300"/>
                  </a:lnTo>
                  <a:lnTo>
                    <a:pt x="28575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575685" y="25565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扫描运行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79019" y="2851547"/>
              <a:ext cx="204281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后台任务队列串行执行 + 进度轮询；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79019" y="3042047"/>
              <a:ext cx="195530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profile / SVD / LLM 参数弹窗配置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191250" y="1676400"/>
            <a:ext cx="2638425" cy="1847850"/>
            <a:chOff x="6191250" y="1676400"/>
            <a:chExt cx="2638425" cy="1847850"/>
          </a:xfrm>
        </p:grpSpPr>
        <p:sp>
          <p:nvSpPr>
            <p:cNvPr id="29" name="Rectangle 29"/>
            <p:cNvSpPr/>
            <p:nvPr/>
          </p:nvSpPr>
          <p:spPr>
            <a:xfrm>
              <a:off x="6191250" y="1676400"/>
              <a:ext cx="2638425" cy="1847850"/>
            </a:xfrm>
            <a:prstGeom prst="roundRect">
              <a:avLst>
                <a:gd name="adj" fmla="val 5155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050901" y="1834515"/>
              <a:ext cx="59208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300" b="1" dirty="0">
                  <a:solidFill>
                    <a:srgbClr val="17375E">
                      <a:alphaMod val="7000"/>
                    </a:srgbClr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19850" y="1905000"/>
              <a:ext cx="438150" cy="438150"/>
            </a:xfrm>
            <a:prstGeom prst="roundRect">
              <a:avLst>
                <a:gd name="adj" fmla="val 21739"/>
              </a:avLst>
            </a:prstGeom>
            <a:solidFill>
              <a:srgbClr val="EAF1F8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553200" y="2009775"/>
              <a:ext cx="171450" cy="228600"/>
              <a:chOff x="6553200" y="2009775"/>
              <a:chExt cx="171450" cy="2286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610350" y="2009775"/>
                <a:ext cx="5715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42862">
                    <a:moveTo>
                      <a:pt x="57150" y="0"/>
                    </a:moveTo>
                    <a:lnTo>
                      <a:pt x="0" y="0"/>
                    </a:lnTo>
                    <a:lnTo>
                      <a:pt x="0" y="42862"/>
                    </a:lnTo>
                    <a:lnTo>
                      <a:pt x="57150" y="42862"/>
                    </a:lnTo>
                    <a:lnTo>
                      <a:pt x="57150" y="0"/>
                    </a:lnTo>
                    <a:close/>
                  </a:path>
                </a:pathLst>
              </a:custGeom>
              <a:solidFill>
                <a:srgbClr val="17375E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553200" y="2038350"/>
                <a:ext cx="1714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200025">
                    <a:moveTo>
                      <a:pt x="28575" y="0"/>
                    </a:moveTo>
                    <a:lnTo>
                      <a:pt x="0" y="0"/>
                    </a:lnTo>
                    <a:lnTo>
                      <a:pt x="0" y="200025"/>
                    </a:lnTo>
                    <a:lnTo>
                      <a:pt x="171450" y="200025"/>
                    </a:lnTo>
                    <a:lnTo>
                      <a:pt x="171450" y="0"/>
                    </a:lnTo>
                    <a:lnTo>
                      <a:pt x="142875" y="0"/>
                    </a:lnTo>
                    <a:lnTo>
                      <a:pt x="142875" y="42862"/>
                    </a:lnTo>
                    <a:lnTo>
                      <a:pt x="28575" y="42862"/>
                    </a:lnTo>
                    <a:lnTo>
                      <a:pt x="28575" y="0"/>
                    </a:lnTo>
                    <a:close/>
                  </a:path>
                </a:pathLst>
              </a:custGeom>
              <a:solidFill>
                <a:srgbClr val="17375E"/>
              </a:solidFill>
              <a:ln>
                <a:noFill/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404610" y="25565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告警中心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07944" y="2851547"/>
              <a:ext cx="203031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facet 计数一键筛选；详情抽屉展示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07944" y="3042047"/>
              <a:ext cx="170527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证据链 / LLM 结论 / 状态流转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020175" y="1676400"/>
            <a:ext cx="2638425" cy="1847850"/>
            <a:chOff x="9020175" y="1676400"/>
            <a:chExt cx="2638425" cy="1847850"/>
          </a:xfrm>
        </p:grpSpPr>
        <p:sp>
          <p:nvSpPr>
            <p:cNvPr id="39" name="Rectangle 39"/>
            <p:cNvSpPr/>
            <p:nvPr/>
          </p:nvSpPr>
          <p:spPr>
            <a:xfrm>
              <a:off x="9020175" y="1676400"/>
              <a:ext cx="2638425" cy="1847850"/>
            </a:xfrm>
            <a:prstGeom prst="roundRect">
              <a:avLst>
                <a:gd name="adj" fmla="val 5155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879826" y="1834515"/>
              <a:ext cx="59208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300" b="1" dirty="0">
                  <a:solidFill>
                    <a:srgbClr val="17375E">
                      <a:alphaMod val="7000"/>
                    </a:srgbClr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248775" y="1905000"/>
              <a:ext cx="438150" cy="438150"/>
            </a:xfrm>
            <a:prstGeom prst="roundRect">
              <a:avLst>
                <a:gd name="adj" fmla="val 21739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9353550" y="200977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42875" y="50006"/>
                  </a:moveTo>
                  <a:lnTo>
                    <a:pt x="186568" y="6313"/>
                  </a:lnTo>
                  <a:cubicBezTo>
                    <a:pt x="177599" y="2258"/>
                    <a:pt x="167645" y="0"/>
                    <a:pt x="157162" y="0"/>
                  </a:cubicBezTo>
                  <a:cubicBezTo>
                    <a:pt x="117709" y="0"/>
                    <a:pt x="85725" y="31984"/>
                    <a:pt x="85725" y="71438"/>
                  </a:cubicBezTo>
                  <a:cubicBezTo>
                    <a:pt x="85725" y="77981"/>
                    <a:pt x="86605" y="84320"/>
                    <a:pt x="88253" y="90341"/>
                  </a:cubicBezTo>
                  <a:lnTo>
                    <a:pt x="0" y="178594"/>
                  </a:lnTo>
                  <a:lnTo>
                    <a:pt x="50006" y="228600"/>
                  </a:lnTo>
                  <a:lnTo>
                    <a:pt x="138259" y="140347"/>
                  </a:lnTo>
                  <a:cubicBezTo>
                    <a:pt x="144279" y="141995"/>
                    <a:pt x="150619" y="142875"/>
                    <a:pt x="157162" y="142875"/>
                  </a:cubicBezTo>
                  <a:cubicBezTo>
                    <a:pt x="196616" y="142875"/>
                    <a:pt x="228600" y="110891"/>
                    <a:pt x="228600" y="71438"/>
                  </a:cubicBezTo>
                  <a:cubicBezTo>
                    <a:pt x="228600" y="60955"/>
                    <a:pt x="226343" y="51000"/>
                    <a:pt x="222286" y="42032"/>
                  </a:cubicBezTo>
                  <a:lnTo>
                    <a:pt x="178594" y="85725"/>
                  </a:lnTo>
                  <a:lnTo>
                    <a:pt x="142875" y="85725"/>
                  </a:lnTo>
                  <a:lnTo>
                    <a:pt x="142875" y="50006"/>
                  </a:ln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233535" y="25565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一键修复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36869" y="2851547"/>
              <a:ext cx="223658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建议 / 自动两种模式；补丁 diff 展示，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236869" y="3042047"/>
              <a:ext cx="154275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采纳 / 拒绝与原因全程留痕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33400" y="3676650"/>
            <a:ext cx="2638425" cy="1847850"/>
            <a:chOff x="533400" y="3676650"/>
            <a:chExt cx="2638425" cy="1847850"/>
          </a:xfrm>
        </p:grpSpPr>
        <p:sp>
          <p:nvSpPr>
            <p:cNvPr id="47" name="Rectangle 47"/>
            <p:cNvSpPr/>
            <p:nvPr/>
          </p:nvSpPr>
          <p:spPr>
            <a:xfrm>
              <a:off x="533400" y="3676650"/>
              <a:ext cx="2638425" cy="1847850"/>
            </a:xfrm>
            <a:prstGeom prst="roundRect">
              <a:avLst>
                <a:gd name="adj" fmla="val 5155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393051" y="3834765"/>
              <a:ext cx="59208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300" b="1" dirty="0">
                  <a:solidFill>
                    <a:srgbClr val="17375E">
                      <a:alphaMod val="7000"/>
                    </a:srgbClr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62000" y="3905250"/>
              <a:ext cx="438150" cy="438150"/>
            </a:xfrm>
            <a:prstGeom prst="roundRect">
              <a:avLst>
                <a:gd name="adj" fmla="val 21739"/>
              </a:avLst>
            </a:prstGeom>
            <a:solidFill>
              <a:srgbClr val="EAF1F8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866775" y="4022292"/>
              <a:ext cx="228600" cy="204066"/>
              <a:chOff x="866775" y="4022292"/>
              <a:chExt cx="228600" cy="20406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952644" y="4022292"/>
                <a:ext cx="56863" cy="204066"/>
              </a:xfrm>
              <a:custGeom>
                <a:avLst/>
                <a:gdLst/>
                <a:ahLst/>
                <a:cxnLst/>
                <a:rect l="l" t="t" r="r" b="b"/>
                <a:pathLst>
                  <a:path w="56863" h="204066">
                    <a:moveTo>
                      <a:pt x="28575" y="0"/>
                    </a:moveTo>
                    <a:lnTo>
                      <a:pt x="0" y="200025"/>
                    </a:lnTo>
                    <a:lnTo>
                      <a:pt x="28288" y="204066"/>
                    </a:lnTo>
                    <a:lnTo>
                      <a:pt x="56863" y="4041"/>
                    </a:lnTo>
                    <a:lnTo>
                      <a:pt x="28575" y="0"/>
                    </a:lnTo>
                    <a:close/>
                  </a:path>
                </a:pathLst>
              </a:custGeom>
              <a:solidFill>
                <a:srgbClr val="17375E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025163" y="4074319"/>
                <a:ext cx="702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70212" h="100012">
                    <a:moveTo>
                      <a:pt x="20205" y="100012"/>
                    </a:moveTo>
                    <a:lnTo>
                      <a:pt x="0" y="79807"/>
                    </a:lnTo>
                    <a:lnTo>
                      <a:pt x="29801" y="50006"/>
                    </a:lnTo>
                    <a:lnTo>
                      <a:pt x="0" y="20206"/>
                    </a:lnTo>
                    <a:lnTo>
                      <a:pt x="20205" y="0"/>
                    </a:lnTo>
                    <a:lnTo>
                      <a:pt x="70212" y="50006"/>
                    </a:lnTo>
                    <a:lnTo>
                      <a:pt x="20205" y="100012"/>
                    </a:lnTo>
                    <a:close/>
                  </a:path>
                </a:pathLst>
              </a:custGeom>
              <a:solidFill>
                <a:srgbClr val="17375E"/>
              </a:solidFill>
              <a:ln>
                <a:noFill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66775" y="4074319"/>
                <a:ext cx="702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70212" h="100012">
                    <a:moveTo>
                      <a:pt x="40411" y="50006"/>
                    </a:moveTo>
                    <a:lnTo>
                      <a:pt x="70212" y="79807"/>
                    </a:lnTo>
                    <a:lnTo>
                      <a:pt x="50006" y="100012"/>
                    </a:lnTo>
                    <a:lnTo>
                      <a:pt x="0" y="50006"/>
                    </a:lnTo>
                    <a:lnTo>
                      <a:pt x="50006" y="0"/>
                    </a:lnTo>
                    <a:lnTo>
                      <a:pt x="70212" y="20206"/>
                    </a:lnTo>
                    <a:lnTo>
                      <a:pt x="40411" y="50006"/>
                    </a:lnTo>
                    <a:close/>
                  </a:path>
                </a:pathLst>
              </a:custGeom>
              <a:solidFill>
                <a:srgbClr val="17375E"/>
              </a:solidFill>
              <a:ln>
                <a:noFill/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746760" y="4556760"/>
              <a:ext cx="13662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代码浏览（v1.2）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50094" y="4851797"/>
              <a:ext cx="204281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运行级源码快照（SHA-256 清单）；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50094" y="5042297"/>
              <a:ext cx="213657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C 高亮 + 告警行 gutter 点击即开抽屉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3362325" y="3676650"/>
            <a:ext cx="2638425" cy="1847850"/>
            <a:chOff x="3362325" y="3676650"/>
            <a:chExt cx="2638425" cy="1847850"/>
          </a:xfrm>
        </p:grpSpPr>
        <p:sp>
          <p:nvSpPr>
            <p:cNvPr id="58" name="Rectangle 58"/>
            <p:cNvSpPr/>
            <p:nvPr/>
          </p:nvSpPr>
          <p:spPr>
            <a:xfrm>
              <a:off x="3362325" y="3676650"/>
              <a:ext cx="2638425" cy="1847850"/>
            </a:xfrm>
            <a:prstGeom prst="roundRect">
              <a:avLst>
                <a:gd name="adj" fmla="val 5155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221976" y="3834765"/>
              <a:ext cx="59208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300" b="1" dirty="0">
                  <a:solidFill>
                    <a:srgbClr val="17375E">
                      <a:alphaMod val="7000"/>
                    </a:srgbClr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590925" y="3905250"/>
              <a:ext cx="438150" cy="438150"/>
            </a:xfrm>
            <a:prstGeom prst="roundRect">
              <a:avLst>
                <a:gd name="adj" fmla="val 21739"/>
              </a:avLst>
            </a:prstGeom>
            <a:solidFill>
              <a:srgbClr val="EAF1F8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3702844" y="4017169"/>
              <a:ext cx="214313" cy="214312"/>
              <a:chOff x="3702844" y="4017169"/>
              <a:chExt cx="214313" cy="214312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3788569" y="4017169"/>
                <a:ext cx="128588" cy="207169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207169">
                    <a:moveTo>
                      <a:pt x="57150" y="0"/>
                    </a:moveTo>
                    <a:lnTo>
                      <a:pt x="42862" y="0"/>
                    </a:lnTo>
                    <a:lnTo>
                      <a:pt x="0" y="42862"/>
                    </a:lnTo>
                    <a:lnTo>
                      <a:pt x="42862" y="85725"/>
                    </a:lnTo>
                    <a:lnTo>
                      <a:pt x="57150" y="85725"/>
                    </a:lnTo>
                    <a:lnTo>
                      <a:pt x="57150" y="57150"/>
                    </a:lnTo>
                    <a:lnTo>
                      <a:pt x="78581" y="57150"/>
                    </a:lnTo>
                    <a:lnTo>
                      <a:pt x="78581" y="138703"/>
                    </a:lnTo>
                    <a:cubicBezTo>
                      <a:pt x="65965" y="144215"/>
                      <a:pt x="57150" y="156802"/>
                      <a:pt x="57150" y="171450"/>
                    </a:cubicBezTo>
                    <a:cubicBezTo>
                      <a:pt x="57150" y="191177"/>
                      <a:pt x="73142" y="207169"/>
                      <a:pt x="92869" y="207169"/>
                    </a:cubicBezTo>
                    <a:cubicBezTo>
                      <a:pt x="112596" y="207169"/>
                      <a:pt x="128588" y="191177"/>
                      <a:pt x="128588" y="171450"/>
                    </a:cubicBezTo>
                    <a:cubicBezTo>
                      <a:pt x="128588" y="156802"/>
                      <a:pt x="119772" y="144215"/>
                      <a:pt x="107156" y="138703"/>
                    </a:cubicBezTo>
                    <a:lnTo>
                      <a:pt x="107156" y="28575"/>
                    </a:lnTo>
                    <a:lnTo>
                      <a:pt x="57150" y="28575"/>
                    </a:lnTo>
                    <a:lnTo>
                      <a:pt x="57150" y="0"/>
                    </a:lnTo>
                    <a:close/>
                  </a:path>
                </a:pathLst>
              </a:custGeom>
              <a:solidFill>
                <a:srgbClr val="17375E"/>
              </a:solidFill>
              <a:ln>
                <a:noFill/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3702844" y="4024312"/>
                <a:ext cx="128588" cy="207169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207169">
                    <a:moveTo>
                      <a:pt x="85725" y="207169"/>
                    </a:moveTo>
                    <a:lnTo>
                      <a:pt x="128588" y="164306"/>
                    </a:lnTo>
                    <a:lnTo>
                      <a:pt x="85725" y="121444"/>
                    </a:lnTo>
                    <a:lnTo>
                      <a:pt x="71438" y="121444"/>
                    </a:lnTo>
                    <a:lnTo>
                      <a:pt x="71438" y="150019"/>
                    </a:lnTo>
                    <a:lnTo>
                      <a:pt x="50006" y="150019"/>
                    </a:lnTo>
                    <a:lnTo>
                      <a:pt x="50006" y="68465"/>
                    </a:lnTo>
                    <a:cubicBezTo>
                      <a:pt x="62621" y="62954"/>
                      <a:pt x="71438" y="50366"/>
                      <a:pt x="71438" y="35719"/>
                    </a:cubicBezTo>
                    <a:cubicBezTo>
                      <a:pt x="71438" y="15992"/>
                      <a:pt x="55446" y="0"/>
                      <a:pt x="35719" y="0"/>
                    </a:cubicBezTo>
                    <a:cubicBezTo>
                      <a:pt x="15992" y="0"/>
                      <a:pt x="0" y="15992"/>
                      <a:pt x="0" y="35719"/>
                    </a:cubicBezTo>
                    <a:cubicBezTo>
                      <a:pt x="0" y="50366"/>
                      <a:pt x="8816" y="62954"/>
                      <a:pt x="21431" y="68465"/>
                    </a:cubicBezTo>
                    <a:lnTo>
                      <a:pt x="21431" y="178594"/>
                    </a:lnTo>
                    <a:lnTo>
                      <a:pt x="71438" y="178594"/>
                    </a:lnTo>
                    <a:lnTo>
                      <a:pt x="71438" y="207169"/>
                    </a:lnTo>
                    <a:lnTo>
                      <a:pt x="85725" y="207169"/>
                    </a:lnTo>
                    <a:close/>
                  </a:path>
                </a:pathLst>
              </a:custGeom>
              <a:solidFill>
                <a:srgbClr val="17375E"/>
              </a:solidFill>
              <a:ln>
                <a:noFill/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3575685" y="4556760"/>
              <a:ext cx="13662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版本对比（v1.2）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579019" y="4851797"/>
              <a:ext cx="215532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任意两 run 文件 diff（统一/并排）；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579019" y="5042297"/>
              <a:ext cx="209907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告警三态差分 New / Resolved / 持续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191250" y="3676650"/>
            <a:ext cx="2638425" cy="1847850"/>
            <a:chOff x="6191250" y="3676650"/>
            <a:chExt cx="2638425" cy="1847850"/>
          </a:xfrm>
        </p:grpSpPr>
        <p:sp>
          <p:nvSpPr>
            <p:cNvPr id="68" name="Rectangle 68"/>
            <p:cNvSpPr/>
            <p:nvPr/>
          </p:nvSpPr>
          <p:spPr>
            <a:xfrm>
              <a:off x="6191250" y="3676650"/>
              <a:ext cx="2638425" cy="1847850"/>
            </a:xfrm>
            <a:prstGeom prst="roundRect">
              <a:avLst>
                <a:gd name="adj" fmla="val 5155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050901" y="3834765"/>
              <a:ext cx="59208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300" b="1" dirty="0">
                  <a:solidFill>
                    <a:srgbClr val="17375E">
                      <a:alphaMod val="7000"/>
                    </a:srgbClr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419850" y="3905250"/>
              <a:ext cx="438150" cy="438150"/>
            </a:xfrm>
            <a:prstGeom prst="roundRect">
              <a:avLst>
                <a:gd name="adj" fmla="val 21739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71" name="Freeform 71"/>
            <p:cNvSpPr/>
            <p:nvPr/>
          </p:nvSpPr>
          <p:spPr>
            <a:xfrm>
              <a:off x="6529223" y="4010025"/>
              <a:ext cx="219404" cy="228600"/>
            </a:xfrm>
            <a:custGeom>
              <a:avLst/>
              <a:gdLst/>
              <a:ahLst/>
              <a:cxnLst/>
              <a:rect l="l" t="t" r="r" b="b"/>
              <a:pathLst>
                <a:path w="219404" h="228600">
                  <a:moveTo>
                    <a:pt x="88271" y="0"/>
                  </a:moveTo>
                  <a:lnTo>
                    <a:pt x="131134" y="0"/>
                  </a:lnTo>
                  <a:lnTo>
                    <a:pt x="139619" y="33940"/>
                  </a:lnTo>
                  <a:cubicBezTo>
                    <a:pt x="148673" y="37312"/>
                    <a:pt x="157004" y="42170"/>
                    <a:pt x="164313" y="48219"/>
                  </a:cubicBezTo>
                  <a:lnTo>
                    <a:pt x="197973" y="38590"/>
                  </a:lnTo>
                  <a:lnTo>
                    <a:pt x="219404" y="75710"/>
                  </a:lnTo>
                  <a:lnTo>
                    <a:pt x="194246" y="100036"/>
                  </a:lnTo>
                  <a:cubicBezTo>
                    <a:pt x="195023" y="104675"/>
                    <a:pt x="195427" y="109440"/>
                    <a:pt x="195427" y="114300"/>
                  </a:cubicBezTo>
                  <a:cubicBezTo>
                    <a:pt x="195427" y="119160"/>
                    <a:pt x="195023" y="123925"/>
                    <a:pt x="194246" y="128564"/>
                  </a:cubicBezTo>
                  <a:lnTo>
                    <a:pt x="219404" y="152891"/>
                  </a:lnTo>
                  <a:lnTo>
                    <a:pt x="197973" y="190009"/>
                  </a:lnTo>
                  <a:lnTo>
                    <a:pt x="164313" y="180381"/>
                  </a:lnTo>
                  <a:cubicBezTo>
                    <a:pt x="157004" y="186429"/>
                    <a:pt x="148673" y="191288"/>
                    <a:pt x="139619" y="194660"/>
                  </a:cubicBezTo>
                  <a:lnTo>
                    <a:pt x="131134" y="228600"/>
                  </a:lnTo>
                  <a:lnTo>
                    <a:pt x="88271" y="228600"/>
                  </a:lnTo>
                  <a:lnTo>
                    <a:pt x="79786" y="194660"/>
                  </a:lnTo>
                  <a:cubicBezTo>
                    <a:pt x="70732" y="191288"/>
                    <a:pt x="62401" y="186429"/>
                    <a:pt x="55091" y="180381"/>
                  </a:cubicBezTo>
                  <a:lnTo>
                    <a:pt x="21431" y="190009"/>
                  </a:lnTo>
                  <a:lnTo>
                    <a:pt x="0" y="152891"/>
                  </a:lnTo>
                  <a:lnTo>
                    <a:pt x="25159" y="128564"/>
                  </a:lnTo>
                  <a:cubicBezTo>
                    <a:pt x="24382" y="123925"/>
                    <a:pt x="23977" y="119160"/>
                    <a:pt x="23977" y="114300"/>
                  </a:cubicBezTo>
                  <a:cubicBezTo>
                    <a:pt x="23977" y="109440"/>
                    <a:pt x="24382" y="104675"/>
                    <a:pt x="25159" y="100036"/>
                  </a:cubicBezTo>
                  <a:lnTo>
                    <a:pt x="0" y="75710"/>
                  </a:lnTo>
                  <a:lnTo>
                    <a:pt x="21431" y="38590"/>
                  </a:lnTo>
                  <a:lnTo>
                    <a:pt x="55091" y="48219"/>
                  </a:lnTo>
                  <a:cubicBezTo>
                    <a:pt x="62401" y="42170"/>
                    <a:pt x="70732" y="37312"/>
                    <a:pt x="79786" y="33940"/>
                  </a:cubicBezTo>
                  <a:lnTo>
                    <a:pt x="88271" y="0"/>
                  </a:lnTo>
                  <a:close/>
                  <a:moveTo>
                    <a:pt x="109702" y="142875"/>
                  </a:moveTo>
                  <a:cubicBezTo>
                    <a:pt x="125484" y="142875"/>
                    <a:pt x="138277" y="130082"/>
                    <a:pt x="138277" y="114300"/>
                  </a:cubicBezTo>
                  <a:cubicBezTo>
                    <a:pt x="138277" y="98518"/>
                    <a:pt x="125484" y="85725"/>
                    <a:pt x="109702" y="85725"/>
                  </a:cubicBezTo>
                  <a:cubicBezTo>
                    <a:pt x="93921" y="85725"/>
                    <a:pt x="81127" y="98518"/>
                    <a:pt x="81127" y="114300"/>
                  </a:cubicBezTo>
                  <a:cubicBezTo>
                    <a:pt x="81127" y="130082"/>
                    <a:pt x="93921" y="142875"/>
                    <a:pt x="109702" y="142875"/>
                  </a:cubicBez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404610" y="455676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大模型设置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407944" y="4851797"/>
              <a:ext cx="218033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Base URL / Key / 模型名 + 测试连接；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407944" y="5042297"/>
              <a:ext cx="171777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凭据存本机 SQLite，回传脱敏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9020175" y="3676650"/>
            <a:ext cx="2638425" cy="1847850"/>
            <a:chOff x="9020175" y="3676650"/>
            <a:chExt cx="2638425" cy="1847850"/>
          </a:xfrm>
        </p:grpSpPr>
        <p:sp>
          <p:nvSpPr>
            <p:cNvPr id="76" name="Rectangle 76"/>
            <p:cNvSpPr/>
            <p:nvPr/>
          </p:nvSpPr>
          <p:spPr>
            <a:xfrm>
              <a:off x="9020175" y="3676650"/>
              <a:ext cx="2638425" cy="1847850"/>
            </a:xfrm>
            <a:prstGeom prst="roundRect">
              <a:avLst>
                <a:gd name="adj" fmla="val 5155"/>
              </a:avLst>
            </a:prstGeom>
            <a:solidFill>
              <a:srgbClr val="EAF1F8"/>
            </a:solidFill>
            <a:ln w="14288">
              <a:solidFill>
                <a:srgbClr val="0070C0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0879826" y="3834765"/>
              <a:ext cx="59208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300" b="1" dirty="0">
                  <a:solidFill>
                    <a:srgbClr val="0070C0">
                      <a:alphaMod val="8000"/>
                    </a:srgbClr>
                  </a:solidFill>
                  <a:latin typeface="Arial"/>
                  <a:ea typeface="Microsoft YaHei"/>
                  <a:cs typeface="Arial"/>
                </a:rPr>
                <a:t>08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9248775" y="3905250"/>
              <a:ext cx="43815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9" name="Freeform 79"/>
            <p:cNvSpPr/>
            <p:nvPr/>
          </p:nvSpPr>
          <p:spPr>
            <a:xfrm>
              <a:off x="9382125" y="4010025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100012" y="100012"/>
                  </a:moveTo>
                  <a:lnTo>
                    <a:pt x="114300" y="0"/>
                  </a:lnTo>
                  <a:lnTo>
                    <a:pt x="85725" y="0"/>
                  </a:lnTo>
                  <a:lnTo>
                    <a:pt x="0" y="100012"/>
                  </a:lnTo>
                  <a:lnTo>
                    <a:pt x="0" y="128588"/>
                  </a:lnTo>
                  <a:lnTo>
                    <a:pt x="71438" y="128588"/>
                  </a:lnTo>
                  <a:lnTo>
                    <a:pt x="57150" y="228600"/>
                  </a:lnTo>
                  <a:lnTo>
                    <a:pt x="85725" y="228600"/>
                  </a:lnTo>
                  <a:lnTo>
                    <a:pt x="171450" y="128588"/>
                  </a:lnTo>
                  <a:lnTo>
                    <a:pt x="171450" y="100012"/>
                  </a:lnTo>
                  <a:lnTo>
                    <a:pt x="100012" y="100012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9233535" y="4556760"/>
              <a:ext cx="13998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零外链 · 离线可用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236869" y="4851797"/>
              <a:ext cx="224284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ThreadingHTTPServer + SQLite + 原生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236869" y="5042297"/>
              <a:ext cx="156150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JS/CSS，内网隔离环境友好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533400" y="5715000"/>
            <a:ext cx="11125200" cy="495300"/>
            <a:chOff x="533400" y="5715000"/>
            <a:chExt cx="11125200" cy="495300"/>
          </a:xfrm>
        </p:grpSpPr>
        <p:sp>
          <p:nvSpPr>
            <p:cNvPr id="84" name="Rectangle 84"/>
            <p:cNvSpPr/>
            <p:nvPr/>
          </p:nvSpPr>
          <p:spPr>
            <a:xfrm>
              <a:off x="533400" y="5715000"/>
              <a:ext cx="11125200" cy="495300"/>
            </a:xfrm>
            <a:prstGeom prst="roundRect">
              <a:avLst>
                <a:gd name="adj" fmla="val 15385"/>
              </a:avLst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747712" y="5907881"/>
              <a:ext cx="80695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现场演示路径 </a:t>
              </a:r>
              <a:r>
                <a:rPr lang="zh-CN" sz="1125" dirty="0">
                  <a:solidFill>
                    <a:srgbClr val="7FB0E0"/>
                  </a:solidFill>
                  <a:latin typeface="Consolas"/>
                  <a:ea typeface="Microsoft YaHei"/>
                  <a:cs typeface="Consolas"/>
                </a:rPr>
                <a:t>uv run ecdet serve</a:t>
              </a:r>
              <a:r>
                <a:rPr lang="zh-CN" sz="11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 → 注册示例工程 → 扫描 → 告警抽屉看证据链 → 一键修复看 diff → 代码浏览 / 版本对比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522922" y="6578441"/>
            <a:ext cx="11146155" cy="167640"/>
            <a:chOff x="522922" y="6578441"/>
            <a:chExt cx="11146155" cy="167640"/>
          </a:xfrm>
        </p:grpSpPr>
        <p:sp>
          <p:nvSpPr>
            <p:cNvPr id="87" name="TextBox 87"/>
            <p:cNvSpPr txBox="1"/>
            <p:nvPr/>
          </p:nvSpPr>
          <p:spPr>
            <a:xfrm>
              <a:off x="522922" y="6578441"/>
              <a:ext cx="56976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Web 控制台与 CLI 共用同一检测内核；界面为原生实现，与 SonarQube / GitHub diff 的交互范式对齐（v1.2 改版）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27107" y="6578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0" grpId="0"/>
      <p:bldP spid="28" grpId="0"/>
      <p:bldP spid="38" grpId="0"/>
      <p:bldP spid="46" grpId="0"/>
      <p:bldP spid="57" grpId="0"/>
      <p:bldP spid="67" grpId="0"/>
      <p:bldP spid="75" grpId="0"/>
      <p:bldP spid="83" grpId="0"/>
      <p:bldP spid="8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33400" y="495300"/>
            <a:ext cx="11135677" cy="671512"/>
            <a:chOff x="533400" y="495300"/>
            <a:chExt cx="11135677" cy="671512"/>
          </a:xfrm>
        </p:grpSpPr>
        <p:sp>
          <p:nvSpPr>
            <p:cNvPr id="3" name="Rectangle 3"/>
            <p:cNvSpPr/>
            <p:nvPr/>
          </p:nvSpPr>
          <p:spPr>
            <a:xfrm rot="2700000">
              <a:off x="552450" y="495300"/>
              <a:ext cx="161925" cy="161925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 rot="2700000">
              <a:off x="704850" y="590550"/>
              <a:ext cx="95250" cy="952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9168" y="523399"/>
              <a:ext cx="8308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PART 4 · 计划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2975" y="709612"/>
              <a:ext cx="673598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后续计划：P0 立即启动，里程碑对齐 2027 试点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38821" y="539591"/>
              <a:ext cx="24302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ecdet · 嵌入式软件代码缺陷与安全漏洞检测系统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104900"/>
              <a:ext cx="11125200" cy="14288"/>
            </a:xfrm>
            <a:prstGeom prst="rect">
              <a:avLst/>
            </a:prstGeom>
            <a:solidFill>
              <a:srgbClr val="D8E0E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085850"/>
              <a:ext cx="1333500" cy="38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4350" y="1323975"/>
            <a:ext cx="7719060" cy="304800"/>
            <a:chOff x="514350" y="1323975"/>
            <a:chExt cx="7719060" cy="304800"/>
          </a:xfrm>
        </p:grpSpPr>
        <p:sp>
          <p:nvSpPr>
            <p:cNvPr id="11" name="TextBox 11"/>
            <p:cNvSpPr txBox="1"/>
            <p:nvPr/>
          </p:nvSpPr>
          <p:spPr>
            <a:xfrm>
              <a:off x="514350" y="1323975"/>
              <a:ext cx="771906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P0 两项合计约一周</a:t>
              </a:r>
              <a:r>
                <a:rPr lang="zh-CN" sz="150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，同时关闭方案承诺缺口与外部建议共识；此后按评测数据逐版回归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33400" y="1676400"/>
            <a:ext cx="5334000" cy="1071562"/>
            <a:chOff x="533400" y="1676400"/>
            <a:chExt cx="5334000" cy="1071562"/>
          </a:xfrm>
        </p:grpSpPr>
        <p:sp>
          <p:nvSpPr>
            <p:cNvPr id="13" name="Rectangle 13"/>
            <p:cNvSpPr/>
            <p:nvPr/>
          </p:nvSpPr>
          <p:spPr>
            <a:xfrm>
              <a:off x="533400" y="1676400"/>
              <a:ext cx="5334000" cy="1028700"/>
            </a:xfrm>
            <a:prstGeom prst="roundRect">
              <a:avLst>
                <a:gd name="adj" fmla="val 7407"/>
              </a:avLst>
            </a:prstGeom>
            <a:solidFill>
              <a:srgbClr val="FBEDED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1676400"/>
              <a:ext cx="47625" cy="1028700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84860" y="1832610"/>
              <a:ext cx="19207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P0 · 立即启动（约一周）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765" y="2134552"/>
              <a:ext cx="27150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 xml:space="preserve">① cppcheck </a:t>
              </a:r>
              <a:r>
                <a:rPr lang="zh-CN" sz="1050" b="1" dirty="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misra.py</a:t>
              </a:r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 xml:space="preserve"> 基线接入——约 1 天；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78218" y="2352199"/>
              <a:ext cx="28981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验收：告警入 SARIF 与告警中心，全量回归不劣化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6765" y="2534602"/>
              <a:ext cx="46752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② 元认知校验增强——2–3 天；</a:t>
              </a:r>
              <a:r>
                <a:rPr lang="zh-CN" sz="975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验收：伪行号 / 伪代码 / 伪结论用例全部拦截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3400" y="2838450"/>
            <a:ext cx="5334000" cy="1409700"/>
            <a:chOff x="533400" y="2838450"/>
            <a:chExt cx="5334000" cy="1409700"/>
          </a:xfrm>
        </p:grpSpPr>
        <p:sp>
          <p:nvSpPr>
            <p:cNvPr id="20" name="Rectangle 20"/>
            <p:cNvSpPr/>
            <p:nvPr/>
          </p:nvSpPr>
          <p:spPr>
            <a:xfrm>
              <a:off x="533400" y="2838450"/>
              <a:ext cx="5334000" cy="1409700"/>
            </a:xfrm>
            <a:prstGeom prst="roundRect">
              <a:avLst>
                <a:gd name="adj" fmla="val 5405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838450"/>
              <a:ext cx="47625" cy="1409700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4860" y="2994660"/>
              <a:ext cx="22147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P1 · 近期启动（一至两个月）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6765" y="3296602"/>
              <a:ext cx="30230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链接脚本解析（3–5 天）· 编译配置注入（1 天）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6765" y="3563302"/>
              <a:ext cx="39821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分诊领域化路由（2–3 天）· CI webhook 与质量门控（2–3 天）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6765" y="3830002"/>
              <a:ext cx="30650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跨函数数据流（1–2 周，当前检测深度最大短板）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7718" y="4047649"/>
              <a:ext cx="38017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优先深化 cppcheck 跨翻译单元能力，不达预期再评估接入 Joern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33400" y="4381500"/>
            <a:ext cx="5334000" cy="1102519"/>
            <a:chOff x="533400" y="4381500"/>
            <a:chExt cx="5334000" cy="1102519"/>
          </a:xfrm>
        </p:grpSpPr>
        <p:sp>
          <p:nvSpPr>
            <p:cNvPr id="28" name="Rectangle 28"/>
            <p:cNvSpPr/>
            <p:nvPr/>
          </p:nvSpPr>
          <p:spPr>
            <a:xfrm>
              <a:off x="533400" y="4381500"/>
              <a:ext cx="5334000" cy="1066800"/>
            </a:xfrm>
            <a:prstGeom prst="roundRect">
              <a:avLst>
                <a:gd name="adj" fmla="val 7143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4381500"/>
              <a:ext cx="47625" cy="1066800"/>
            </a:xfrm>
            <a:prstGeom prst="roundRect">
              <a:avLst>
                <a:gd name="adj" fmla="val 50000"/>
              </a:avLst>
            </a:prstGeom>
            <a:solidFill>
              <a:srgbClr val="8C9AA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84860" y="4537710"/>
              <a:ext cx="26180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P2 · 远期储备（数据 / 语料依赖）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6765" y="4839652"/>
              <a:ext cx="31770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人工复核反馈回写 · Unicorn / Renode 仿真档落地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6765" y="5087302"/>
              <a:ext cx="2329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大小模型分工 · Toyota ITC 全量基准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7718" y="5285899"/>
              <a:ext cx="26250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探测位与接口均已预留，条件成熟即切换执行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096000" y="1676400"/>
            <a:ext cx="5562600" cy="3771900"/>
            <a:chOff x="6096000" y="1676400"/>
            <a:chExt cx="5562600" cy="3771900"/>
          </a:xfrm>
        </p:grpSpPr>
        <p:sp>
          <p:nvSpPr>
            <p:cNvPr id="35" name="Rectangle 35"/>
            <p:cNvSpPr/>
            <p:nvPr/>
          </p:nvSpPr>
          <p:spPr>
            <a:xfrm>
              <a:off x="6096000" y="1676400"/>
              <a:ext cx="5562600" cy="3771900"/>
            </a:xfrm>
            <a:prstGeom prst="roundRect">
              <a:avLst>
                <a:gd name="adj" fmla="val 2525"/>
              </a:avLst>
            </a:prstGeom>
            <a:solidFill>
              <a:srgbClr val="FFFFFF"/>
            </a:solidFill>
            <a:ln w="14288">
              <a:solidFill>
                <a:srgbClr val="D8E0E9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46508" y="1862614"/>
              <a:ext cx="14605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里程碑与出口标准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553200" y="2724150"/>
              <a:ext cx="4686300" cy="9525"/>
            </a:xfrm>
            <a:custGeom>
              <a:avLst/>
              <a:gdLst/>
              <a:ahLst/>
              <a:cxnLst/>
              <a:rect l="l" t="t" r="r" b="b"/>
              <a:pathLst>
                <a:path w="4686300" h="9525">
                  <a:moveTo>
                    <a:pt x="0" y="0"/>
                  </a:moveTo>
                  <a:lnTo>
                    <a:pt x="4686300" y="0"/>
                  </a:lnTo>
                </a:path>
              </a:pathLst>
            </a:custGeom>
            <a:noFill/>
            <a:ln w="38100" cap="rnd">
              <a:solidFill>
                <a:srgbClr val="2E75B6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6762750" y="2628900"/>
              <a:ext cx="190500" cy="1905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134350" y="2628900"/>
              <a:ext cx="190500" cy="1905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9505950" y="2628900"/>
              <a:ext cx="190500" cy="1905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0877550" y="2628900"/>
              <a:ext cx="190500" cy="190500"/>
            </a:xfrm>
            <a:prstGeom prst="ellipse">
              <a:avLst/>
            </a:prstGeom>
            <a:solidFill>
              <a:srgbClr val="8C9AA9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86500" y="3009900"/>
              <a:ext cx="1143000" cy="285750"/>
            </a:xfrm>
            <a:prstGeom prst="roundRect">
              <a:avLst>
                <a:gd name="adj" fmla="val 13333"/>
              </a:avLst>
            </a:prstGeom>
            <a:solidFill>
              <a:srgbClr val="FBEDED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36066" y="309514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M1 · 2026 Q4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74118" y="3438049"/>
              <a:ext cx="11689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P0 两项</a:t>
              </a:r>
              <a:r>
                <a:rPr lang="zh-CN" sz="97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 xml:space="preserve"> + v1.2 归档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75070" y="3655695"/>
              <a:ext cx="15170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出口：misra.py 入 SARIF；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75070" y="382714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幻觉用例全部拦截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658100" y="3009900"/>
              <a:ext cx="1143000" cy="285750"/>
            </a:xfrm>
            <a:prstGeom prst="roundRect">
              <a:avLst>
                <a:gd name="adj" fmla="val 13333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807666" y="309514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M2 · 2027 Q1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45718" y="3438049"/>
              <a:ext cx="5643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P1 前四项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46670" y="365569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出口：质量门控在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646670" y="3827145"/>
              <a:ext cx="8629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示例工程上跑通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029700" y="3009900"/>
              <a:ext cx="1143000" cy="285750"/>
            </a:xfrm>
            <a:prstGeom prst="roundRect">
              <a:avLst>
                <a:gd name="adj" fmla="val 13333"/>
              </a:avLst>
            </a:prstGeom>
            <a:solidFill>
              <a:srgbClr val="EAF1F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162202" y="3095149"/>
              <a:ext cx="8779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70C0"/>
                  </a:solidFill>
                  <a:latin typeface="Arial"/>
                  <a:ea typeface="Microsoft YaHei"/>
                  <a:cs typeface="Arial"/>
                </a:rPr>
                <a:t>M3 · 2027 Q2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17318" y="343804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跨函数数据流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018270" y="3655695"/>
              <a:ext cx="13550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出口：Juliet 全量成稿，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018270" y="3827145"/>
              <a:ext cx="856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回填方案表 3-5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0401300" y="3009900"/>
              <a:ext cx="952500" cy="285750"/>
            </a:xfrm>
            <a:prstGeom prst="roundRect">
              <a:avLst>
                <a:gd name="adj" fmla="val 13333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459029" y="3095149"/>
              <a:ext cx="837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M4 · 27Q3-4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388918" y="3438049"/>
              <a:ext cx="8243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仿真档 + 试点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389870" y="3655695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出口：仿真档由可用性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389870" y="3827145"/>
              <a:ext cx="11029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C"/>
                  </a:solidFill>
                  <a:latin typeface="Arial"/>
                  <a:ea typeface="Microsoft YaHei"/>
                  <a:cs typeface="Arial"/>
                </a:rPr>
                <a:t>探测升级为执行回路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362700" y="4476750"/>
              <a:ext cx="5029200" cy="723900"/>
            </a:xfrm>
            <a:prstGeom prst="roundRect">
              <a:avLst>
                <a:gd name="adj" fmla="val 10526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40341" y="4653201"/>
              <a:ext cx="341464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推进方式：</a:t>
              </a:r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以评测数据驱动迭代——每个里程碑的出口标准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540341" y="4881801"/>
              <a:ext cx="2861072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都是</a:t>
              </a:r>
              <a:r>
                <a:rPr lang="zh-CN" sz="1012" b="1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可验证的指标</a:t>
              </a:r>
              <a:r>
                <a:rPr lang="zh-CN" sz="1012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，而非「做完了」的口头描述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33400" y="5715000"/>
            <a:ext cx="11125200" cy="495300"/>
            <a:chOff x="533400" y="5715000"/>
            <a:chExt cx="11125200" cy="495300"/>
          </a:xfrm>
        </p:grpSpPr>
        <p:sp>
          <p:nvSpPr>
            <p:cNvPr id="66" name="Rectangle 66"/>
            <p:cNvSpPr/>
            <p:nvPr/>
          </p:nvSpPr>
          <p:spPr>
            <a:xfrm>
              <a:off x="533400" y="5715000"/>
              <a:ext cx="11125200" cy="495300"/>
            </a:xfrm>
            <a:prstGeom prst="roundRect">
              <a:avLst>
                <a:gd name="adj" fmla="val 15385"/>
              </a:avLst>
            </a:prstGeom>
            <a:solidFill>
              <a:srgbClr val="FBEDED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762000" y="5848350"/>
              <a:ext cx="209550" cy="196453"/>
            </a:xfrm>
            <a:custGeom>
              <a:avLst/>
              <a:gdLst/>
              <a:ahLst/>
              <a:cxnLst/>
              <a:rect l="l" t="t" r="r" b="b"/>
              <a:pathLst>
                <a:path w="209550" h="196453">
                  <a:moveTo>
                    <a:pt x="209550" y="196453"/>
                  </a:moveTo>
                  <a:lnTo>
                    <a:pt x="0" y="196453"/>
                  </a:lnTo>
                  <a:lnTo>
                    <a:pt x="0" y="157162"/>
                  </a:lnTo>
                  <a:lnTo>
                    <a:pt x="91678" y="0"/>
                  </a:lnTo>
                  <a:lnTo>
                    <a:pt x="117872" y="0"/>
                  </a:lnTo>
                  <a:lnTo>
                    <a:pt x="209550" y="157162"/>
                  </a:lnTo>
                  <a:lnTo>
                    <a:pt x="209550" y="196453"/>
                  </a:lnTo>
                  <a:close/>
                  <a:moveTo>
                    <a:pt x="91678" y="52388"/>
                  </a:moveTo>
                  <a:lnTo>
                    <a:pt x="117872" y="52388"/>
                  </a:lnTo>
                  <a:lnTo>
                    <a:pt x="117872" y="117872"/>
                  </a:lnTo>
                  <a:lnTo>
                    <a:pt x="91678" y="117872"/>
                  </a:lnTo>
                  <a:lnTo>
                    <a:pt x="91678" y="52388"/>
                  </a:lnTo>
                  <a:close/>
                  <a:moveTo>
                    <a:pt x="91678" y="144066"/>
                  </a:moveTo>
                  <a:lnTo>
                    <a:pt x="117872" y="144066"/>
                  </a:lnTo>
                  <a:lnTo>
                    <a:pt x="117872" y="170259"/>
                  </a:lnTo>
                  <a:lnTo>
                    <a:pt x="91678" y="170259"/>
                  </a:lnTo>
                  <a:lnTo>
                    <a:pt x="91678" y="14406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071562" y="5898356"/>
              <a:ext cx="83171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最大风险不是模型能力，而是误报率失控</a:t>
              </a:r>
              <a:r>
                <a:rPr lang="zh-CN" sz="1125" dirty="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——坚守「宁可漏报不可误报」；增量指纹含行号的局限以上下文哈希缓解（P1 备选）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22922" y="6578441"/>
            <a:ext cx="11146155" cy="167640"/>
            <a:chOff x="522922" y="6578441"/>
            <a:chExt cx="11146155" cy="167640"/>
          </a:xfrm>
        </p:grpSpPr>
        <p:sp>
          <p:nvSpPr>
            <p:cNvPr id="70" name="TextBox 70"/>
            <p:cNvSpPr txBox="1"/>
            <p:nvPr/>
          </p:nvSpPr>
          <p:spPr>
            <a:xfrm>
              <a:off x="522922" y="6578441"/>
              <a:ext cx="589018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来源：《ecdet 项目现状介绍与后续改进计划》第 6 章优先级框架与表 8 里程碑；工作量为一人在当前代码基座上的估计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27107" y="6578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C9AA9"/>
                  </a:solidFill>
                  <a:latin typeface="Arial"/>
                  <a:ea typeface="Microsoft YaHei"/>
                  <a:cs typeface="Arial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9" grpId="0"/>
      <p:bldP spid="27" grpId="0"/>
      <p:bldP spid="34" grpId="0"/>
      <p:bldP spid="65" grpId="0"/>
      <p:bldP spid="6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3F6B"/>
              </a:gs>
              <a:gs pos="100000">
                <a:srgbClr val="122A47"/>
              </a:gs>
            </a:gsLst>
            <a:lin ang="2700000" scaled="1"/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-571500" y="-571500"/>
            <a:ext cx="13620750" cy="8382000"/>
            <a:chOff x="-571500" y="-571500"/>
            <a:chExt cx="13620750" cy="8382000"/>
          </a:xfrm>
        </p:grpSpPr>
        <p:sp>
          <p:nvSpPr>
            <p:cNvPr id="3" name="Ellipse 3"/>
            <p:cNvSpPr/>
            <p:nvPr/>
          </p:nvSpPr>
          <p:spPr>
            <a:xfrm>
              <a:off x="-571500" y="-571500"/>
              <a:ext cx="2857500" cy="2857500"/>
            </a:xfrm>
            <a:prstGeom prst="ellipse">
              <a:avLst/>
            </a:prstGeom>
            <a:noFill/>
            <a:ln w="14288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9620250" y="4381500"/>
              <a:ext cx="3429000" cy="3429000"/>
            </a:xfrm>
            <a:prstGeom prst="ellipse">
              <a:avLst/>
            </a:prstGeom>
            <a:noFill/>
            <a:ln w="14288">
              <a:solidFill>
                <a:srgbClr val="FFFFFF">
                  <a:alpha val="5000"/>
                </a:srgbClr>
              </a:solidFill>
            </a:ln>
          </p:spPr>
        </p:sp>
        <p:sp>
          <p:nvSpPr>
            <p:cNvPr id="5" name="Rectangle 5"/>
            <p:cNvSpPr/>
            <p:nvPr/>
          </p:nvSpPr>
          <p:spPr>
            <a:xfrm rot="2700000">
              <a:off x="10668000" y="1143000"/>
              <a:ext cx="171450" cy="171450"/>
            </a:xfrm>
            <a:prstGeom prst="rect">
              <a:avLst/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 rot="2700000">
              <a:off x="1428750" y="5334000"/>
              <a:ext cx="114300" cy="114300"/>
            </a:xfrm>
            <a:prstGeom prst="rect">
              <a:avLst/>
            </a:prstGeom>
            <a:solidFill>
              <a:srgbClr val="7FB0E0">
                <a:alpha val="35000"/>
              </a:srgbClr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876925" y="1220152"/>
            <a:ext cx="393430" cy="494348"/>
            <a:chOff x="5876925" y="1220152"/>
            <a:chExt cx="393430" cy="494348"/>
          </a:xfrm>
        </p:grpSpPr>
        <p:sp>
          <p:nvSpPr>
            <p:cNvPr id="8" name="TextBox 8"/>
            <p:cNvSpPr txBox="1"/>
            <p:nvPr/>
          </p:nvSpPr>
          <p:spPr>
            <a:xfrm>
              <a:off x="5921645" y="122015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结 语</a:t>
              </a:r>
            </a:p>
          </p:txBody>
        </p:sp>
        <p:sp>
          <p:nvSpPr>
            <p:cNvPr id="9" name="Rectangle 9"/>
            <p:cNvSpPr/>
            <p:nvPr/>
          </p:nvSpPr>
          <p:spPr>
            <a:xfrm rot="2700000">
              <a:off x="5876925" y="1504950"/>
              <a:ext cx="152400" cy="152400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 rot="2700000">
              <a:off x="6115050" y="1619250"/>
              <a:ext cx="95250" cy="95250"/>
            </a:xfrm>
            <a:prstGeom prst="rect">
              <a:avLst/>
            </a:prstGeom>
            <a:solidFill>
              <a:srgbClr val="7FB0E0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2230874" y="2041208"/>
            <a:ext cx="7730252" cy="1111567"/>
            <a:chOff x="2230874" y="2041208"/>
            <a:chExt cx="7730252" cy="1111567"/>
          </a:xfrm>
        </p:grpSpPr>
        <p:sp>
          <p:nvSpPr>
            <p:cNvPr id="12" name="TextBox 12"/>
            <p:cNvSpPr txBox="1"/>
            <p:nvPr/>
          </p:nvSpPr>
          <p:spPr>
            <a:xfrm>
              <a:off x="2461396" y="2041208"/>
              <a:ext cx="7269209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骨架完整 · 工程扎实 · 单点深度有限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30874" y="2673668"/>
              <a:ext cx="77302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全链路贯通且有 187 项测试与消融数据支撑；按 P0 → P2 优先级迭代，目标 2027 下半年试点部署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191000" y="314325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14288">
              <a:solidFill>
                <a:srgbClr val="FFFFFF">
                  <a:alpha val="22000"/>
                </a:srgbClr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308735" y="3599498"/>
            <a:ext cx="1438275" cy="1167764"/>
            <a:chOff x="1308735" y="3599498"/>
            <a:chExt cx="1438275" cy="1167764"/>
          </a:xfrm>
        </p:grpSpPr>
        <p:sp>
          <p:nvSpPr>
            <p:cNvPr id="16" name="TextBox 16"/>
            <p:cNvSpPr txBox="1"/>
            <p:nvPr/>
          </p:nvSpPr>
          <p:spPr>
            <a:xfrm>
              <a:off x="1308735" y="3599498"/>
              <a:ext cx="28160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7FB0E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16355" y="40262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选题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20165" y="434435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从规范与场景的真实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20165" y="455390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痛点出发，拿证据说话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975735" y="3599498"/>
            <a:ext cx="1578293" cy="1167764"/>
            <a:chOff x="3975735" y="3599498"/>
            <a:chExt cx="1578293" cy="1167764"/>
          </a:xfrm>
        </p:grpSpPr>
        <p:sp>
          <p:nvSpPr>
            <p:cNvPr id="21" name="TextBox 21"/>
            <p:cNvSpPr txBox="1"/>
            <p:nvPr/>
          </p:nvSpPr>
          <p:spPr>
            <a:xfrm>
              <a:off x="3975735" y="3599498"/>
              <a:ext cx="34986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7FB0E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83355" y="40262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立题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987165" y="434435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标准、引擎、数据、方法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987165" y="455390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都是可复用的开源资源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642735" y="3599498"/>
            <a:ext cx="1298258" cy="1167764"/>
            <a:chOff x="6642735" y="3599498"/>
            <a:chExt cx="1298258" cy="1167764"/>
          </a:xfrm>
        </p:grpSpPr>
        <p:sp>
          <p:nvSpPr>
            <p:cNvPr id="26" name="TextBox 26"/>
            <p:cNvSpPr txBox="1"/>
            <p:nvPr/>
          </p:nvSpPr>
          <p:spPr>
            <a:xfrm>
              <a:off x="6642735" y="3599498"/>
              <a:ext cx="34986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7FB0E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50355" y="40262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实现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54165" y="434435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确定性骨架做骨架，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54165" y="45539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大模型受约束做协同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309735" y="3599498"/>
            <a:ext cx="1718310" cy="1167764"/>
            <a:chOff x="9309735" y="3599498"/>
            <a:chExt cx="1718310" cy="1167764"/>
          </a:xfrm>
        </p:grpSpPr>
        <p:sp>
          <p:nvSpPr>
            <p:cNvPr id="31" name="TextBox 31"/>
            <p:cNvSpPr txBox="1"/>
            <p:nvPr/>
          </p:nvSpPr>
          <p:spPr>
            <a:xfrm>
              <a:off x="9309735" y="3599498"/>
              <a:ext cx="34986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7FB0E0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317355" y="40262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计划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21165" y="434435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差距写成带工作量的清单，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21165" y="45539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用评测数据驱动补齐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560951" y="5425440"/>
            <a:ext cx="3070098" cy="656272"/>
            <a:chOff x="4560951" y="5425440"/>
            <a:chExt cx="3070098" cy="656272"/>
          </a:xfrm>
        </p:grpSpPr>
        <p:sp>
          <p:nvSpPr>
            <p:cNvPr id="36" name="TextBox 36"/>
            <p:cNvSpPr txBox="1"/>
            <p:nvPr/>
          </p:nvSpPr>
          <p:spPr>
            <a:xfrm>
              <a:off x="4560951" y="5425440"/>
              <a:ext cx="307009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谢谢聆听，请老师批评指正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162050" y="5868352"/>
              <a:ext cx="1867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9C3E2"/>
                  </a:solidFill>
                  <a:latin typeface="Arial"/>
                  <a:ea typeface="Microsoft YaHei"/>
                  <a:cs typeface="Arial"/>
                </a:rPr>
                <a:t>ecdet 项目组 · 2026 年 10 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0" grpId="0"/>
      <p:bldP spid="25" grpId="0"/>
      <p:bldP spid="30" grpId="0"/>
      <p:bldP spid="3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