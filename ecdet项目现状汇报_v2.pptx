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3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7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各位老师好，我汇报的项目是嵌入式软件代码缺陷与安全漏洞检测系统，简称 ecdet。本次汇报讲清楚三件事：这个项目是什么、它是怎么设计与实现的、目前做到了哪一步。当前版本 v1.2.0，五层检测流水线全链路贯通，一百八十七项自动化测试全部通过。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汇报分五段。第一段讲项目是什么，给老师一个整体印象；第二段讲它要解决的两个真实问题；第三段是重点，讲系统怎么设计、每个模块怎么实现，包括多智能体协作的现状与目标；第四段用完成度清单、测试和消融数据说明做到什么程度，并准备了两分钟的系统演示；最后讲还差什么、怎么补。右边是项目的基本信息：依据调研与技术方案 V1.2 实施，七个问题域全覆盖，核心运行时零第三方依赖，拷贝即用。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先用一页说清项目是什么。ecdet 的输入是嵌入式工程目录，支持本地路径、压缩包和 Git 仓库三种来源，自动归一成工作区；内核是五层检测流水线：构建复现、静态加动态双通道分析、统一表示、大模型多智能体协同、聚合输出；输出三样东西：标准格式的告警文件、带双口径合规记录的网页报告、以及经过验证的修复补丁。它部署在研发内网的构建机上，拷贝即用、离线可运行，大模型接本地的 vLLM 或 Ollama，数据不出域。当前 v1.2.0，两种使用形态：命令行一条命令跑全流程，或者用 Web 控制台在浏览器里完成注册到修复的闭环。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项目针对两个具体痛点。痛点一，通用静态工具看不懂嵌入式硬件：向只读寄存器写入、中断与任务共享变量的竞争、中断里调用阻塞接口，cppcheck 和 clang-tidy 这类工具要么没有规则要么不认识上下文，检不出就是漏报。痛点二，研判结论不可信：静态工具误报多导致告警疲劳，大模型直接研判又会编造行号、引用不存在的代码。所以我们的差异机会是三条：把硬件语义做成确定性规则、静态锚点优先加幻觉三道闸、再用动态执行实证兜底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设计和实现之前，先交代技术选型。原则是能复用的不重写：静态基线用 cppcheck，六千八百星；规则补强用 clang-tidy；形式化验证用 ESBMC；本地大模型推理用 vLLM 和 Ollama，都是检测到安装就接入、缺装自动降级。页面下方是我们的选型决策：不选大基座二次开发，因为内网环境要求拷贝即用、检测内核本身就是创新点、而且 GPL 引擎用独立进程接入可以规避许可证传染。红色的四行是计划复用但还没完成的：两级仿真载体、Joern 代码属性图和 Juliet 全量成稿。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系统按数据流向分五层。L1 把 Keil、IAR 的闭源工程解析成统一的编译数据库，没有构建信息的工程退化成源码直扫；L3 是双通道，静态侧有三十条规则、抽象解释和硬件语义，动态侧做真实执行验证，外部引擎也是在这一层接入；L2 把所有引擎的告警统一成 SARIF 单一数据模型；L4 是大模型多智能体协同；L5 聚合去重、做双口径映射和可证明性分级。右边是产物列。整套核心是标准库实现零第三方依赖，图例橙色是自研、蓝色是复用。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关键实现第一段讲输入和表示。输入的单位是工程目录，三种来源归一成服务端可访问的工作区；L1 层自研了 Keil 和 IAR 的闭源工程解析器，翻译成等价的 Clang 命令行，产出标准编译数据库；然后内置规则和外部引擎并行分析；最后所有告警统一成 SARIF 单一模型，供研判、聚合和 Web 端消费。这一页复用的是标准和格式，自研的是解析器和归一化管线。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第二段讲静态通道。左边是三十条内置规则的构成，蓝色来自 MISRA 和 CERT 条款，橙色四条硬件语义规则是核心差异：MMIO 误写、中断竞态、volatile 缺失、中断里调阻塞接口并自动提示 FromISR 变体。右边是可证明性三级：抽象解释能证明必然越界才告警，能证明必然在界内干脆不告警，从机制上抑制误报；确定性证据核对通过的是已检出；剩下的疑似告警交给动态通道和大模型继续查证。消融实验证明去掉硬件语义，召回率会从百分之百掉到一半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第三段讲动态通道，一句话：崩溃即实锤。对疑似告警自动生成测试驱动：激励用特殊值表加散列采样，SVD 语义收窄取值域，一次建模静动两用；编译失败自动打桩重编，还不行交给大模型修正器重写，产物必须再过编译验证；判定依据覆盖崩溃退出码、UBSan 和看门狗超时三类，命中就把疑似升级成实锤，测试样本一键重放。执行载体是三级梯度：宿主机原生执行当前可用，下面两档 Unicorn 和 Renode 红色标注，探测就绪但在等固件语料。消融显示动态通道带来三分之一的贡献，同时成本可见可控。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第四段讲大模型协同，原则是大模型只当参谋、不当裁判。分诊管线五步：上下文裁剪、强制 JSON 首判、置信度低于零点六触发本地知识库重判、证据行号核对、结论回写。幻觉抑制有三道闸，输出不可解析、引用行号越界、调用失败，一律降级成待人工复核。修复闭环里补丁必须通过静态重扫和 gcc 语法检查才能采纳，自动模式下验证通过才写入源文件，先备份再迭代收敛。推理接 vLLM 和 Ollama 的 OpenAI 兼容端点，数据不出域，Mock 客户端保证离线可测。消融证明去掉大模型分诊，精确率会掉到一半。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接下来是多智能体协作的现状。ecdet orchestrate 是一个确定性状态机：规划、静态通道、分诊智能体并行扇出、动态通道、监控裁决、修复验证、高危人工复核闸门，最后聚合输出。三个机制保证可控：智能体之间用结构化状态交接，不靠自由文本；分层路由控制成本，轻量告警不进大模型；大模型不拥有最终裁决权。现状有三个局限：分诊提示词没有按领域分工、人工复核结论没有回流、线性状态机不能动态重规划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目标架构是对照一份外部工程化建议书逐条评判后点状吸收的，不推倒重写。红色四块是现状没有、目标要补的：元认知 Critic 校验，引用代码要逐字比对源文件、结论要对照调用图核实，这是 P0；内存安全和实时资源两个领域的专家提示词路由，这是 P1；人工复核反馈回写和大小模型分工，这是 P2。蓝色的都是现状已有，其中并发和硬件两个域我们刻意保留确定性规则，因为可靠性高于大模型审查。右下角也列了两条评估后不采纳的建议和理由。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四句话：问题来自真实工程痛点，我们拿证据说话；标准、引擎、数据、方法都是可复用的开源资源；实现上是确定性骨架加受约束的大模型协同；差距写成了带工作量的清单，用评测数据驱动补齐。项目现在骨架完整、工程扎实、单点深度有限，目标是二七年下半年完成试点部署。谢谢各位老师，请批评指正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13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3F6B"/>
              </a:gs>
              <a:gs pos="100000">
                <a:srgbClr val="122A47"/>
              </a:gs>
            </a:gsLst>
            <a:lin ang="2700000" scaled="1"/>
          </a:gra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-476250" y="-762000"/>
            <a:ext cx="13239750" cy="8362950"/>
            <a:chOff x="-476250" y="-762000"/>
            <a:chExt cx="13239750" cy="8362950"/>
          </a:xfrm>
        </p:grpSpPr>
        <p:sp>
          <p:nvSpPr>
            <p:cNvPr id="3" name="Ellipse 3"/>
            <p:cNvSpPr/>
            <p:nvPr/>
          </p:nvSpPr>
          <p:spPr>
            <a:xfrm>
              <a:off x="9525000" y="-762000"/>
              <a:ext cx="3238500" cy="3238500"/>
            </a:xfrm>
            <a:prstGeom prst="ellipse">
              <a:avLst/>
            </a:prstGeom>
            <a:noFill/>
            <a:ln w="14288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10001250" y="-285750"/>
              <a:ext cx="2286000" cy="2286000"/>
            </a:xfrm>
            <a:prstGeom prst="ellipse">
              <a:avLst/>
            </a:prstGeom>
            <a:noFill/>
            <a:ln w="9525">
              <a:solidFill>
                <a:srgbClr val="FFFFFF">
                  <a:alpha val="5000"/>
                </a:srgb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-476250" y="4743450"/>
              <a:ext cx="2857500" cy="2857500"/>
            </a:xfrm>
            <a:prstGeom prst="ellipse">
              <a:avLst/>
            </a:prstGeom>
            <a:noFill/>
            <a:ln w="14288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-38100" y="5181600"/>
              <a:ext cx="1981200" cy="1981200"/>
            </a:xfrm>
            <a:prstGeom prst="ellipse">
              <a:avLst/>
            </a:pr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7" name="Rectangle 7"/>
            <p:cNvSpPr/>
            <p:nvPr/>
          </p:nvSpPr>
          <p:spPr>
            <a:xfrm rot="2700000">
              <a:off x="1333500" y="1143000"/>
              <a:ext cx="209550" cy="209550"/>
            </a:xfrm>
            <a:prstGeom prst="rect">
              <a:avLst/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 rot="2700000">
              <a:off x="10553700" y="5334000"/>
              <a:ext cx="152400" cy="152400"/>
            </a:xfrm>
            <a:prstGeom prst="rect">
              <a:avLst/>
            </a:prstGeom>
            <a:solidFill>
              <a:srgbClr val="7FB0E0">
                <a:alpha val="35000"/>
              </a:srgbClr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 rot="2700000">
              <a:off x="1714500" y="5524500"/>
              <a:ext cx="114300" cy="114300"/>
            </a:xfrm>
            <a:prstGeom prst="rect">
              <a:avLst/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876925" y="1314450"/>
            <a:ext cx="381000" cy="257175"/>
            <a:chOff x="5876925" y="1314450"/>
            <a:chExt cx="381000" cy="257175"/>
          </a:xfrm>
        </p:grpSpPr>
        <p:sp>
          <p:nvSpPr>
            <p:cNvPr id="11" name="Rectangle 11"/>
            <p:cNvSpPr/>
            <p:nvPr/>
          </p:nvSpPr>
          <p:spPr>
            <a:xfrm rot="2700000">
              <a:off x="5876925" y="1314450"/>
              <a:ext cx="209550" cy="209550"/>
            </a:xfrm>
            <a:prstGeom prst="rect">
              <a:avLst/>
            </a:prstGeom>
            <a:solidFill>
              <a:srgbClr val="FFFFFF">
                <a:alpha val="92000"/>
              </a:srgbClr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 rot="2700000">
              <a:off x="6134100" y="1447800"/>
              <a:ext cx="123825" cy="123825"/>
            </a:xfrm>
            <a:prstGeom prst="rect">
              <a:avLst/>
            </a:prstGeom>
            <a:solidFill>
              <a:srgbClr val="7FB0E0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117919" y="2485072"/>
            <a:ext cx="9956165" cy="1258253"/>
            <a:chOff x="1117919" y="2485072"/>
            <a:chExt cx="9956165" cy="1258253"/>
          </a:xfrm>
        </p:grpSpPr>
        <p:sp>
          <p:nvSpPr>
            <p:cNvPr id="15" name="TextBox 15"/>
            <p:cNvSpPr txBox="1"/>
            <p:nvPr/>
          </p:nvSpPr>
          <p:spPr>
            <a:xfrm>
              <a:off x="1117919" y="2485072"/>
              <a:ext cx="9956165" cy="530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4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嵌入式软件代码缺陷与安全漏洞检测系统</a:t>
              </a:r>
              <a:r>
                <a:rPr lang="en-US" altLang="zh-CN" sz="34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——E</a:t>
              </a:r>
              <a:r>
                <a:rPr lang="en-US" altLang="zh-CN" sz="34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cdet</a:t>
              </a:r>
              <a:endParaRPr lang="en-US" altLang="zh-CN" sz="34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29777" y="3174682"/>
              <a:ext cx="433244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A9C3E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ecdet 项目汇报：内容 · 设计 · 实现 · 进展</a:t>
              </a:r>
              <a:endParaRPr lang="zh-CN" sz="1650" dirty="0">
                <a:solidFill>
                  <a:srgbClr val="A9C3E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Line 17"/>
            <p:cNvSpPr/>
            <p:nvPr/>
          </p:nvSpPr>
          <p:spPr>
            <a:xfrm>
              <a:off x="4476750" y="37338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14288">
              <a:solidFill>
                <a:srgbClr val="FFFFFF">
                  <a:alpha val="22000"/>
                </a:srgbClr>
              </a:solidFill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3823653" y="5696585"/>
            <a:ext cx="4544695" cy="4305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00" dirty="0">
                <a:solidFill>
                  <a:srgbClr val="A9C3E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ecdet 项目组 · 2026 年 10 月</a:t>
            </a:r>
            <a:endParaRPr lang="zh-CN" sz="2800" dirty="0">
              <a:solidFill>
                <a:srgbClr val="A9C3E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12065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495300"/>
            <a:ext cx="11135677" cy="671512"/>
            <a:chOff x="533400" y="495300"/>
            <a:chExt cx="11135677" cy="671512"/>
          </a:xfrm>
        </p:grpSpPr>
        <p:sp>
          <p:nvSpPr>
            <p:cNvPr id="3" name="Rectangle 3"/>
            <p:cNvSpPr/>
            <p:nvPr/>
          </p:nvSpPr>
          <p:spPr>
            <a:xfrm rot="2700000">
              <a:off x="552450" y="495300"/>
              <a:ext cx="161925" cy="161925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 rot="2700000">
              <a:off x="704850" y="590550"/>
              <a:ext cx="95250" cy="95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9168" y="52339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汇报提纲</a:t>
              </a:r>
              <a:endParaRPr lang="zh-CN" sz="97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709612"/>
              <a:ext cx="541281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汇报提纲：项目是什么，做到了哪一步</a:t>
              </a:r>
              <a:endParaRPr lang="zh-CN" sz="225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38821" y="53959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ecdet · 嵌入式软件代码缺陷与安全漏洞检测系统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85850"/>
              <a:ext cx="13335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4350" y="1323975"/>
            <a:ext cx="5597525" cy="230505"/>
            <a:chOff x="514350" y="1323975"/>
            <a:chExt cx="5597525" cy="230505"/>
          </a:xfrm>
        </p:grpSpPr>
        <p:sp>
          <p:nvSpPr>
            <p:cNvPr id="11" name="TextBox 11"/>
            <p:cNvSpPr txBox="1"/>
            <p:nvPr/>
          </p:nvSpPr>
          <p:spPr>
            <a:xfrm>
              <a:off x="514350" y="1323975"/>
              <a:ext cx="559752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按</a:t>
              </a:r>
              <a:r>
                <a:rPr lang="zh-CN" sz="150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「项目是什么 → 要解决什么问题 → 怎么设计与实现 」</a:t>
              </a:r>
              <a:r>
                <a:rPr lang="zh-CN" sz="1500" b="1" dirty="0">
                  <a:solidFill>
                    <a:schemeClr val="tx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</a:t>
              </a:r>
              <a:r>
                <a:rPr lang="zh-CN" sz="150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段展开</a:t>
              </a:r>
              <a:endParaRPr lang="zh-CN" sz="150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33400" y="2390140"/>
            <a:ext cx="7048500" cy="762000"/>
            <a:chOff x="533400" y="1714500"/>
            <a:chExt cx="7048500" cy="762000"/>
          </a:xfrm>
        </p:grpSpPr>
        <p:sp>
          <p:nvSpPr>
            <p:cNvPr id="13" name="Rectangle 13"/>
            <p:cNvSpPr/>
            <p:nvPr/>
          </p:nvSpPr>
          <p:spPr>
            <a:xfrm>
              <a:off x="533400" y="1714500"/>
              <a:ext cx="70485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1714500"/>
              <a:ext cx="47625" cy="762000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3435" y="1980248"/>
              <a:ext cx="28160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01</a:t>
              </a:r>
              <a:endParaRPr lang="zh-CN" sz="1950" b="1" dirty="0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11605" y="18735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项目是什么</a:t>
              </a:r>
              <a:endParaRPr lang="zh-CN" sz="135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15415" y="2172652"/>
              <a:ext cx="40871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一句话定位 · 输入输出形态 · 当前版本状态（CLI + Web 控制台）</a:t>
              </a:r>
              <a:endParaRPr lang="zh-CN" sz="105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33400" y="3247390"/>
            <a:ext cx="7048500" cy="762000"/>
            <a:chOff x="533400" y="2571750"/>
            <a:chExt cx="7048500" cy="762000"/>
          </a:xfrm>
        </p:grpSpPr>
        <p:sp>
          <p:nvSpPr>
            <p:cNvPr id="19" name="Rectangle 19"/>
            <p:cNvSpPr/>
            <p:nvPr/>
          </p:nvSpPr>
          <p:spPr>
            <a:xfrm>
              <a:off x="533400" y="2571750"/>
              <a:ext cx="70485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571750"/>
              <a:ext cx="47625" cy="762000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3435" y="2837498"/>
              <a:ext cx="34986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</a:t>
              </a:r>
              <a:endParaRPr lang="zh-CN" sz="1950" b="1" dirty="0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11605" y="273081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要解决什么问题</a:t>
              </a:r>
              <a:endParaRPr lang="zh-CN" sz="135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15415" y="3029902"/>
              <a:ext cx="43812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通用工具「看不懂硬件」、研判结论「不可信」——两个痛点与差异机会</a:t>
              </a:r>
              <a:endParaRPr lang="zh-CN" sz="105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33400" y="4104640"/>
            <a:ext cx="7048500" cy="762000"/>
            <a:chOff x="533400" y="3429000"/>
            <a:chExt cx="7048500" cy="762000"/>
          </a:xfrm>
        </p:grpSpPr>
        <p:sp>
          <p:nvSpPr>
            <p:cNvPr id="25" name="Rectangle 25"/>
            <p:cNvSpPr/>
            <p:nvPr/>
          </p:nvSpPr>
          <p:spPr>
            <a:xfrm>
              <a:off x="533400" y="3429000"/>
              <a:ext cx="70485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429000"/>
              <a:ext cx="47625" cy="762000"/>
            </a:xfrm>
            <a:prstGeom prst="roundRect">
              <a:avLst>
                <a:gd name="adj" fmla="val 50000"/>
              </a:avLst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13435" y="3694748"/>
              <a:ext cx="34986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</a:t>
              </a:r>
              <a:endParaRPr lang="zh-CN" sz="195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11605" y="3588068"/>
              <a:ext cx="29263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怎么设计与实现 </a:t>
              </a:r>
              <a:r>
                <a:rPr lang="zh-CN" sz="975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（本次汇报重点）</a:t>
              </a:r>
              <a:endParaRPr lang="zh-CN" sz="975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15415" y="3887152"/>
              <a:ext cx="48712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七个能力域 → 五层架构 · 技术选型 · 四个关键实现 · 多智能体协作现状与目标</a:t>
              </a:r>
              <a:endParaRPr lang="zh-CN" sz="105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810500" y="1714500"/>
            <a:ext cx="3848100" cy="4191000"/>
            <a:chOff x="7810500" y="1714500"/>
            <a:chExt cx="3848100" cy="4191000"/>
          </a:xfrm>
        </p:grpSpPr>
        <p:sp>
          <p:nvSpPr>
            <p:cNvPr id="43" name="Rectangle 43"/>
            <p:cNvSpPr/>
            <p:nvPr/>
          </p:nvSpPr>
          <p:spPr>
            <a:xfrm>
              <a:off x="7810500" y="1714500"/>
              <a:ext cx="3848100" cy="4191000"/>
            </a:xfrm>
            <a:prstGeom prst="roundRect">
              <a:avLst>
                <a:gd name="adj" fmla="val 198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810500" y="1714500"/>
              <a:ext cx="47625" cy="4191000"/>
            </a:xfrm>
            <a:prstGeom prst="roundRect">
              <a:avLst>
                <a:gd name="adj" fmla="val 50000"/>
              </a:avLst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061008" y="1900714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项目信息卡</a:t>
              </a:r>
              <a:endParaRPr lang="zh-CN" sz="1275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64818" y="2275999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定位</a:t>
              </a:r>
              <a:endParaRPr lang="zh-CN" sz="975" b="1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064341" y="2471976"/>
              <a:ext cx="1801189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面向汽车电子 / 工控的嵌入式</a:t>
              </a:r>
              <a:endParaRPr lang="zh-CN" sz="101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064341" y="2652951"/>
              <a:ext cx="16526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C/C++ 缺陷与漏洞检测系统</a:t>
              </a:r>
              <a:endParaRPr lang="zh-CN" sz="101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64818" y="2980849"/>
              <a:ext cx="7278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依据 / 版本</a:t>
              </a:r>
              <a:endParaRPr lang="zh-CN" sz="975" b="1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064341" y="3176826"/>
              <a:ext cx="221299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调研与技术方案 V1.2 · P1–P7 全覆盖</a:t>
              </a:r>
              <a:endParaRPr lang="zh-CN" sz="101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64341" y="3357801"/>
              <a:ext cx="2158984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v1.2.0（2026-10，13 个版本节点）</a:t>
              </a:r>
              <a:endParaRPr lang="zh-CN" sz="101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064818" y="3685699"/>
              <a:ext cx="7278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规模 / 测试</a:t>
              </a:r>
              <a:endParaRPr lang="zh-CN" sz="975" b="1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64341" y="3881676"/>
              <a:ext cx="2118479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Python ≈ 9600 行 + 前端 ≈ 1705 行</a:t>
              </a:r>
              <a:endParaRPr lang="zh-CN" sz="101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064341" y="4062651"/>
              <a:ext cx="1915954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16 个测试文件 · </a:t>
              </a:r>
              <a:r>
                <a:rPr lang="zh-CN" sz="101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187 项全部通过</a:t>
              </a:r>
              <a:endParaRPr lang="zh-CN" sz="1010" b="1" dirty="0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064818" y="4390549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依赖</a:t>
              </a:r>
              <a:endParaRPr lang="zh-CN" sz="975" b="1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64341" y="4586526"/>
              <a:ext cx="164592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核心运行时</a:t>
              </a:r>
              <a:r>
                <a:rPr lang="zh-CN" sz="101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零第三方依赖</a:t>
              </a:r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</a:t>
              </a:r>
              <a:endParaRPr lang="zh-CN" sz="101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064341" y="4767501"/>
              <a:ext cx="253703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拷贝即用、离线可运行（开发仅 pytest）</a:t>
              </a:r>
              <a:endParaRPr lang="zh-CN" sz="101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8" name="Line 58"/>
            <p:cNvSpPr/>
            <p:nvPr/>
          </p:nvSpPr>
          <p:spPr>
            <a:xfrm>
              <a:off x="8077200" y="5105400"/>
              <a:ext cx="3314700" cy="9525"/>
            </a:xfrm>
            <a:custGeom>
              <a:avLst/>
              <a:gdLst/>
              <a:ahLst/>
              <a:cxnLst/>
              <a:rect l="l" t="t" r="r" b="b"/>
              <a:pathLst>
                <a:path w="3314700" h="9525">
                  <a:moveTo>
                    <a:pt x="0" y="0"/>
                  </a:moveTo>
                  <a:lnTo>
                    <a:pt x="3314700" y="0"/>
                  </a:lnTo>
                </a:path>
              </a:pathLst>
            </a:custGeom>
            <a:noFill/>
            <a:ln w="9525">
              <a:solidFill>
                <a:srgbClr val="D8E0E9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064818" y="5266849"/>
              <a:ext cx="21960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开源引擎（cppcheck 等）检测到安装</a:t>
              </a:r>
              <a:endParaRPr lang="zh-CN" sz="975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064818" y="545734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即接入，缺装自动降级、不构成硬依赖</a:t>
              </a:r>
              <a:endParaRPr lang="zh-CN" sz="975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21970" y="6570345"/>
            <a:ext cx="11147107" cy="182880"/>
            <a:chOff x="521970" y="6570345"/>
            <a:chExt cx="11147107" cy="182880"/>
          </a:xfrm>
        </p:grpSpPr>
        <p:sp>
          <p:nvSpPr>
            <p:cNvPr id="62" name="TextBox 62"/>
            <p:cNvSpPr txBox="1"/>
            <p:nvPr/>
          </p:nvSpPr>
          <p:spPr>
            <a:xfrm>
              <a:off x="521970" y="6570345"/>
              <a:ext cx="37853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图例：</a:t>
              </a:r>
              <a:r>
                <a:rPr lang="zh-CN" sz="90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蓝 = 复用 / 已完成</a:t>
              </a:r>
              <a:r>
                <a:rPr lang="zh-CN" sz="90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</a:t>
              </a:r>
              <a:r>
                <a:rPr lang="zh-CN" sz="900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橙 = 自研</a:t>
              </a:r>
              <a:r>
                <a:rPr lang="zh-CN" sz="90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</a:t>
              </a:r>
              <a:r>
                <a:rPr lang="zh-CN" sz="90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红 = 未完成 / 待补充</a:t>
              </a:r>
              <a:r>
                <a:rPr lang="zh-CN" sz="90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（全片一致）</a:t>
              </a:r>
              <a:endParaRPr lang="zh-CN" sz="90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4" grpId="0"/>
      <p:bldP spid="30" grpId="0"/>
      <p:bldP spid="6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495300"/>
            <a:ext cx="11135677" cy="671512"/>
            <a:chOff x="533400" y="495300"/>
            <a:chExt cx="11135677" cy="671512"/>
          </a:xfrm>
        </p:grpSpPr>
        <p:sp>
          <p:nvSpPr>
            <p:cNvPr id="3" name="Rectangle 3"/>
            <p:cNvSpPr/>
            <p:nvPr/>
          </p:nvSpPr>
          <p:spPr>
            <a:xfrm rot="2700000">
              <a:off x="552450" y="495300"/>
              <a:ext cx="161925" cy="161925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 rot="2700000">
              <a:off x="704850" y="590550"/>
              <a:ext cx="95250" cy="95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9168" y="52339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01 · 项目是什么</a:t>
              </a:r>
              <a:endParaRPr lang="zh-CN" sz="97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709612"/>
              <a:ext cx="730305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项目是什么：部署在研发内网的嵌入式代码检测系统</a:t>
              </a:r>
              <a:endParaRPr lang="zh-CN" sz="225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38821" y="53959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ecdet · 嵌入式软件代码缺陷与安全漏洞检测系统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85850"/>
              <a:ext cx="13335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4350" y="1323975"/>
            <a:ext cx="9059228" cy="304800"/>
            <a:chOff x="514350" y="1323975"/>
            <a:chExt cx="9059228" cy="304800"/>
          </a:xfrm>
        </p:grpSpPr>
        <p:sp>
          <p:nvSpPr>
            <p:cNvPr id="11" name="TextBox 11"/>
            <p:cNvSpPr txBox="1"/>
            <p:nvPr/>
          </p:nvSpPr>
          <p:spPr>
            <a:xfrm>
              <a:off x="514350" y="1323975"/>
              <a:ext cx="905922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一句话定位：输入嵌入式工程目录，输出</a:t>
              </a:r>
              <a:r>
                <a:rPr lang="zh-CN" sz="150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可证明的告警、合规报告与修复补丁</a:t>
              </a:r>
              <a:r>
                <a:rPr lang="zh-CN" sz="150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——拷贝即用、离线可运行</a:t>
              </a:r>
              <a:endParaRPr lang="zh-CN" sz="150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3400" y="1771650"/>
            <a:ext cx="2857500" cy="2400300"/>
            <a:chOff x="533400" y="1771650"/>
            <a:chExt cx="2857500" cy="2400300"/>
          </a:xfrm>
        </p:grpSpPr>
        <p:sp>
          <p:nvSpPr>
            <p:cNvPr id="13" name="Rectangle 13"/>
            <p:cNvSpPr/>
            <p:nvPr/>
          </p:nvSpPr>
          <p:spPr>
            <a:xfrm>
              <a:off x="533400" y="1771650"/>
              <a:ext cx="2857500" cy="2400300"/>
            </a:xfrm>
            <a:prstGeom prst="roundRect">
              <a:avLst>
                <a:gd name="adj" fmla="val 3968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1771650"/>
              <a:ext cx="2857500" cy="438150"/>
            </a:xfrm>
            <a:prstGeom prst="roundRect">
              <a:avLst>
                <a:gd name="adj" fmla="val 21739"/>
              </a:avLst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076450"/>
              <a:ext cx="2857500" cy="13335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94203" y="1927860"/>
              <a:ext cx="17358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输入 · 嵌入式工程目录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23900" y="2381250"/>
              <a:ext cx="2476500" cy="4191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3918" y="24474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本地路径</a:t>
              </a:r>
              <a:endParaRPr lang="zh-CN" sz="975" b="1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5346" y="2631043"/>
              <a:ext cx="1764375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零拷贝直引，支持重复 / 增量扫描</a:t>
              </a:r>
              <a:endParaRPr lang="zh-CN" sz="86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23900" y="2895600"/>
              <a:ext cx="2476500" cy="4191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3918" y="2961799"/>
              <a:ext cx="7073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上传压缩包</a:t>
              </a:r>
              <a:endParaRPr lang="zh-CN" sz="975" b="1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5346" y="3145393"/>
              <a:ext cx="1614857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zip / tar.gz，解压防路径逃逸</a:t>
              </a:r>
              <a:endParaRPr lang="zh-CN" sz="86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23900" y="3409950"/>
              <a:ext cx="2476500" cy="4191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3918" y="3476149"/>
              <a:ext cx="5298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Git 仓库</a:t>
              </a:r>
              <a:endParaRPr lang="zh-CN" sz="975" b="1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5346" y="3659743"/>
              <a:ext cx="1752874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浅克隆入工作区，私有库带 token</a:t>
              </a:r>
              <a:endParaRPr lang="zh-CN" sz="86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10615" y="3960495"/>
              <a:ext cx="17030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三种来源统一归一为工作区目录</a:t>
              </a:r>
              <a:endParaRPr lang="zh-CN" sz="900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191000" y="1771650"/>
            <a:ext cx="4000500" cy="2400300"/>
            <a:chOff x="4191000" y="1771650"/>
            <a:chExt cx="4000500" cy="2400300"/>
          </a:xfrm>
        </p:grpSpPr>
        <p:sp>
          <p:nvSpPr>
            <p:cNvPr id="28" name="Rectangle 28"/>
            <p:cNvSpPr/>
            <p:nvPr/>
          </p:nvSpPr>
          <p:spPr>
            <a:xfrm>
              <a:off x="4191000" y="1771650"/>
              <a:ext cx="4000500" cy="2400300"/>
            </a:xfrm>
            <a:prstGeom prst="roundRect">
              <a:avLst>
                <a:gd name="adj" fmla="val 3968"/>
              </a:avLst>
            </a:prstGeom>
            <a:solidFill>
              <a:srgbClr val="EAF1F8"/>
            </a:solidFill>
            <a:ln w="14288">
              <a:solidFill>
                <a:srgbClr val="0070C0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191000" y="1771650"/>
              <a:ext cx="4000500" cy="438150"/>
            </a:xfrm>
            <a:prstGeom prst="roundRect">
              <a:avLst>
                <a:gd name="adj" fmla="val 21739"/>
              </a:avLst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191000" y="2076450"/>
              <a:ext cx="4000500" cy="1333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067071" y="1927860"/>
              <a:ext cx="22483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ecdet 检测内核 · 五层流水线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400550" y="2381250"/>
              <a:ext cx="3581400" cy="28575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541044" y="2470547"/>
              <a:ext cx="238035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L1</a:t>
              </a:r>
              <a:r>
                <a:rPr lang="zh-CN" sz="94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构建复现：Keil / IAR 工程 → 编译数据库</a:t>
              </a:r>
              <a:endParaRPr lang="zh-CN" sz="94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400550" y="2724150"/>
              <a:ext cx="3581400" cy="28575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541044" y="2813447"/>
              <a:ext cx="294917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L3</a:t>
              </a:r>
              <a:r>
                <a:rPr lang="zh-CN" sz="94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双通道：静态 30 规则 + 硬件语义 · 动态执行验证</a:t>
              </a:r>
              <a:endParaRPr lang="zh-CN" sz="94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400550" y="3067050"/>
              <a:ext cx="3581400" cy="28575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541044" y="3156347"/>
              <a:ext cx="271164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L2</a:t>
              </a:r>
              <a:r>
                <a:rPr lang="zh-CN" sz="94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统一表示：多引擎告警归一为 SARIF 单一模型</a:t>
              </a:r>
              <a:endParaRPr lang="zh-CN" sz="94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400550" y="3409950"/>
              <a:ext cx="3581400" cy="28575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541044" y="3499247"/>
              <a:ext cx="273665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L4</a:t>
              </a:r>
              <a:r>
                <a:rPr lang="zh-CN" sz="94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多智能体：告警研判 · 修复验证 · 幻觉三道闸</a:t>
              </a:r>
              <a:endParaRPr lang="zh-CN" sz="94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400550" y="3752850"/>
              <a:ext cx="3581400" cy="28575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541044" y="3842147"/>
              <a:ext cx="302418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L5</a:t>
              </a:r>
              <a:r>
                <a:rPr lang="zh-CN" sz="94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聚合输出：去重 · CWE↔MISRA↔GJB · 可证明性分级</a:t>
              </a:r>
              <a:endParaRPr lang="zh-CN" sz="94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991600" y="1771650"/>
            <a:ext cx="2667000" cy="2400300"/>
            <a:chOff x="8991600" y="1771650"/>
            <a:chExt cx="2667000" cy="2400300"/>
          </a:xfrm>
        </p:grpSpPr>
        <p:sp>
          <p:nvSpPr>
            <p:cNvPr id="43" name="Rectangle 43"/>
            <p:cNvSpPr/>
            <p:nvPr/>
          </p:nvSpPr>
          <p:spPr>
            <a:xfrm>
              <a:off x="8991600" y="1771650"/>
              <a:ext cx="2667000" cy="2400300"/>
            </a:xfrm>
            <a:prstGeom prst="roundRect">
              <a:avLst>
                <a:gd name="adj" fmla="val 3968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991600" y="1771650"/>
              <a:ext cx="2667000" cy="438150"/>
            </a:xfrm>
            <a:prstGeom prst="roundRect">
              <a:avLst>
                <a:gd name="adj" fmla="val 21739"/>
              </a:avLst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8991600" y="2076450"/>
              <a:ext cx="2667000" cy="13335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709185" y="1927860"/>
              <a:ext cx="12318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 · 三类产物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182100" y="2381250"/>
              <a:ext cx="2286000" cy="4191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322594" y="2451497"/>
              <a:ext cx="89673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33333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results.sarif</a:t>
              </a:r>
              <a:endParaRPr lang="zh-CN" sz="940" b="1" dirty="0">
                <a:solidFill>
                  <a:srgbClr val="33333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23546" y="2631043"/>
              <a:ext cx="1568851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标准告警 + 证据链 + LLM 结论</a:t>
              </a:r>
              <a:endParaRPr lang="zh-CN" sz="86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182100" y="2895600"/>
              <a:ext cx="2286000" cy="4191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322594" y="2965847"/>
              <a:ext cx="81141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33333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report.html</a:t>
              </a:r>
              <a:endParaRPr lang="zh-CN" sz="940" b="1" dirty="0">
                <a:solidFill>
                  <a:srgbClr val="33333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323546" y="3145393"/>
              <a:ext cx="1724120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合规报告（MISRA / GJB 双口径）</a:t>
              </a:r>
              <a:endParaRPr lang="zh-CN" sz="86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182100" y="3409950"/>
              <a:ext cx="2286000" cy="4191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322594" y="3480197"/>
              <a:ext cx="92955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33333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fixes/*.patch</a:t>
              </a:r>
              <a:endParaRPr lang="zh-CN" sz="940" b="1" dirty="0">
                <a:solidFill>
                  <a:srgbClr val="33333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323546" y="3659743"/>
              <a:ext cx="1298567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经验证补丁 + 可复现 PoC</a:t>
              </a:r>
              <a:endParaRPr lang="zh-CN" sz="86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73565" y="3960495"/>
              <a:ext cx="17030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标准格式，可接入任意下游工具</a:t>
              </a:r>
              <a:endParaRPr lang="zh-CN" sz="900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3467100" y="2828925"/>
            <a:ext cx="5124450" cy="247650"/>
            <a:chOff x="3467100" y="2828925"/>
            <a:chExt cx="5124450" cy="247650"/>
          </a:xfrm>
        </p:grpSpPr>
        <p:sp>
          <p:nvSpPr>
            <p:cNvPr id="58" name="Freeform 58"/>
            <p:cNvSpPr/>
            <p:nvPr/>
          </p:nvSpPr>
          <p:spPr>
            <a:xfrm>
              <a:off x="3467100" y="2828925"/>
              <a:ext cx="323850" cy="247650"/>
            </a:xfrm>
            <a:custGeom>
              <a:avLst/>
              <a:gdLst/>
              <a:ahLst/>
              <a:cxnLst/>
              <a:rect l="l" t="t" r="r" b="b"/>
              <a:pathLst>
                <a:path w="323850" h="247650">
                  <a:moveTo>
                    <a:pt x="0" y="85725"/>
                  </a:moveTo>
                  <a:lnTo>
                    <a:pt x="152400" y="85725"/>
                  </a:lnTo>
                  <a:lnTo>
                    <a:pt x="152400" y="0"/>
                  </a:lnTo>
                  <a:lnTo>
                    <a:pt x="323850" y="123825"/>
                  </a:lnTo>
                  <a:lnTo>
                    <a:pt x="152400" y="247650"/>
                  </a:lnTo>
                  <a:lnTo>
                    <a:pt x="152400" y="161925"/>
                  </a:lnTo>
                  <a:lnTo>
                    <a:pt x="0" y="16192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8267700" y="2828925"/>
              <a:ext cx="323850" cy="247650"/>
            </a:xfrm>
            <a:custGeom>
              <a:avLst/>
              <a:gdLst/>
              <a:ahLst/>
              <a:cxnLst/>
              <a:rect l="l" t="t" r="r" b="b"/>
              <a:pathLst>
                <a:path w="323850" h="247650">
                  <a:moveTo>
                    <a:pt x="0" y="85725"/>
                  </a:moveTo>
                  <a:lnTo>
                    <a:pt x="152400" y="85725"/>
                  </a:lnTo>
                  <a:lnTo>
                    <a:pt x="152400" y="0"/>
                  </a:lnTo>
                  <a:lnTo>
                    <a:pt x="323850" y="123825"/>
                  </a:lnTo>
                  <a:lnTo>
                    <a:pt x="152400" y="247650"/>
                  </a:lnTo>
                  <a:lnTo>
                    <a:pt x="152400" y="161925"/>
                  </a:lnTo>
                  <a:lnTo>
                    <a:pt x="0" y="16192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533400" y="4476750"/>
            <a:ext cx="3543300" cy="1238250"/>
            <a:chOff x="533400" y="4476750"/>
            <a:chExt cx="3543300" cy="1238250"/>
          </a:xfrm>
        </p:grpSpPr>
        <p:sp>
          <p:nvSpPr>
            <p:cNvPr id="61" name="Rectangle 61"/>
            <p:cNvSpPr/>
            <p:nvPr/>
          </p:nvSpPr>
          <p:spPr>
            <a:xfrm>
              <a:off x="533400" y="4476750"/>
              <a:ext cx="3543300" cy="123825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533400" y="4476750"/>
              <a:ext cx="3543300" cy="47625"/>
            </a:xfrm>
            <a:prstGeom prst="roundRect">
              <a:avLst>
                <a:gd name="adj" fmla="val 50000"/>
              </a:avLst>
            </a:prstGeom>
            <a:solidFill>
              <a:srgbClr val="17375E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811426" y="4738110"/>
              <a:ext cx="202988" cy="181553"/>
              <a:chOff x="811426" y="4738110"/>
              <a:chExt cx="202988" cy="18155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11426" y="4738110"/>
                <a:ext cx="101746" cy="163080"/>
              </a:xfrm>
              <a:custGeom>
                <a:avLst/>
                <a:gdLst/>
                <a:ahLst/>
                <a:cxnLst/>
                <a:rect l="l" t="t" r="r" b="b"/>
                <a:pathLst>
                  <a:path w="101746" h="163080">
                    <a:moveTo>
                      <a:pt x="0" y="142875"/>
                    </a:moveTo>
                    <a:lnTo>
                      <a:pt x="61335" y="81540"/>
                    </a:lnTo>
                    <a:lnTo>
                      <a:pt x="0" y="20206"/>
                    </a:lnTo>
                    <a:lnTo>
                      <a:pt x="20206" y="0"/>
                    </a:lnTo>
                    <a:lnTo>
                      <a:pt x="101746" y="81540"/>
                    </a:lnTo>
                    <a:lnTo>
                      <a:pt x="20206" y="163080"/>
                    </a:lnTo>
                    <a:lnTo>
                      <a:pt x="0" y="142875"/>
                    </a:lnTo>
                    <a:close/>
                  </a:path>
                </a:pathLst>
              </a:custGeom>
              <a:solidFill>
                <a:srgbClr val="17375E"/>
              </a:solidFill>
              <a:ln>
                <a:noFill/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900113" y="4891088"/>
                <a:ext cx="114301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14301" h="28575">
                    <a:moveTo>
                      <a:pt x="0" y="28575"/>
                    </a:moveTo>
                    <a:lnTo>
                      <a:pt x="114301" y="28575"/>
                    </a:lnTo>
                    <a:lnTo>
                      <a:pt x="114301" y="0"/>
                    </a:lnTo>
                    <a:lnTo>
                      <a:pt x="0" y="0"/>
                    </a:lnTo>
                    <a:lnTo>
                      <a:pt x="0" y="28575"/>
                    </a:lnTo>
                    <a:close/>
                  </a:path>
                </a:pathLst>
              </a:custGeom>
              <a:solidFill>
                <a:srgbClr val="17375E"/>
              </a:solidFill>
              <a:ln>
                <a:noFill/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127760" y="47472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两种使用形态</a:t>
              </a:r>
              <a:endParaRPr lang="zh-CN" sz="120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87241" y="5091351"/>
              <a:ext cx="301634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CLI：</a:t>
              </a:r>
              <a:r>
                <a:rPr lang="zh-CN" sz="1010" dirty="0">
                  <a:solidFill>
                    <a:srgbClr val="33333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ecdet scan / orchestrate</a:t>
              </a:r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一条命令全流程</a:t>
              </a:r>
              <a:endParaRPr lang="zh-CN" sz="101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87241" y="5358051"/>
              <a:ext cx="2672048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Web 控制台：注册工程 → 扫描 → 复核 → 修复</a:t>
              </a:r>
              <a:endParaRPr lang="zh-CN" sz="101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4324350" y="4476750"/>
            <a:ext cx="3543300" cy="1238250"/>
            <a:chOff x="4324350" y="4476750"/>
            <a:chExt cx="3543300" cy="1238250"/>
          </a:xfrm>
        </p:grpSpPr>
        <p:sp>
          <p:nvSpPr>
            <p:cNvPr id="70" name="Rectangle 70"/>
            <p:cNvSpPr/>
            <p:nvPr/>
          </p:nvSpPr>
          <p:spPr>
            <a:xfrm>
              <a:off x="4324350" y="4476750"/>
              <a:ext cx="3543300" cy="123825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4324350" y="4476750"/>
              <a:ext cx="3543300" cy="47625"/>
            </a:xfrm>
            <a:prstGeom prst="roundRect">
              <a:avLst>
                <a:gd name="adj" fmla="val 50000"/>
              </a:avLst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72" name="Freeform 72"/>
            <p:cNvSpPr/>
            <p:nvPr/>
          </p:nvSpPr>
          <p:spPr>
            <a:xfrm>
              <a:off x="4605338" y="4705350"/>
              <a:ext cx="200025" cy="228600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100012" y="228600"/>
                  </a:moveTo>
                  <a:lnTo>
                    <a:pt x="47864" y="191351"/>
                  </a:lnTo>
                  <a:cubicBezTo>
                    <a:pt x="17827" y="169896"/>
                    <a:pt x="0" y="135255"/>
                    <a:pt x="0" y="98342"/>
                  </a:cubicBezTo>
                  <a:lnTo>
                    <a:pt x="0" y="42862"/>
                  </a:lnTo>
                  <a:lnTo>
                    <a:pt x="100012" y="0"/>
                  </a:lnTo>
                  <a:lnTo>
                    <a:pt x="200025" y="42862"/>
                  </a:lnTo>
                  <a:lnTo>
                    <a:pt x="200025" y="98342"/>
                  </a:lnTo>
                  <a:cubicBezTo>
                    <a:pt x="200025" y="135255"/>
                    <a:pt x="182198" y="169896"/>
                    <a:pt x="152160" y="191351"/>
                  </a:cubicBezTo>
                  <a:lnTo>
                    <a:pt x="100012" y="228600"/>
                  </a:lnTo>
                  <a:close/>
                  <a:moveTo>
                    <a:pt x="160121" y="81540"/>
                  </a:moveTo>
                  <a:lnTo>
                    <a:pt x="139916" y="61335"/>
                  </a:lnTo>
                  <a:lnTo>
                    <a:pt x="85725" y="115526"/>
                  </a:lnTo>
                  <a:lnTo>
                    <a:pt x="60109" y="89910"/>
                  </a:lnTo>
                  <a:lnTo>
                    <a:pt x="39903" y="110115"/>
                  </a:lnTo>
                  <a:lnTo>
                    <a:pt x="85725" y="155937"/>
                  </a:lnTo>
                  <a:lnTo>
                    <a:pt x="160121" y="81540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4918710" y="47472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部署形态</a:t>
              </a:r>
              <a:endParaRPr lang="zh-CN" sz="120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578191" y="5091351"/>
              <a:ext cx="2321004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内网隔离环境的构建机工具，</a:t>
              </a:r>
              <a:r>
                <a:rPr lang="zh-CN" sz="101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拷贝即用</a:t>
              </a:r>
              <a:endParaRPr lang="zh-CN" sz="1010" b="1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578191" y="5358051"/>
              <a:ext cx="2597789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大模型接本地 vLLM / Ollama，</a:t>
              </a:r>
              <a:r>
                <a:rPr lang="zh-CN" sz="101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数据不出域</a:t>
              </a:r>
              <a:endParaRPr lang="zh-CN" sz="1010" b="1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8115300" y="4476750"/>
            <a:ext cx="3543300" cy="1238250"/>
            <a:chOff x="8115300" y="4476750"/>
            <a:chExt cx="3543300" cy="1238250"/>
          </a:xfrm>
        </p:grpSpPr>
        <p:sp>
          <p:nvSpPr>
            <p:cNvPr id="77" name="Rectangle 77"/>
            <p:cNvSpPr/>
            <p:nvPr/>
          </p:nvSpPr>
          <p:spPr>
            <a:xfrm>
              <a:off x="8115300" y="4476750"/>
              <a:ext cx="3543300" cy="1238250"/>
            </a:xfrm>
            <a:prstGeom prst="roundRect">
              <a:avLst>
                <a:gd name="adj" fmla="val 7692"/>
              </a:avLst>
            </a:prstGeom>
            <a:solidFill>
              <a:srgbClr val="EAF1F8"/>
            </a:solidFill>
            <a:ln w="14288">
              <a:solidFill>
                <a:srgbClr val="0070C0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8115300" y="4476750"/>
              <a:ext cx="3543300" cy="47625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8382000" y="4719638"/>
              <a:ext cx="228600" cy="200025"/>
              <a:chOff x="8382000" y="4719638"/>
              <a:chExt cx="228600" cy="200025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8553450" y="4719638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200025">
                    <a:moveTo>
                      <a:pt x="57150" y="0"/>
                    </a:moveTo>
                    <a:lnTo>
                      <a:pt x="0" y="0"/>
                    </a:lnTo>
                    <a:lnTo>
                      <a:pt x="0" y="200025"/>
                    </a:lnTo>
                    <a:lnTo>
                      <a:pt x="57150" y="200025"/>
                    </a:lnTo>
                    <a:lnTo>
                      <a:pt x="5715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467725" y="4776788"/>
                <a:ext cx="571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42875">
                    <a:moveTo>
                      <a:pt x="0" y="0"/>
                    </a:moveTo>
                    <a:lnTo>
                      <a:pt x="57150" y="0"/>
                    </a:lnTo>
                    <a:lnTo>
                      <a:pt x="57150" y="142875"/>
                    </a:lnTo>
                    <a:lnTo>
                      <a:pt x="0" y="1428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382000" y="4833938"/>
                <a:ext cx="571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85725">
                    <a:moveTo>
                      <a:pt x="0" y="0"/>
                    </a:moveTo>
                    <a:lnTo>
                      <a:pt x="57150" y="0"/>
                    </a:lnTo>
                    <a:lnTo>
                      <a:pt x="57150" y="85725"/>
                    </a:lnTo>
                    <a:lnTo>
                      <a:pt x="0" y="857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8709660" y="4747260"/>
              <a:ext cx="16434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当前状态（2026-10）</a:t>
              </a:r>
              <a:endParaRPr lang="zh-CN" sz="120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369141" y="5091351"/>
              <a:ext cx="1146810" cy="1549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v1· 五层全链路贯通 </a:t>
              </a:r>
              <a:endParaRPr lang="zh-CN" sz="101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369141" y="5358051"/>
              <a:ext cx="241551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187 项自动化测试全部通过</a:t>
              </a:r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，消融可复现</a:t>
              </a:r>
              <a:endParaRPr lang="zh-CN" sz="101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522922" y="6578441"/>
            <a:ext cx="11146155" cy="167640"/>
            <a:chOff x="522922" y="6578441"/>
            <a:chExt cx="11146155" cy="167640"/>
          </a:xfrm>
        </p:grpSpPr>
        <p:sp>
          <p:nvSpPr>
            <p:cNvPr id="87" name="TextBox 87"/>
            <p:cNvSpPr txBox="1"/>
            <p:nvPr/>
          </p:nvSpPr>
          <p:spPr>
            <a:xfrm>
              <a:off x="522922" y="6578441"/>
              <a:ext cx="62917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定位与输入输出形态依据《调研与技术方案》V1.2 与 README v1.2.0；后续页面按「问题 → 设计 → 实现 → 程度 → 计划」逐段展开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7" grpId="0"/>
      <p:bldP spid="42" grpId="0"/>
      <p:bldP spid="57" grpId="0"/>
      <p:bldP spid="60" grpId="0"/>
      <p:bldP spid="69" grpId="0"/>
      <p:bldP spid="76" grpId="0"/>
      <p:bldP spid="8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495300"/>
            <a:ext cx="11135677" cy="671512"/>
            <a:chOff x="533400" y="495300"/>
            <a:chExt cx="11135677" cy="671512"/>
          </a:xfrm>
        </p:grpSpPr>
        <p:sp>
          <p:nvSpPr>
            <p:cNvPr id="3" name="Rectangle 3"/>
            <p:cNvSpPr/>
            <p:nvPr/>
          </p:nvSpPr>
          <p:spPr>
            <a:xfrm rot="2700000">
              <a:off x="552450" y="495300"/>
              <a:ext cx="161925" cy="161925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 rot="2700000">
              <a:off x="704850" y="590550"/>
              <a:ext cx="95250" cy="95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9168" y="523399"/>
              <a:ext cx="12274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 · 要解决什么问题</a:t>
              </a:r>
              <a:endParaRPr lang="zh-CN" sz="97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709612"/>
              <a:ext cx="761809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两个具体痛点：工具「看不懂硬件」，结论「不可信」</a:t>
              </a:r>
              <a:endParaRPr lang="zh-CN" sz="225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38821" y="53959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ecdet · 嵌入式软件代码缺陷与安全漏洞检测系统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85850"/>
              <a:ext cx="13335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4350" y="1323975"/>
            <a:ext cx="6038850" cy="304800"/>
            <a:chOff x="514350" y="1323975"/>
            <a:chExt cx="6038850" cy="304800"/>
          </a:xfrm>
        </p:grpSpPr>
        <p:sp>
          <p:nvSpPr>
            <p:cNvPr id="11" name="TextBox 11"/>
            <p:cNvSpPr txBox="1"/>
            <p:nvPr/>
          </p:nvSpPr>
          <p:spPr>
            <a:xfrm>
              <a:off x="514350" y="1323975"/>
              <a:ext cx="6038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痛点要</a:t>
              </a:r>
              <a:r>
                <a:rPr lang="zh-CN" sz="150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拿证据说话</a:t>
              </a:r>
              <a:r>
                <a:rPr lang="zh-CN" sz="150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：现有方案在哪里失败，就是可以做出差异的地方</a:t>
              </a:r>
              <a:endParaRPr lang="zh-CN" sz="150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33400" y="1695450"/>
            <a:ext cx="5448300" cy="3962400"/>
            <a:chOff x="533400" y="1695450"/>
            <a:chExt cx="5448300" cy="3962400"/>
          </a:xfrm>
        </p:grpSpPr>
        <p:sp>
          <p:nvSpPr>
            <p:cNvPr id="13" name="Rectangle 13"/>
            <p:cNvSpPr/>
            <p:nvPr/>
          </p:nvSpPr>
          <p:spPr>
            <a:xfrm>
              <a:off x="533400" y="1695450"/>
              <a:ext cx="5448300" cy="3962400"/>
            </a:xfrm>
            <a:prstGeom prst="roundRect">
              <a:avLst>
                <a:gd name="adj" fmla="val 2404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800100" y="1924050"/>
              <a:ext cx="723900" cy="285750"/>
            </a:xfrm>
            <a:prstGeom prst="roundRect">
              <a:avLst>
                <a:gd name="adj" fmla="val 13333"/>
              </a:avLst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1483" y="2002631"/>
              <a:ext cx="5011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痛点一</a:t>
              </a:r>
              <a:endParaRPr lang="zh-CN" sz="1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58302" y="1979771"/>
              <a:ext cx="263001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通用静态工具不懂嵌入式硬件</a:t>
              </a:r>
              <a:endParaRPr lang="zh-CN" sz="1425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00100" y="2362200"/>
              <a:ext cx="4914900" cy="2019300"/>
            </a:xfrm>
            <a:prstGeom prst="roundRect">
              <a:avLst>
                <a:gd name="adj" fmla="val 283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78218" y="25426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缺陷模式</a:t>
              </a:r>
              <a:endParaRPr lang="zh-CN" sz="975" b="1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64218" y="2542699"/>
              <a:ext cx="26936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通用工具（cppcheck / clang-tidy）的表现</a:t>
              </a:r>
              <a:endParaRPr lang="zh-CN" sz="975" b="1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952500" y="2762250"/>
              <a:ext cx="4610100" cy="9525"/>
            </a:xfrm>
            <a:custGeom>
              <a:avLst/>
              <a:gdLst/>
              <a:ahLst/>
              <a:cxnLst/>
              <a:rect l="l" t="t" r="r" b="b"/>
              <a:pathLst>
                <a:path w="4610100" h="9525">
                  <a:moveTo>
                    <a:pt x="0" y="0"/>
                  </a:moveTo>
                  <a:lnTo>
                    <a:pt x="4610100" y="0"/>
                  </a:lnTo>
                </a:path>
              </a:pathLst>
            </a:custGeom>
            <a:noFill/>
            <a:ln w="9525">
              <a:solidFill>
                <a:srgbClr val="D8E0E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76789" y="2911554"/>
              <a:ext cx="2181142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向只读寄存器写入（MMIO 误用）</a:t>
              </a:r>
              <a:endParaRPr lang="zh-CN" sz="109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43789" y="2911554"/>
              <a:ext cx="1622822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无寄存器语义，直接漏报</a:t>
              </a:r>
              <a:endParaRPr lang="zh-CN" sz="1090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76789" y="3254454"/>
              <a:ext cx="1724335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ISR 与任务共享变量的竞态</a:t>
              </a:r>
              <a:endParaRPr lang="zh-CN" sz="109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43789" y="3254454"/>
              <a:ext cx="1187768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不识别中断上下文</a:t>
              </a:r>
              <a:endParaRPr lang="zh-CN" sz="1090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6789" y="3597354"/>
              <a:ext cx="1245775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ISR 中调用阻塞 API</a:t>
              </a:r>
              <a:endParaRPr lang="zh-CN" sz="109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43789" y="3597354"/>
              <a:ext cx="1289280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不懂 RTOS API 语义</a:t>
              </a:r>
              <a:endParaRPr lang="zh-CN" sz="1090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52500" y="3943350"/>
              <a:ext cx="11430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62514" y="4036695"/>
              <a:ext cx="9229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B7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PERIPH-&gt;REG = x</a:t>
              </a:r>
              <a:endParaRPr lang="zh-CN" sz="900" dirty="0">
                <a:solidFill>
                  <a:srgbClr val="5B6B7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254568" y="4028599"/>
              <a:ext cx="26055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← 这行代码危险与否，取决于寄存器读写属性</a:t>
              </a:r>
              <a:endParaRPr lang="zh-CN" sz="97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00100" y="4514850"/>
              <a:ext cx="4914900" cy="419100"/>
            </a:xfrm>
            <a:prstGeom prst="roundRect">
              <a:avLst>
                <a:gd name="adj" fmla="val 13636"/>
              </a:avLst>
            </a:prstGeom>
            <a:solidFill>
              <a:srgbClr val="FBEDED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75836" y="4656058"/>
              <a:ext cx="2934978" cy="236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检不出就是漏报：风险被原样带到现场</a:t>
              </a:r>
              <a:endParaRPr lang="zh-CN" sz="116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5812" y="5136356"/>
              <a:ext cx="5181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差异机会：</a:t>
              </a:r>
              <a:r>
                <a:rPr lang="zh-CN" sz="1125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 SVD / ISR / RTOS 语义做成确定性规则</a:t>
              </a:r>
              <a:r>
                <a:rPr lang="zh-CN" sz="112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，让工具「看得懂硬件」</a:t>
              </a:r>
              <a:endParaRPr lang="zh-CN" sz="112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210300" y="1695450"/>
            <a:ext cx="5448300" cy="3962400"/>
            <a:chOff x="6210300" y="1695450"/>
            <a:chExt cx="5448300" cy="3962400"/>
          </a:xfrm>
        </p:grpSpPr>
        <p:sp>
          <p:nvSpPr>
            <p:cNvPr id="34" name="Rectangle 34"/>
            <p:cNvSpPr/>
            <p:nvPr/>
          </p:nvSpPr>
          <p:spPr>
            <a:xfrm>
              <a:off x="6210300" y="1695450"/>
              <a:ext cx="5448300" cy="3962400"/>
            </a:xfrm>
            <a:prstGeom prst="roundRect">
              <a:avLst>
                <a:gd name="adj" fmla="val 2404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77000" y="1924050"/>
              <a:ext cx="723900" cy="285750"/>
            </a:xfrm>
            <a:prstGeom prst="roundRect">
              <a:avLst>
                <a:gd name="adj" fmla="val 13333"/>
              </a:avLst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88383" y="2002631"/>
              <a:ext cx="5011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痛点二</a:t>
              </a:r>
              <a:endParaRPr lang="zh-CN" sz="1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35202" y="1979771"/>
              <a:ext cx="265994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误报泛滥 × 大模型幻觉不可信</a:t>
              </a:r>
              <a:endParaRPr lang="zh-CN" sz="1425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77000" y="2362200"/>
              <a:ext cx="4914900" cy="2019300"/>
            </a:xfrm>
            <a:prstGeom prst="roundRect">
              <a:avLst>
                <a:gd name="adj" fmla="val 283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55118" y="2542699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现象</a:t>
              </a:r>
              <a:endParaRPr lang="zh-CN" sz="975" b="1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22118" y="2542699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后果</a:t>
              </a:r>
              <a:endParaRPr lang="zh-CN" sz="975" b="1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Line 41"/>
            <p:cNvSpPr/>
            <p:nvPr/>
          </p:nvSpPr>
          <p:spPr>
            <a:xfrm>
              <a:off x="6629400" y="2762250"/>
              <a:ext cx="4610100" cy="9525"/>
            </a:xfrm>
            <a:custGeom>
              <a:avLst/>
              <a:gdLst/>
              <a:ahLst/>
              <a:cxnLst/>
              <a:rect l="l" t="t" r="r" b="b"/>
              <a:pathLst>
                <a:path w="4610100" h="9525">
                  <a:moveTo>
                    <a:pt x="0" y="0"/>
                  </a:moveTo>
                  <a:lnTo>
                    <a:pt x="4610100" y="0"/>
                  </a:lnTo>
                </a:path>
              </a:pathLst>
            </a:custGeom>
            <a:noFill/>
            <a:ln w="9525">
              <a:solidFill>
                <a:srgbClr val="D8E0E9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53689" y="2911554"/>
              <a:ext cx="1042749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静态工具误报多</a:t>
              </a:r>
              <a:endParaRPr lang="zh-CN" sz="109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320689" y="2911554"/>
              <a:ext cx="1767840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告警疲劳，开发者弃用工具</a:t>
              </a:r>
              <a:endParaRPr lang="zh-CN" sz="1090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53689" y="3254454"/>
              <a:ext cx="1209520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LLM 直接研判告警</a:t>
              </a:r>
              <a:endParaRPr lang="zh-CN" sz="109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320689" y="3254454"/>
              <a:ext cx="1912858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编造行号、引用不存在的代码</a:t>
              </a:r>
              <a:endParaRPr lang="zh-CN" sz="1090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53689" y="3597354"/>
              <a:ext cx="1499556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两者叠加的「AI 检测」</a:t>
              </a:r>
              <a:endParaRPr lang="zh-CN" sz="109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320689" y="3597354"/>
              <a:ext cx="1767840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结论不可复核、随模型漂移</a:t>
              </a:r>
              <a:endParaRPr lang="zh-CN" sz="1090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629400" y="3943350"/>
              <a:ext cx="46101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07518" y="4028599"/>
              <a:ext cx="37562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行业共识：</a:t>
              </a:r>
              <a:r>
                <a:rPr lang="zh-CN" sz="975" b="1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宁可漏报，不可误报</a:t>
              </a:r>
              <a:r>
                <a:rPr lang="zh-CN" sz="97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—— 误报率失控的工具没有第二周</a:t>
              </a:r>
              <a:endParaRPr lang="zh-CN" sz="97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77000" y="4514850"/>
              <a:ext cx="4914900" cy="419100"/>
            </a:xfrm>
            <a:prstGeom prst="roundRect">
              <a:avLst>
                <a:gd name="adj" fmla="val 13636"/>
              </a:avLst>
            </a:prstGeom>
            <a:solidFill>
              <a:srgbClr val="FBEDED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52736" y="4656058"/>
              <a:ext cx="3260519" cy="236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结论不可信：研判环节反而成为新的风险源</a:t>
              </a:r>
              <a:endParaRPr lang="zh-CN" sz="116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62712" y="5136356"/>
              <a:ext cx="36740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差异机会：</a:t>
              </a:r>
              <a:r>
                <a:rPr lang="zh-CN" sz="1125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静态锚点优先 + 幻觉三道闸 + 动态执行实证</a:t>
              </a:r>
              <a:endParaRPr lang="zh-CN" sz="1125" b="1" dirty="0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22922" y="6578441"/>
            <a:ext cx="11146155" cy="167640"/>
            <a:chOff x="522922" y="6578441"/>
            <a:chExt cx="11146155" cy="167640"/>
          </a:xfrm>
        </p:grpSpPr>
        <p:sp>
          <p:nvSpPr>
            <p:cNvPr id="54" name="TextBox 54"/>
            <p:cNvSpPr txBox="1"/>
            <p:nvPr/>
          </p:nvSpPr>
          <p:spPr>
            <a:xfrm>
              <a:off x="522922" y="6578441"/>
              <a:ext cx="524110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证据来源：ecdet 调研报告对 cppcheck / clang-tidy 规则集与 LLM 代码研判文献的比对分析（2026 Q3）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04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3" grpId="0"/>
      <p:bldP spid="5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495300"/>
            <a:ext cx="11135677" cy="671512"/>
            <a:chOff x="533400" y="495300"/>
            <a:chExt cx="11135677" cy="671512"/>
          </a:xfrm>
        </p:grpSpPr>
        <p:sp>
          <p:nvSpPr>
            <p:cNvPr id="3" name="Rectangle 3"/>
            <p:cNvSpPr/>
            <p:nvPr/>
          </p:nvSpPr>
          <p:spPr>
            <a:xfrm rot="2700000">
              <a:off x="552450" y="495300"/>
              <a:ext cx="161925" cy="161925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 rot="2700000">
              <a:off x="704850" y="590550"/>
              <a:ext cx="95250" cy="95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9168" y="523399"/>
              <a:ext cx="9673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 · 设计与实现</a:t>
              </a:r>
              <a:endParaRPr lang="zh-CN" sz="97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709612"/>
              <a:ext cx="607440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技术选型：能复用的不重写——开源资源清单</a:t>
              </a:r>
              <a:endParaRPr lang="zh-CN" sz="225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38821" y="53959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ecdet · 嵌入式软件代码缺陷与安全漏洞检测系统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85850"/>
              <a:ext cx="13335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4350" y="1285875"/>
            <a:ext cx="6638925" cy="304800"/>
            <a:chOff x="514350" y="1285875"/>
            <a:chExt cx="6638925" cy="304800"/>
          </a:xfrm>
        </p:grpSpPr>
        <p:sp>
          <p:nvSpPr>
            <p:cNvPr id="11" name="TextBox 11"/>
            <p:cNvSpPr txBox="1"/>
            <p:nvPr/>
          </p:nvSpPr>
          <p:spPr>
            <a:xfrm>
              <a:off x="514350" y="1285875"/>
              <a:ext cx="66389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调研不是只找一个，而是对比几个，决定</a:t>
              </a:r>
              <a:r>
                <a:rPr lang="zh-CN" sz="150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谁做引擎、谁做数据、谁只做参照</a:t>
              </a:r>
              <a:endParaRPr lang="zh-CN" sz="1500" b="1" dirty="0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533400" y="1619250"/>
            <a:ext cx="11125200" cy="4351734"/>
            <a:chOff x="533400" y="1619250"/>
            <a:chExt cx="11125200" cy="4351734"/>
          </a:xfrm>
        </p:grpSpPr>
        <p:sp>
          <p:nvSpPr>
            <p:cNvPr id="13" name="Rectangle 13"/>
            <p:cNvSpPr/>
            <p:nvPr/>
          </p:nvSpPr>
          <p:spPr>
            <a:xfrm>
              <a:off x="533400" y="1619250"/>
              <a:ext cx="11125200" cy="36195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2465" y="1744028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能力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05965" y="1744028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开源资源与链接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39715" y="1744028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许可证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6065" y="1744028"/>
              <a:ext cx="3501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Star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30465" y="1744028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我们的决定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981200"/>
              <a:ext cx="11125200" cy="4000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2941" y="2062401"/>
              <a:ext cx="876324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静态基线引擎</a:t>
              </a:r>
              <a:endParaRPr lang="zh-CN" sz="101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06441" y="2024301"/>
              <a:ext cx="649495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cppcheck</a:t>
              </a:r>
              <a:endParaRPr lang="zh-CN" sz="1010" b="1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09299" y="2210514"/>
              <a:ext cx="2267283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B6B7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github.com/cppcheck-opensource/cppcheck</a:t>
              </a:r>
              <a:endParaRPr lang="zh-CN" sz="790" dirty="0">
                <a:solidFill>
                  <a:srgbClr val="5B6B7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41620" y="2131695"/>
              <a:ext cx="4849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GPL-3.0</a:t>
              </a:r>
              <a:endParaRPr lang="zh-CN" sz="900" dirty="0">
                <a:solidFill>
                  <a:srgbClr val="33333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16541" y="2119551"/>
              <a:ext cx="33760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6.8k</a:t>
              </a:r>
              <a:endParaRPr lang="zh-CN" sz="1010" b="1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30941" y="2119551"/>
              <a:ext cx="45102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已接入</a:t>
              </a:r>
              <a:endParaRPr lang="zh-CN" sz="1010" b="1" dirty="0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40541" y="2119551"/>
              <a:ext cx="245602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检测到安装即独立进程调用，不链接源码</a:t>
              </a:r>
              <a:endParaRPr lang="zh-CN" sz="101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2941" y="2462451"/>
              <a:ext cx="876324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静态规则补强</a:t>
              </a:r>
              <a:endParaRPr lang="zh-CN" sz="101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006441" y="2424351"/>
              <a:ext cx="73455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clang-tidy</a:t>
              </a:r>
              <a:endParaRPr lang="zh-CN" sz="1010" b="1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09299" y="2610564"/>
              <a:ext cx="1542693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B6B7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github.com/llvm/llvm-project</a:t>
              </a:r>
              <a:endParaRPr lang="zh-CN" sz="790" dirty="0">
                <a:solidFill>
                  <a:srgbClr val="5B6B7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41620" y="2531745"/>
              <a:ext cx="6829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Apache-2.0</a:t>
              </a:r>
              <a:endParaRPr lang="zh-CN" sz="900" dirty="0">
                <a:solidFill>
                  <a:srgbClr val="33333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16541" y="2519601"/>
              <a:ext cx="380137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41.2k</a:t>
              </a:r>
              <a:endParaRPr lang="zh-CN" sz="1010" b="1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30941" y="2519601"/>
              <a:ext cx="45102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已接入</a:t>
              </a:r>
              <a:endParaRPr lang="zh-CN" sz="1010" b="1" dirty="0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40541" y="2519601"/>
              <a:ext cx="164592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与 cppcheck 同一适配模式</a:t>
              </a:r>
              <a:endParaRPr lang="zh-CN" sz="101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2781300"/>
              <a:ext cx="11125200" cy="4000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2941" y="2862501"/>
              <a:ext cx="73455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形式化验证</a:t>
              </a:r>
              <a:endParaRPr lang="zh-CN" sz="101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006441" y="2824401"/>
              <a:ext cx="1719842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ESBMC（SMT / 边界验证）</a:t>
              </a:r>
              <a:endParaRPr lang="zh-CN" sz="1010" b="1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009299" y="3010614"/>
              <a:ext cx="1327416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B6B7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github.com/esbmc/esbmc</a:t>
              </a:r>
              <a:endParaRPr lang="zh-CN" sz="790" dirty="0">
                <a:solidFill>
                  <a:srgbClr val="5B6B7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41620" y="2931795"/>
              <a:ext cx="4969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BSD 变体</a:t>
              </a:r>
              <a:endParaRPr lang="zh-CN" sz="900" dirty="0">
                <a:solidFill>
                  <a:srgbClr val="33333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16541" y="2919651"/>
              <a:ext cx="259634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533</a:t>
              </a:r>
              <a:endParaRPr lang="zh-CN" sz="1010" b="1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30941" y="2919651"/>
              <a:ext cx="45102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已接入</a:t>
              </a:r>
              <a:endParaRPr lang="zh-CN" sz="1010" b="1" dirty="0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40541" y="2919651"/>
              <a:ext cx="188220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界内验证失败 → Proven 级告警</a:t>
              </a:r>
              <a:endParaRPr lang="zh-CN" sz="101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2941" y="3262551"/>
              <a:ext cx="1018092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本地大模型推理</a:t>
              </a:r>
              <a:endParaRPr lang="zh-CN" sz="101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006441" y="3224451"/>
              <a:ext cx="98265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vLLM · Ollama</a:t>
              </a:r>
              <a:endParaRPr lang="zh-CN" sz="1010" b="1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009299" y="3410664"/>
              <a:ext cx="2981373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B6B7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github.com/vllm-project/vllm · github.com/ollama/ollama</a:t>
              </a:r>
              <a:endParaRPr lang="zh-CN" sz="790" dirty="0">
                <a:solidFill>
                  <a:srgbClr val="5B6B7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341620" y="3331845"/>
              <a:ext cx="10129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Apache-2.0 · MIT</a:t>
              </a:r>
              <a:endParaRPr lang="zh-CN" sz="900" dirty="0">
                <a:solidFill>
                  <a:srgbClr val="33333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16541" y="3319701"/>
              <a:ext cx="855059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95.7k · 185k</a:t>
              </a:r>
              <a:endParaRPr lang="zh-CN" sz="1010" b="1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30941" y="3319701"/>
              <a:ext cx="45102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已接入</a:t>
              </a:r>
              <a:endParaRPr lang="zh-CN" sz="1010" b="1" dirty="0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40541" y="3319701"/>
              <a:ext cx="185519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OpenAI 兼容端点，数据不出域</a:t>
              </a:r>
              <a:endParaRPr lang="zh-CN" sz="101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3581400"/>
              <a:ext cx="11125200" cy="400050"/>
            </a:xfrm>
            <a:prstGeom prst="rect">
              <a:avLst/>
            </a:prstGeom>
            <a:solidFill>
              <a:srgbClr val="FBEDED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2941" y="3662601"/>
              <a:ext cx="1018092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指令级仿真载体</a:t>
              </a:r>
              <a:endParaRPr lang="zh-CN" sz="101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006441" y="3624501"/>
              <a:ext cx="1379599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Unicorn（CPU 仿真）</a:t>
              </a:r>
              <a:endParaRPr lang="zh-CN" sz="1010" b="1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009299" y="3810714"/>
              <a:ext cx="1841980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B6B7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github.com/unicorn-engine/unicorn</a:t>
              </a:r>
              <a:endParaRPr lang="zh-CN" sz="790" dirty="0">
                <a:solidFill>
                  <a:srgbClr val="5B6B7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341620" y="3731895"/>
              <a:ext cx="4849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GPL-2.0</a:t>
              </a:r>
              <a:endParaRPr lang="zh-CN" sz="900" dirty="0">
                <a:solidFill>
                  <a:srgbClr val="33333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16541" y="3719751"/>
              <a:ext cx="33760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9.5k</a:t>
              </a:r>
              <a:endParaRPr lang="zh-CN" sz="1010" b="1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30941" y="3719751"/>
              <a:ext cx="45102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未接入</a:t>
              </a:r>
              <a:endParaRPr lang="zh-CN" sz="101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140541" y="3719751"/>
              <a:ext cx="233450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探测就绪，执行回路待固件语料（P2）</a:t>
              </a:r>
              <a:endParaRPr lang="zh-CN" sz="1010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72941" y="4062651"/>
              <a:ext cx="1018092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外设级仿真载体</a:t>
              </a:r>
              <a:endParaRPr lang="zh-CN" sz="101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006441" y="4024551"/>
              <a:ext cx="1344157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Renode（整机仿真）</a:t>
              </a:r>
              <a:endParaRPr lang="zh-CN" sz="1010" b="1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009299" y="4210764"/>
              <a:ext cx="1400925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B6B7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github.com/renode/renode</a:t>
              </a:r>
              <a:endParaRPr lang="zh-CN" sz="790" dirty="0">
                <a:solidFill>
                  <a:srgbClr val="5B6B7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341620" y="4131945"/>
              <a:ext cx="2148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MIT</a:t>
              </a:r>
              <a:endParaRPr lang="zh-CN" sz="900" dirty="0">
                <a:solidFill>
                  <a:srgbClr val="33333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16541" y="4119801"/>
              <a:ext cx="302165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3.1k</a:t>
              </a:r>
              <a:endParaRPr lang="zh-CN" sz="1010" b="1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530941" y="4119801"/>
              <a:ext cx="45102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未接入</a:t>
              </a:r>
              <a:endParaRPr lang="zh-CN" sz="101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140541" y="4119801"/>
              <a:ext cx="2543782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同上，三级吞吐-保真梯度的最高档（P2）</a:t>
              </a:r>
              <a:endParaRPr lang="zh-CN" sz="1010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3400" y="4381500"/>
              <a:ext cx="11125200" cy="400050"/>
            </a:xfrm>
            <a:prstGeom prst="rect">
              <a:avLst/>
            </a:prstGeom>
            <a:solidFill>
              <a:srgbClr val="FBEDED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72941" y="4462701"/>
              <a:ext cx="73455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代码属性图</a:t>
              </a:r>
              <a:endParaRPr lang="zh-CN" sz="101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006441" y="4424601"/>
              <a:ext cx="415579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Joern</a:t>
              </a:r>
              <a:endParaRPr lang="zh-CN" sz="1010" b="1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009299" y="4610814"/>
              <a:ext cx="1322165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B6B7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github.com/joernio/joern</a:t>
              </a:r>
              <a:endParaRPr lang="zh-CN" sz="790" dirty="0">
                <a:solidFill>
                  <a:srgbClr val="5B6B7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341620" y="4531995"/>
              <a:ext cx="6829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Apache-2.0</a:t>
              </a:r>
              <a:endParaRPr lang="zh-CN" sz="900" dirty="0">
                <a:solidFill>
                  <a:srgbClr val="33333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16541" y="4519851"/>
              <a:ext cx="33760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3.6k</a:t>
              </a:r>
              <a:endParaRPr lang="zh-CN" sz="1010" b="1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530941" y="4519851"/>
              <a:ext cx="45102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未接入</a:t>
              </a:r>
              <a:endParaRPr lang="zh-CN" sz="101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140541" y="4519851"/>
              <a:ext cx="257078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跨函数数据流（当前最大短板）备选（P1）</a:t>
              </a:r>
              <a:endParaRPr lang="zh-CN" sz="1010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72941" y="4862751"/>
              <a:ext cx="73455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评测数据集</a:t>
              </a:r>
              <a:endParaRPr lang="zh-CN" sz="101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2006441" y="4824651"/>
              <a:ext cx="106771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NIST Juliet 基准</a:t>
              </a:r>
              <a:endParaRPr lang="zh-CN" sz="1010" b="1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2009299" y="5010864"/>
              <a:ext cx="1605701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B6B7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samate.nist.gov/TestProjects</a:t>
              </a:r>
              <a:endParaRPr lang="zh-CN" sz="790" dirty="0">
                <a:solidFill>
                  <a:srgbClr val="5B6B7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341620" y="493204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公有领域</a:t>
              </a:r>
              <a:endParaRPr lang="zh-CN" sz="90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616541" y="4919901"/>
              <a:ext cx="99977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—</a:t>
              </a:r>
              <a:endParaRPr lang="zh-CN" sz="101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530941" y="4919901"/>
              <a:ext cx="592788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部分完成</a:t>
              </a:r>
              <a:endParaRPr lang="zh-CN" sz="101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140541" y="4919901"/>
              <a:ext cx="20509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评测管线已打通，</a:t>
              </a:r>
              <a:r>
                <a:rPr lang="zh-CN" sz="1010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全量成稿待下载</a:t>
              </a:r>
              <a:endParaRPr lang="zh-CN" sz="1010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33400" y="5181600"/>
              <a:ext cx="11125200" cy="4000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72941" y="5262801"/>
              <a:ext cx="876324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去重方法借鉴</a:t>
              </a:r>
              <a:endParaRPr lang="zh-CN" sz="101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2006441" y="5224701"/>
              <a:ext cx="1358334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PrimeVul 数据集方法</a:t>
              </a:r>
              <a:endParaRPr lang="zh-CN" sz="1010" b="1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2009299" y="5410914"/>
              <a:ext cx="1574197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B6B7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github.com/DLVulDet/PrimeVul</a:t>
              </a:r>
              <a:endParaRPr lang="zh-CN" sz="790" dirty="0">
                <a:solidFill>
                  <a:srgbClr val="5B6B7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341620" y="5332095"/>
              <a:ext cx="2148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MIT</a:t>
              </a:r>
              <a:endParaRPr lang="zh-CN" sz="900" dirty="0">
                <a:solidFill>
                  <a:srgbClr val="33333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616541" y="5319951"/>
              <a:ext cx="259634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280</a:t>
              </a:r>
              <a:endParaRPr lang="zh-CN" sz="1010" b="1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530941" y="5319951"/>
              <a:ext cx="592788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方法借鉴</a:t>
              </a:r>
              <a:endParaRPr lang="zh-CN" sz="1010" b="1" dirty="0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140541" y="5319951"/>
              <a:ext cx="1780937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自建数据集的近重复指纹删除</a:t>
              </a:r>
              <a:endParaRPr lang="zh-CN" sz="101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72941" y="5662851"/>
              <a:ext cx="73455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标准与规范</a:t>
              </a:r>
              <a:endParaRPr lang="zh-CN" sz="101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2006441" y="5624751"/>
              <a:ext cx="3052458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SARIF 2.1.0 · CMSIS-SVD · MISRA / CERT / GJB</a:t>
              </a:r>
              <a:endParaRPr lang="zh-CN" sz="1010" b="1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2009299" y="5810964"/>
              <a:ext cx="3364671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B6B7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docs.oasis-open.org/sarif · arm-software.github.io/CMSIS-SVD</a:t>
              </a:r>
              <a:endParaRPr lang="zh-CN" sz="790" dirty="0">
                <a:solidFill>
                  <a:srgbClr val="5B6B7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5341620" y="5732145"/>
              <a:ext cx="6409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标准 / 规范</a:t>
              </a:r>
              <a:endParaRPr lang="zh-CN" sz="90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616541" y="5720001"/>
              <a:ext cx="99977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—</a:t>
              </a:r>
              <a:endParaRPr lang="zh-CN" sz="101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530941" y="5720001"/>
              <a:ext cx="592788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规范复用</a:t>
              </a:r>
              <a:endParaRPr lang="zh-CN" sz="1010" b="1" dirty="0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140541" y="5720001"/>
              <a:ext cx="2327755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SARIF 数据模型 · SVD 建模 · 规则来源</a:t>
              </a:r>
              <a:endParaRPr lang="zh-CN" sz="101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521970" y="6208395"/>
            <a:ext cx="11147107" cy="537686"/>
            <a:chOff x="521970" y="6208395"/>
            <a:chExt cx="11147107" cy="537686"/>
          </a:xfrm>
        </p:grpSpPr>
        <p:sp>
          <p:nvSpPr>
            <p:cNvPr id="95" name="TextBox 95"/>
            <p:cNvSpPr txBox="1"/>
            <p:nvPr/>
          </p:nvSpPr>
          <p:spPr>
            <a:xfrm>
              <a:off x="521970" y="6208395"/>
              <a:ext cx="87059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选型决策：不选「大基座」二次开发——① 内网环境要求拷贝即用、离线可运行 ② 检测内核即创新点 ③ GPL 引擎以独立进程接入规避传染；</a:t>
              </a:r>
              <a:r>
                <a:rPr lang="zh-CN" sz="90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红色 = 计划复用但尚未完成</a:t>
              </a:r>
              <a:endParaRPr lang="zh-CN" sz="90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522922" y="6578441"/>
              <a:ext cx="56261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Star 为 2026-10-27 GitHub 查询；许可证要点：GPL 组件独立进程调用不链接 · 商业标准只实现语义 · 密钥不入库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06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9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495300"/>
            <a:ext cx="11135677" cy="671512"/>
            <a:chOff x="533400" y="495300"/>
            <a:chExt cx="11135677" cy="671512"/>
          </a:xfrm>
        </p:grpSpPr>
        <p:sp>
          <p:nvSpPr>
            <p:cNvPr id="3" name="Rectangle 3"/>
            <p:cNvSpPr/>
            <p:nvPr/>
          </p:nvSpPr>
          <p:spPr>
            <a:xfrm rot="2700000">
              <a:off x="552450" y="495300"/>
              <a:ext cx="161925" cy="161925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 rot="2700000">
              <a:off x="704850" y="590550"/>
              <a:ext cx="95250" cy="95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9168" y="523399"/>
              <a:ext cx="9673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 · 设计与实现</a:t>
              </a:r>
              <a:endParaRPr lang="zh-CN" sz="97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709612"/>
              <a:ext cx="708252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系统架构：五层流水线 + Web 控制台，核心零依赖</a:t>
              </a:r>
              <a:endParaRPr lang="zh-CN" sz="225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38821" y="53959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ecdet · 嵌入式软件代码缺陷与安全漏洞检测系统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85850"/>
              <a:ext cx="13335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6255" y="1283018"/>
            <a:ext cx="8711374" cy="274320"/>
            <a:chOff x="516255" y="1283018"/>
            <a:chExt cx="8711374" cy="274320"/>
          </a:xfrm>
        </p:grpSpPr>
        <p:sp>
          <p:nvSpPr>
            <p:cNvPr id="11" name="TextBox 11"/>
            <p:cNvSpPr txBox="1"/>
            <p:nvPr/>
          </p:nvSpPr>
          <p:spPr>
            <a:xfrm>
              <a:off x="516255" y="1283018"/>
              <a:ext cx="87113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按数据流向五层贯通：</a:t>
              </a:r>
              <a:r>
                <a:rPr lang="zh-CN" sz="1350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橙 = 自研</a:t>
              </a:r>
              <a:r>
                <a:rPr lang="zh-CN" sz="135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</a:t>
              </a:r>
              <a:r>
                <a:rPr lang="zh-CN" sz="135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蓝 = 复用标准 / 引擎</a:t>
              </a:r>
              <a:r>
                <a:rPr lang="zh-CN" sz="135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</a:t>
              </a:r>
              <a:r>
                <a:rPr lang="zh-CN" sz="135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深蓝 = 编排</a:t>
              </a:r>
              <a:r>
                <a:rPr lang="zh-CN" sz="135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；外部引擎</a:t>
              </a:r>
              <a:r>
                <a:rPr lang="zh-CN" sz="135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「检测到安装即接入」</a:t>
              </a:r>
              <a:r>
                <a:rPr lang="zh-CN" sz="135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非硬依赖</a:t>
              </a:r>
              <a:endParaRPr lang="zh-CN" sz="135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3400" y="1581150"/>
            <a:ext cx="9772650" cy="742950"/>
            <a:chOff x="533400" y="1581150"/>
            <a:chExt cx="9772650" cy="742950"/>
          </a:xfrm>
        </p:grpSpPr>
        <p:sp>
          <p:nvSpPr>
            <p:cNvPr id="13" name="Rectangle 13"/>
            <p:cNvSpPr/>
            <p:nvPr/>
          </p:nvSpPr>
          <p:spPr>
            <a:xfrm>
              <a:off x="533400" y="1581150"/>
              <a:ext cx="495300" cy="74295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88986" y="1767364"/>
              <a:ext cx="18412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L1</a:t>
              </a:r>
              <a:endPara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1022" y="2029539"/>
              <a:ext cx="440055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A9C3E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构建复现</a:t>
              </a:r>
              <a:endParaRPr lang="zh-CN" sz="790" dirty="0">
                <a:solidFill>
                  <a:srgbClr val="A9C3E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104900" y="1581150"/>
              <a:ext cx="9201150" cy="7429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257300" y="1714500"/>
              <a:ext cx="28575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77791" y="1805226"/>
              <a:ext cx="194667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Keil / IAR 工程解析器（自研）</a:t>
              </a:r>
              <a:endParaRPr lang="zh-CN" sz="1010" b="1" dirty="0">
                <a:solidFill>
                  <a:srgbClr val="B4530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79696" y="2002393"/>
              <a:ext cx="1971401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.uvprojx / .ewp → 等价 Clang 命令行</a:t>
              </a:r>
              <a:endParaRPr lang="zh-CN" sz="86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267200" y="1714500"/>
              <a:ext cx="28575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387691" y="1805226"/>
              <a:ext cx="249247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compile_commands.json（标准格式）</a:t>
              </a:r>
              <a:endParaRPr lang="zh-CN" sz="1010" b="1" dirty="0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89596" y="2002393"/>
              <a:ext cx="1747123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统一编译数据库，供分析引擎消费</a:t>
              </a:r>
              <a:endParaRPr lang="zh-CN" sz="86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277100" y="1714500"/>
              <a:ext cx="287655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97591" y="1805226"/>
              <a:ext cx="1443395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源码直扫退化（自研）</a:t>
              </a:r>
              <a:endParaRPr lang="zh-CN" sz="1010" b="1" dirty="0">
                <a:solidFill>
                  <a:srgbClr val="B4530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99496" y="2002393"/>
              <a:ext cx="1632109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无构建信息的工程也可直接扫描</a:t>
              </a:r>
              <a:endParaRPr lang="zh-CN" sz="86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33400" y="2400300"/>
            <a:ext cx="9772650" cy="742950"/>
            <a:chOff x="533400" y="2400300"/>
            <a:chExt cx="9772650" cy="742950"/>
          </a:xfrm>
        </p:grpSpPr>
        <p:sp>
          <p:nvSpPr>
            <p:cNvPr id="27" name="Rectangle 27"/>
            <p:cNvSpPr/>
            <p:nvPr/>
          </p:nvSpPr>
          <p:spPr>
            <a:xfrm>
              <a:off x="533400" y="2400300"/>
              <a:ext cx="495300" cy="74295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6670" y="2586514"/>
              <a:ext cx="22876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L3</a:t>
              </a:r>
              <a:endPara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3529" y="2848689"/>
              <a:ext cx="335042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A9C3E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双通道</a:t>
              </a:r>
              <a:endParaRPr lang="zh-CN" sz="790" dirty="0">
                <a:solidFill>
                  <a:srgbClr val="A9C3E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104900" y="2400300"/>
              <a:ext cx="9201150" cy="7429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1257300" y="2533650"/>
              <a:ext cx="28575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377791" y="2624376"/>
              <a:ext cx="227273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规则引擎 30 条 + 抽象解释（自研）</a:t>
              </a:r>
              <a:endParaRPr lang="zh-CN" sz="1010" b="1" dirty="0">
                <a:solidFill>
                  <a:srgbClr val="B4530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79696" y="2821543"/>
              <a:ext cx="130431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常量传播 → 可证明性分级</a:t>
              </a:r>
              <a:endParaRPr lang="zh-CN" sz="86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267200" y="2533650"/>
              <a:ext cx="28575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387691" y="2624376"/>
              <a:ext cx="2301089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硬件语义 SVD / ISR / RTOS（自研）</a:t>
              </a:r>
              <a:endParaRPr lang="zh-CN" sz="1010" b="1" dirty="0">
                <a:solidFill>
                  <a:srgbClr val="B4530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389596" y="2821543"/>
              <a:ext cx="1821882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MMIO · 竞态 · volatile · 阻塞调用</a:t>
              </a:r>
              <a:endParaRPr lang="zh-CN" sz="86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277100" y="2533650"/>
              <a:ext cx="287655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97591" y="2624376"/>
              <a:ext cx="2669685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cppcheck · clang-tidy · ESBMC（复用）</a:t>
              </a:r>
              <a:endParaRPr lang="zh-CN" sz="1010" b="1" dirty="0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99496" y="2821543"/>
              <a:ext cx="2465963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输出统一归入 SARIF；另含动态通道（第 10 页）</a:t>
              </a:r>
              <a:endParaRPr lang="zh-CN" sz="86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33400" y="3219450"/>
            <a:ext cx="9772650" cy="742950"/>
            <a:chOff x="533400" y="3219450"/>
            <a:chExt cx="9772650" cy="742950"/>
          </a:xfrm>
        </p:grpSpPr>
        <p:sp>
          <p:nvSpPr>
            <p:cNvPr id="41" name="Rectangle 41"/>
            <p:cNvSpPr/>
            <p:nvPr/>
          </p:nvSpPr>
          <p:spPr>
            <a:xfrm>
              <a:off x="533400" y="3219450"/>
              <a:ext cx="495300" cy="742950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6670" y="3405664"/>
              <a:ext cx="22876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L2</a:t>
              </a:r>
              <a:endPara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61022" y="3667839"/>
              <a:ext cx="440055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D8E6F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统一表示</a:t>
              </a:r>
              <a:endParaRPr lang="zh-CN" sz="790" dirty="0">
                <a:solidFill>
                  <a:srgbClr val="D8E6F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104900" y="3219450"/>
              <a:ext cx="9201150" cy="7429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1257300" y="3352800"/>
              <a:ext cx="447675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377791" y="3443526"/>
              <a:ext cx="2662597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SARIF 2.1.0 唯一数据模型（OASIS 标准）</a:t>
              </a:r>
              <a:endParaRPr lang="zh-CN" sz="1010" b="1" dirty="0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379696" y="3640693"/>
              <a:ext cx="2207181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多引擎告警统一交换格式，供下游工具消费</a:t>
              </a:r>
              <a:endParaRPr lang="zh-CN" sz="86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886450" y="3352800"/>
              <a:ext cx="42672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006941" y="3443526"/>
              <a:ext cx="231526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硬件语义注入 · 多引擎归一（自研）</a:t>
              </a:r>
              <a:endParaRPr lang="zh-CN" sz="1010" b="1" dirty="0">
                <a:solidFill>
                  <a:srgbClr val="B4530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08846" y="3640693"/>
              <a:ext cx="1764375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告警携带寄存器 / 中断上下文证据</a:t>
              </a:r>
              <a:endParaRPr lang="zh-CN" sz="86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33400" y="4038600"/>
            <a:ext cx="9772650" cy="742950"/>
            <a:chOff x="533400" y="4038600"/>
            <a:chExt cx="9772650" cy="742950"/>
          </a:xfrm>
        </p:grpSpPr>
        <p:sp>
          <p:nvSpPr>
            <p:cNvPr id="52" name="Rectangle 52"/>
            <p:cNvSpPr/>
            <p:nvPr/>
          </p:nvSpPr>
          <p:spPr>
            <a:xfrm>
              <a:off x="533400" y="4038600"/>
              <a:ext cx="495300" cy="74295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6670" y="4224814"/>
              <a:ext cx="22876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L4</a:t>
              </a:r>
              <a:endPara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61022" y="4486989"/>
              <a:ext cx="440055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A9C3E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多智能体</a:t>
              </a:r>
              <a:endParaRPr lang="zh-CN" sz="790" dirty="0">
                <a:solidFill>
                  <a:srgbClr val="A9C3E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104900" y="4038600"/>
              <a:ext cx="9201150" cy="7429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1257300" y="4171950"/>
              <a:ext cx="28575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377791" y="4262676"/>
              <a:ext cx="1159859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告警分诊（自研）</a:t>
              </a:r>
              <a:endParaRPr lang="zh-CN" sz="1010" b="1" dirty="0">
                <a:solidFill>
                  <a:srgbClr val="B4530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379696" y="4459843"/>
              <a:ext cx="2000155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上下文裁剪 → 首判 → A-RAG → 证据核对</a:t>
              </a:r>
              <a:endParaRPr lang="zh-CN" sz="86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4267200" y="4171950"/>
              <a:ext cx="28575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387691" y="4262676"/>
              <a:ext cx="1443395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修复验证闭环（自研）</a:t>
              </a:r>
              <a:endParaRPr lang="zh-CN" sz="1010" b="1" dirty="0">
                <a:solidFill>
                  <a:srgbClr val="B4530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389596" y="4459843"/>
              <a:ext cx="1758625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补丁须过静态重扫 + gcc 语法检查</a:t>
              </a:r>
              <a:endParaRPr lang="zh-CN" sz="86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277100" y="4171950"/>
              <a:ext cx="287655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397591" y="4262676"/>
              <a:ext cx="1868698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六智能体确定性编排（自研）</a:t>
              </a:r>
              <a:endParaRPr lang="zh-CN" sz="1010" b="1" dirty="0">
                <a:solidFill>
                  <a:srgbClr val="B4530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99496" y="4459843"/>
              <a:ext cx="2391204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vLLM / Ollama 端点（复用）+ Mock 离线可测</a:t>
              </a:r>
              <a:endParaRPr lang="zh-CN" sz="86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33400" y="4857750"/>
            <a:ext cx="9772650" cy="742950"/>
            <a:chOff x="533400" y="4857750"/>
            <a:chExt cx="9772650" cy="742950"/>
          </a:xfrm>
        </p:grpSpPr>
        <p:sp>
          <p:nvSpPr>
            <p:cNvPr id="66" name="Rectangle 66"/>
            <p:cNvSpPr/>
            <p:nvPr/>
          </p:nvSpPr>
          <p:spPr>
            <a:xfrm>
              <a:off x="533400" y="4857750"/>
              <a:ext cx="495300" cy="742950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66670" y="5043964"/>
              <a:ext cx="22876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L5</a:t>
              </a:r>
              <a:endPara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61022" y="5306139"/>
              <a:ext cx="440055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D8E6F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聚合输出</a:t>
              </a:r>
              <a:endParaRPr lang="zh-CN" sz="790" dirty="0">
                <a:solidFill>
                  <a:srgbClr val="D8E6F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104900" y="4857750"/>
              <a:ext cx="9201150" cy="7429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1257300" y="4991100"/>
              <a:ext cx="28575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377791" y="5081826"/>
              <a:ext cx="2173498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指纹去重 + 可证明性分级（自研）</a:t>
              </a:r>
              <a:endParaRPr lang="zh-CN" sz="1010" b="1" dirty="0">
                <a:solidFill>
                  <a:srgbClr val="B4530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379696" y="5278993"/>
              <a:ext cx="1741372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Proven / Detected / Suspected</a:t>
              </a:r>
              <a:endParaRPr lang="zh-CN" sz="86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4267200" y="4991100"/>
              <a:ext cx="28575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4387691" y="5081826"/>
              <a:ext cx="2549183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CWE ↔ MISRA ↔ GJB 双口径（标准映射）</a:t>
              </a:r>
              <a:endParaRPr lang="zh-CN" sz="1010" b="1" dirty="0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389596" y="5278993"/>
              <a:ext cx="1172051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合规记录表双标准呈现</a:t>
              </a:r>
              <a:endParaRPr lang="zh-CN" sz="86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277100" y="4991100"/>
              <a:ext cx="287655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397591" y="5081826"/>
              <a:ext cx="1847433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HTML 报告 + 证据链（自研）</a:t>
              </a:r>
              <a:endParaRPr lang="zh-CN" sz="1010" b="1" dirty="0">
                <a:solidFill>
                  <a:srgbClr val="B4530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399496" y="5278993"/>
              <a:ext cx="1563100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含 LLM 结论、PoC 与合规记录</a:t>
              </a:r>
              <a:endParaRPr lang="zh-CN" sz="86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10458450" y="1581150"/>
            <a:ext cx="1200150" cy="4019550"/>
            <a:chOff x="10458450" y="1581150"/>
            <a:chExt cx="1200150" cy="4019550"/>
          </a:xfrm>
        </p:grpSpPr>
        <p:sp>
          <p:nvSpPr>
            <p:cNvPr id="80" name="Rectangle 80"/>
            <p:cNvSpPr/>
            <p:nvPr/>
          </p:nvSpPr>
          <p:spPr>
            <a:xfrm>
              <a:off x="10458450" y="1581150"/>
              <a:ext cx="1200150" cy="4019550"/>
            </a:xfrm>
            <a:prstGeom prst="roundRect">
              <a:avLst>
                <a:gd name="adj" fmla="val 6349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0909625" y="1761649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产物</a:t>
              </a:r>
              <a:endParaRPr lang="zh-CN" sz="975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10610850" y="2057400"/>
              <a:ext cx="895350" cy="361950"/>
            </a:xfrm>
            <a:prstGeom prst="roundRect">
              <a:avLst>
                <a:gd name="adj" fmla="val 15789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0665148" y="2192893"/>
              <a:ext cx="786753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17375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results.sarif</a:t>
              </a:r>
              <a:endParaRPr lang="zh-CN" sz="860" dirty="0">
                <a:solidFill>
                  <a:srgbClr val="1737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10610850" y="2571750"/>
              <a:ext cx="895350" cy="361950"/>
            </a:xfrm>
            <a:prstGeom prst="roundRect">
              <a:avLst>
                <a:gd name="adj" fmla="val 15789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0702528" y="2707243"/>
              <a:ext cx="711994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17375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report.html</a:t>
              </a:r>
              <a:endParaRPr lang="zh-CN" sz="860" dirty="0">
                <a:solidFill>
                  <a:srgbClr val="1737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10610850" y="3086100"/>
              <a:ext cx="895350" cy="361950"/>
            </a:xfrm>
            <a:prstGeom prst="roundRect">
              <a:avLst>
                <a:gd name="adj" fmla="val 15789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10650772" y="3221593"/>
              <a:ext cx="815507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17375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fixes/*.patch</a:t>
              </a:r>
              <a:endParaRPr lang="zh-CN" sz="860" dirty="0">
                <a:solidFill>
                  <a:srgbClr val="1737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10610850" y="3600450"/>
              <a:ext cx="895350" cy="361950"/>
            </a:xfrm>
            <a:prstGeom prst="roundRect">
              <a:avLst>
                <a:gd name="adj" fmla="val 15789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10820418" y="3735943"/>
              <a:ext cx="476214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17375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PoC 证据</a:t>
              </a:r>
              <a:endParaRPr lang="zh-CN" sz="860" dirty="0">
                <a:solidFill>
                  <a:srgbClr val="1737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10610850" y="4114800"/>
              <a:ext cx="89535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10760035" y="4212193"/>
              <a:ext cx="596979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增量影响集</a:t>
              </a:r>
              <a:endParaRPr lang="zh-CN" sz="860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768661" y="4383643"/>
              <a:ext cx="579727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/ 告警基线</a:t>
              </a:r>
              <a:endParaRPr lang="zh-CN" sz="860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10610850" y="4743450"/>
              <a:ext cx="895350" cy="6286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10817542" y="4897993"/>
              <a:ext cx="481965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消融评测</a:t>
              </a:r>
              <a:endParaRPr lang="zh-CN" sz="860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932557" y="5069443"/>
              <a:ext cx="251936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报告</a:t>
              </a:r>
              <a:endParaRPr lang="zh-CN" sz="860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533400" y="5772150"/>
            <a:ext cx="11125200" cy="495300"/>
            <a:chOff x="533400" y="5772150"/>
            <a:chExt cx="11125200" cy="495300"/>
          </a:xfrm>
        </p:grpSpPr>
        <p:sp>
          <p:nvSpPr>
            <p:cNvPr id="97" name="Rectangle 97"/>
            <p:cNvSpPr/>
            <p:nvPr/>
          </p:nvSpPr>
          <p:spPr>
            <a:xfrm>
              <a:off x="533400" y="5772150"/>
              <a:ext cx="11125200" cy="495300"/>
            </a:xfrm>
            <a:prstGeom prst="roundRect">
              <a:avLst>
                <a:gd name="adj" fmla="val 15385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710089" y="5959554"/>
              <a:ext cx="9881604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零依赖策略</a:t>
              </a:r>
              <a:r>
                <a:rPr lang="zh-CN" sz="109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：词法 / 结构分析、SARIF 读写、HTTP 服务均为标准库实现；Web 控制台（ThreadingHTTPServer + SQLite + 原生 JS/CSS）零外链离线可用</a:t>
              </a:r>
              <a:endParaRPr lang="zh-CN" sz="109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522922" y="6578441"/>
            <a:ext cx="11146155" cy="167640"/>
            <a:chOff x="522922" y="6578441"/>
            <a:chExt cx="11146155" cy="167640"/>
          </a:xfrm>
        </p:grpSpPr>
        <p:sp>
          <p:nvSpPr>
            <p:cNvPr id="100" name="TextBox 100"/>
            <p:cNvSpPr txBox="1"/>
            <p:nvPr/>
          </p:nvSpPr>
          <p:spPr>
            <a:xfrm>
              <a:off x="522922" y="6578441"/>
              <a:ext cx="67923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架构对照《调研与技术方案》V1.2 五层设计；模块与当前代码结构一一对应（ecdet.l1_build / l3_analysis / l2_ir / l4_llm / l5_report）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07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6" grpId="0"/>
      <p:bldP spid="40" grpId="0"/>
      <p:bldP spid="51" grpId="0"/>
      <p:bldP spid="65" grpId="0"/>
      <p:bldP spid="79" grpId="0"/>
      <p:bldP spid="96" grpId="0"/>
      <p:bldP spid="9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495300"/>
            <a:ext cx="11135677" cy="671512"/>
            <a:chOff x="533400" y="495300"/>
            <a:chExt cx="11135677" cy="671512"/>
          </a:xfrm>
        </p:grpSpPr>
        <p:sp>
          <p:nvSpPr>
            <p:cNvPr id="3" name="Rectangle 3"/>
            <p:cNvSpPr/>
            <p:nvPr/>
          </p:nvSpPr>
          <p:spPr>
            <a:xfrm rot="2700000">
              <a:off x="552450" y="495300"/>
              <a:ext cx="161925" cy="161925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 rot="2700000">
              <a:off x="704850" y="590550"/>
              <a:ext cx="95250" cy="95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9168" y="523399"/>
              <a:ext cx="17084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 · 设计与实现 · 关键实现①</a:t>
              </a:r>
              <a:endParaRPr lang="zh-CN" sz="97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709612"/>
              <a:ext cx="660996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关键实现①：任意嵌入式工程 → 统一 SARIF 表示</a:t>
              </a:r>
              <a:endParaRPr lang="zh-CN" sz="225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38821" y="53959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ecdet · 嵌入式软件代码缺陷与安全漏洞检测系统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85850"/>
              <a:ext cx="13335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4350" y="1323975"/>
            <a:ext cx="8659178" cy="304800"/>
            <a:chOff x="514350" y="1323975"/>
            <a:chExt cx="8659178" cy="304800"/>
          </a:xfrm>
        </p:grpSpPr>
        <p:sp>
          <p:nvSpPr>
            <p:cNvPr id="11" name="TextBox 11"/>
            <p:cNvSpPr txBox="1"/>
            <p:nvPr/>
          </p:nvSpPr>
          <p:spPr>
            <a:xfrm>
              <a:off x="514350" y="1323975"/>
              <a:ext cx="86591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输入的单位是</a:t>
              </a:r>
              <a:r>
                <a:rPr lang="zh-CN" sz="150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工程目录</a:t>
              </a:r>
              <a:r>
                <a:rPr lang="zh-CN" sz="150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：三种来源归一为服务端可访问目录，分析结果归一为</a:t>
              </a:r>
              <a:r>
                <a:rPr lang="zh-CN" sz="150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单一 SARIF 数据模型</a:t>
              </a:r>
              <a:endParaRPr lang="zh-CN" sz="1500" b="1" dirty="0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33400" y="1714500"/>
            <a:ext cx="2590800" cy="3200400"/>
            <a:chOff x="533400" y="1714500"/>
            <a:chExt cx="2590800" cy="3200400"/>
          </a:xfrm>
        </p:grpSpPr>
        <p:sp>
          <p:nvSpPr>
            <p:cNvPr id="13" name="Rectangle 13"/>
            <p:cNvSpPr/>
            <p:nvPr/>
          </p:nvSpPr>
          <p:spPr>
            <a:xfrm>
              <a:off x="533400" y="1714500"/>
              <a:ext cx="2590800" cy="3200400"/>
            </a:xfrm>
            <a:prstGeom prst="roundRect">
              <a:avLst>
                <a:gd name="adj" fmla="val 2941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33400" y="1714500"/>
              <a:ext cx="2590800" cy="400050"/>
            </a:xfrm>
            <a:custGeom>
              <a:avLst/>
              <a:gdLst/>
              <a:ahLst/>
              <a:cxnLst/>
              <a:rect l="l" t="t" r="r" b="b"/>
              <a:pathLst>
                <a:path w="2590800" h="40005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514600" y="0"/>
                  </a:lnTo>
                  <a:cubicBezTo>
                    <a:pt x="2556684" y="0"/>
                    <a:pt x="2590800" y="34116"/>
                    <a:pt x="2590800" y="76200"/>
                  </a:cubicBezTo>
                  <a:lnTo>
                    <a:pt x="2590800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8660" y="1861185"/>
              <a:ext cx="8453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① 工程接入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114550"/>
              <a:ext cx="2590800" cy="285750"/>
            </a:xfrm>
            <a:prstGeom prst="rect">
              <a:avLst/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313307" y="2207895"/>
              <a:ext cx="10309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三源归一（自研）</a:t>
              </a:r>
              <a:endParaRPr lang="zh-CN" sz="90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6762" y="2633662"/>
              <a:ext cx="66675" cy="66675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2018" y="2609374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本地路径：零拷贝直引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6762" y="2976562"/>
              <a:ext cx="66675" cy="66675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2018" y="2952274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压缩包：解压防路径逃逸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Ellipse 22"/>
            <p:cNvSpPr/>
            <p:nvPr/>
          </p:nvSpPr>
          <p:spPr>
            <a:xfrm>
              <a:off x="766762" y="3319462"/>
              <a:ext cx="66675" cy="66675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2018" y="3295174"/>
              <a:ext cx="1545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Git 仓库：浅克隆入工作区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2970" y="3560445"/>
              <a:ext cx="15890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私有库支持 token，支持重复</a:t>
              </a:r>
              <a:endParaRPr lang="zh-CN" sz="900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2970" y="3731895"/>
              <a:ext cx="6049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/ 增量扫描</a:t>
              </a:r>
              <a:endParaRPr lang="zh-CN" sz="900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685800" y="40767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D8E0E9"/>
              </a:solidFill>
              <a:prstDash val="dash"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23900" y="4229100"/>
              <a:ext cx="2209800" cy="533400"/>
            </a:xfrm>
            <a:prstGeom prst="roundRect">
              <a:avLst>
                <a:gd name="adj" fmla="val 10714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587294" y="4359116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阶段产物</a:t>
              </a:r>
              <a:endParaRPr lang="zh-CN" sz="825" b="1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3882" y="4544378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可访问的工作区目录</a:t>
              </a:r>
              <a:endParaRPr lang="zh-CN" sz="105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505200" y="1714500"/>
            <a:ext cx="2590800" cy="3200400"/>
            <a:chOff x="3505200" y="1714500"/>
            <a:chExt cx="2590800" cy="3200400"/>
          </a:xfrm>
        </p:grpSpPr>
        <p:sp>
          <p:nvSpPr>
            <p:cNvPr id="31" name="Rectangle 31"/>
            <p:cNvSpPr/>
            <p:nvPr/>
          </p:nvSpPr>
          <p:spPr>
            <a:xfrm>
              <a:off x="3505200" y="1714500"/>
              <a:ext cx="2590800" cy="3200400"/>
            </a:xfrm>
            <a:prstGeom prst="roundRect">
              <a:avLst>
                <a:gd name="adj" fmla="val 2941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3505200" y="1714500"/>
              <a:ext cx="2590800" cy="400050"/>
            </a:xfrm>
            <a:custGeom>
              <a:avLst/>
              <a:gdLst/>
              <a:ahLst/>
              <a:cxnLst/>
              <a:rect l="l" t="t" r="r" b="b"/>
              <a:pathLst>
                <a:path w="2590800" h="40005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514600" y="0"/>
                  </a:lnTo>
                  <a:cubicBezTo>
                    <a:pt x="2556684" y="0"/>
                    <a:pt x="2590800" y="34116"/>
                    <a:pt x="2590800" y="76200"/>
                  </a:cubicBezTo>
                  <a:lnTo>
                    <a:pt x="2590800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680460" y="1861185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② 构建复现 L1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505200" y="2114550"/>
              <a:ext cx="2590800" cy="285750"/>
            </a:xfrm>
            <a:prstGeom prst="rect">
              <a:avLst/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907060" y="2207895"/>
              <a:ext cx="17870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闭源 IDE 工程格式（自研解析）</a:t>
              </a:r>
              <a:endParaRPr lang="zh-CN" sz="90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Ellipse 36"/>
            <p:cNvSpPr/>
            <p:nvPr/>
          </p:nvSpPr>
          <p:spPr>
            <a:xfrm>
              <a:off x="3738562" y="2633662"/>
              <a:ext cx="66675" cy="66675"/>
            </a:xfrm>
            <a:prstGeom prst="ellipse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873818" y="2609374"/>
              <a:ext cx="19360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Keil .uvprojx / IAR .ewp 解析器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Ellipse 38"/>
            <p:cNvSpPr/>
            <p:nvPr/>
          </p:nvSpPr>
          <p:spPr>
            <a:xfrm>
              <a:off x="3738562" y="2976562"/>
              <a:ext cx="66675" cy="66675"/>
            </a:xfrm>
            <a:prstGeom prst="ellipse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873818" y="2952274"/>
              <a:ext cx="14679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翻译为等价 Clang 命令行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Ellipse 40"/>
            <p:cNvSpPr/>
            <p:nvPr/>
          </p:nvSpPr>
          <p:spPr>
            <a:xfrm>
              <a:off x="3738562" y="3319462"/>
              <a:ext cx="66675" cy="66675"/>
            </a:xfrm>
            <a:prstGeom prst="ellipse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873818" y="3295174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无构建信息 → 源码直扫退化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874770" y="3560445"/>
              <a:ext cx="14810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解决 P1：通用工具依赖完整</a:t>
              </a:r>
              <a:endParaRPr lang="zh-CN" sz="900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874770" y="3731895"/>
              <a:ext cx="1583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构建捕获，嵌入式工程多没有</a:t>
              </a:r>
              <a:endParaRPr lang="zh-CN" sz="900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Line 44"/>
            <p:cNvSpPr/>
            <p:nvPr/>
          </p:nvSpPr>
          <p:spPr>
            <a:xfrm>
              <a:off x="3657600" y="40767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D8E0E9"/>
              </a:solidFill>
              <a:prstDash val="dash"/>
            </a:ln>
          </p:spPr>
        </p:sp>
        <p:sp>
          <p:nvSpPr>
            <p:cNvPr id="45" name="Rectangle 45"/>
            <p:cNvSpPr/>
            <p:nvPr/>
          </p:nvSpPr>
          <p:spPr>
            <a:xfrm>
              <a:off x="3695700" y="4229100"/>
              <a:ext cx="2209800" cy="533400"/>
            </a:xfrm>
            <a:prstGeom prst="roundRect">
              <a:avLst>
                <a:gd name="adj" fmla="val 10714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559094" y="4359116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阶段产物</a:t>
              </a:r>
              <a:endParaRPr lang="zh-CN" sz="825" b="1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010070" y="4552474"/>
              <a:ext cx="15810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7375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compile_commands.json</a:t>
              </a:r>
              <a:endParaRPr lang="zh-CN" sz="975" b="1" dirty="0">
                <a:solidFill>
                  <a:srgbClr val="1737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477000" y="1714500"/>
            <a:ext cx="2590800" cy="3200400"/>
            <a:chOff x="6477000" y="1714500"/>
            <a:chExt cx="2590800" cy="3200400"/>
          </a:xfrm>
        </p:grpSpPr>
        <p:sp>
          <p:nvSpPr>
            <p:cNvPr id="49" name="Rectangle 49"/>
            <p:cNvSpPr/>
            <p:nvPr/>
          </p:nvSpPr>
          <p:spPr>
            <a:xfrm>
              <a:off x="6477000" y="1714500"/>
              <a:ext cx="2590800" cy="3200400"/>
            </a:xfrm>
            <a:prstGeom prst="roundRect">
              <a:avLst>
                <a:gd name="adj" fmla="val 2941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6477000" y="1714500"/>
              <a:ext cx="2590800" cy="400050"/>
            </a:xfrm>
            <a:custGeom>
              <a:avLst/>
              <a:gdLst/>
              <a:ahLst/>
              <a:cxnLst/>
              <a:rect l="l" t="t" r="r" b="b"/>
              <a:pathLst>
                <a:path w="2590800" h="40005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514600" y="0"/>
                  </a:lnTo>
                  <a:cubicBezTo>
                    <a:pt x="2556684" y="0"/>
                    <a:pt x="2590800" y="34116"/>
                    <a:pt x="2590800" y="76200"/>
                  </a:cubicBezTo>
                  <a:lnTo>
                    <a:pt x="2590800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52260" y="1861185"/>
              <a:ext cx="12486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③ 多引擎分析 L3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77000" y="2114550"/>
              <a:ext cx="2590800" cy="285750"/>
            </a:xfrm>
            <a:prstGeom prst="rect">
              <a:avLst/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058432" y="2207895"/>
              <a:ext cx="14279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内置规则 + 外部引擎并行</a:t>
              </a:r>
              <a:endParaRPr lang="zh-CN" sz="90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Ellipse 54"/>
            <p:cNvSpPr/>
            <p:nvPr/>
          </p:nvSpPr>
          <p:spPr>
            <a:xfrm>
              <a:off x="6710362" y="2633662"/>
              <a:ext cx="66675" cy="66675"/>
            </a:xfrm>
            <a:prstGeom prst="ellipse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45618" y="2609374"/>
              <a:ext cx="1545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自研 C 解析器 + 30 条规则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Ellipse 56"/>
            <p:cNvSpPr/>
            <p:nvPr/>
          </p:nvSpPr>
          <p:spPr>
            <a:xfrm>
              <a:off x="6710362" y="2976562"/>
              <a:ext cx="66675" cy="66675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845618" y="2952274"/>
              <a:ext cx="1929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cppcheck / clang-tidy / ESBMC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8" name="Ellipse 58"/>
            <p:cNvSpPr/>
            <p:nvPr/>
          </p:nvSpPr>
          <p:spPr>
            <a:xfrm>
              <a:off x="6710362" y="3319462"/>
              <a:ext cx="66675" cy="66675"/>
            </a:xfrm>
            <a:prstGeom prst="ellipse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845618" y="3295174"/>
              <a:ext cx="17344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硬件语义 + 抽象解释同场分析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46570" y="3560445"/>
              <a:ext cx="1583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外部引擎检测到安装即接入，</a:t>
              </a:r>
              <a:endParaRPr lang="zh-CN" sz="900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46570" y="3731895"/>
              <a:ext cx="14630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缺装自动降级不阻断流水线</a:t>
              </a:r>
              <a:endParaRPr lang="zh-CN" sz="900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2" name="Line 62"/>
            <p:cNvSpPr/>
            <p:nvPr/>
          </p:nvSpPr>
          <p:spPr>
            <a:xfrm>
              <a:off x="6629400" y="40767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D8E0E9"/>
              </a:solidFill>
              <a:prstDash val="dash"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591300" y="4229100"/>
              <a:ext cx="2362200" cy="533400"/>
            </a:xfrm>
            <a:prstGeom prst="roundRect">
              <a:avLst>
                <a:gd name="adj" fmla="val 10714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530894" y="4359116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阶段产物</a:t>
              </a:r>
              <a:endParaRPr lang="zh-CN" sz="825" b="1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244501" y="4544378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各引擎原始告警</a:t>
              </a:r>
              <a:endParaRPr lang="zh-CN" sz="105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9448800" y="1714500"/>
            <a:ext cx="2209800" cy="3200400"/>
            <a:chOff x="9448800" y="1714500"/>
            <a:chExt cx="2209800" cy="3200400"/>
          </a:xfrm>
        </p:grpSpPr>
        <p:sp>
          <p:nvSpPr>
            <p:cNvPr id="67" name="Rectangle 67"/>
            <p:cNvSpPr/>
            <p:nvPr/>
          </p:nvSpPr>
          <p:spPr>
            <a:xfrm>
              <a:off x="9448800" y="1714500"/>
              <a:ext cx="2209800" cy="3200400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9448800" y="1714500"/>
              <a:ext cx="2209800" cy="400050"/>
            </a:xfrm>
            <a:custGeom>
              <a:avLst/>
              <a:gdLst/>
              <a:ahLst/>
              <a:cxnLst/>
              <a:rect l="l" t="t" r="r" b="b"/>
              <a:pathLst>
                <a:path w="2209800" h="40005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133600" y="0"/>
                  </a:lnTo>
                  <a:cubicBezTo>
                    <a:pt x="2175684" y="0"/>
                    <a:pt x="2209800" y="34116"/>
                    <a:pt x="2209800" y="76200"/>
                  </a:cubicBezTo>
                  <a:lnTo>
                    <a:pt x="2209800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624060" y="1861185"/>
              <a:ext cx="10806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④ 统一表示 L2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448800" y="2114550"/>
              <a:ext cx="2209800" cy="285750"/>
            </a:xfrm>
            <a:prstGeom prst="rect">
              <a:avLst/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987801" y="2207895"/>
              <a:ext cx="11317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SARIF 单一数据模型</a:t>
              </a:r>
              <a:endParaRPr lang="zh-CN" sz="90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Ellipse 72"/>
            <p:cNvSpPr/>
            <p:nvPr/>
          </p:nvSpPr>
          <p:spPr>
            <a:xfrm>
              <a:off x="9663112" y="2633662"/>
              <a:ext cx="66675" cy="66675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798368" y="2609374"/>
              <a:ext cx="16239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SARIF 2.1.0（OASIS 标准）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4" name="Ellipse 74"/>
            <p:cNvSpPr/>
            <p:nvPr/>
          </p:nvSpPr>
          <p:spPr>
            <a:xfrm>
              <a:off x="9663112" y="2976562"/>
              <a:ext cx="66675" cy="66675"/>
            </a:xfrm>
            <a:prstGeom prst="ellipse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798368" y="2952274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硬件语义注入告警上下文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6" name="Ellipse 76"/>
            <p:cNvSpPr/>
            <p:nvPr/>
          </p:nvSpPr>
          <p:spPr>
            <a:xfrm>
              <a:off x="9663112" y="3319462"/>
              <a:ext cx="66675" cy="66675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798368" y="3295174"/>
              <a:ext cx="16174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供 L4 研判 / L5 聚合 / Web</a:t>
              </a:r>
              <a:endParaRPr lang="zh-CN" sz="97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799320" y="3560445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一处分析，处处消费；</a:t>
              </a:r>
              <a:endParaRPr lang="zh-CN" sz="900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799320" y="3731895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标准格式可接任意下游</a:t>
              </a:r>
              <a:endParaRPr lang="zh-CN" sz="900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0" name="Line 80"/>
            <p:cNvSpPr/>
            <p:nvPr/>
          </p:nvSpPr>
          <p:spPr>
            <a:xfrm>
              <a:off x="9601200" y="40767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D8E0E9"/>
              </a:solidFill>
              <a:prstDash val="dash"/>
            </a:ln>
          </p:spPr>
        </p:sp>
        <p:sp>
          <p:nvSpPr>
            <p:cNvPr id="81" name="Rectangle 81"/>
            <p:cNvSpPr/>
            <p:nvPr/>
          </p:nvSpPr>
          <p:spPr>
            <a:xfrm>
              <a:off x="9563100" y="4229100"/>
              <a:ext cx="1981200" cy="533400"/>
            </a:xfrm>
            <a:prstGeom prst="roundRect">
              <a:avLst>
                <a:gd name="adj" fmla="val 10714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0312194" y="4359116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阶段产物</a:t>
              </a:r>
              <a:endParaRPr lang="zh-CN" sz="825" b="1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087398" y="4552474"/>
              <a:ext cx="9326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70C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results.sarif</a:t>
              </a:r>
              <a:endParaRPr lang="zh-CN" sz="975" b="1" dirty="0">
                <a:solidFill>
                  <a:srgbClr val="0070C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3162300" y="3200400"/>
            <a:ext cx="6229350" cy="228600"/>
            <a:chOff x="3162300" y="3200400"/>
            <a:chExt cx="6229350" cy="228600"/>
          </a:xfrm>
        </p:grpSpPr>
        <p:sp>
          <p:nvSpPr>
            <p:cNvPr id="85" name="Freeform 85"/>
            <p:cNvSpPr/>
            <p:nvPr/>
          </p:nvSpPr>
          <p:spPr>
            <a:xfrm>
              <a:off x="3162300" y="3200400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0" y="76200"/>
                  </a:moveTo>
                  <a:lnTo>
                    <a:pt x="123825" y="76200"/>
                  </a:lnTo>
                  <a:lnTo>
                    <a:pt x="123825" y="0"/>
                  </a:lnTo>
                  <a:lnTo>
                    <a:pt x="285750" y="114300"/>
                  </a:lnTo>
                  <a:lnTo>
                    <a:pt x="123825" y="228600"/>
                  </a:lnTo>
                  <a:lnTo>
                    <a:pt x="12382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86" name="Freeform 86"/>
            <p:cNvSpPr/>
            <p:nvPr/>
          </p:nvSpPr>
          <p:spPr>
            <a:xfrm>
              <a:off x="6134100" y="3200400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0" y="76200"/>
                  </a:moveTo>
                  <a:lnTo>
                    <a:pt x="123825" y="76200"/>
                  </a:lnTo>
                  <a:lnTo>
                    <a:pt x="123825" y="0"/>
                  </a:lnTo>
                  <a:lnTo>
                    <a:pt x="285750" y="114300"/>
                  </a:lnTo>
                  <a:lnTo>
                    <a:pt x="123825" y="228600"/>
                  </a:lnTo>
                  <a:lnTo>
                    <a:pt x="12382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87" name="Freeform 87"/>
            <p:cNvSpPr/>
            <p:nvPr/>
          </p:nvSpPr>
          <p:spPr>
            <a:xfrm>
              <a:off x="9105900" y="3200400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0" y="76200"/>
                  </a:moveTo>
                  <a:lnTo>
                    <a:pt x="123825" y="76200"/>
                  </a:lnTo>
                  <a:lnTo>
                    <a:pt x="123825" y="0"/>
                  </a:lnTo>
                  <a:lnTo>
                    <a:pt x="285750" y="114300"/>
                  </a:lnTo>
                  <a:lnTo>
                    <a:pt x="123825" y="228600"/>
                  </a:lnTo>
                  <a:lnTo>
                    <a:pt x="12382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</p:grpSp>
      <p:grpSp>
        <p:nvGrpSpPr>
          <p:cNvPr id="92" name="Group 92"/>
          <p:cNvGrpSpPr/>
          <p:nvPr/>
        </p:nvGrpSpPr>
        <p:grpSpPr>
          <a:xfrm>
            <a:off x="533400" y="5143500"/>
            <a:ext cx="11125200" cy="990600"/>
            <a:chOff x="533400" y="5143500"/>
            <a:chExt cx="11125200" cy="990600"/>
          </a:xfrm>
        </p:grpSpPr>
        <p:sp>
          <p:nvSpPr>
            <p:cNvPr id="89" name="Rectangle 89"/>
            <p:cNvSpPr/>
            <p:nvPr/>
          </p:nvSpPr>
          <p:spPr>
            <a:xfrm>
              <a:off x="533400" y="5143500"/>
              <a:ext cx="11125200" cy="990600"/>
            </a:xfrm>
            <a:prstGeom prst="roundRect">
              <a:avLst>
                <a:gd name="adj" fmla="val 7692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47712" y="5364956"/>
              <a:ext cx="62543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复用</a:t>
              </a:r>
              <a:r>
                <a:rPr lang="zh-CN" sz="112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SARIF 2.1.0 交换标准 · compile_commands.json 编译数据库格式 · Clang / GCC 工具链</a:t>
              </a:r>
              <a:endParaRPr lang="zh-CN" sz="112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47712" y="5707856"/>
              <a:ext cx="61568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自研</a:t>
              </a:r>
              <a:r>
                <a:rPr lang="zh-CN" sz="112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Keil / IAR 闭源工程解析器 · 三源归一管线 · C 词法 / 结构解析器与 30 条内置规则引擎</a:t>
              </a:r>
              <a:endParaRPr lang="zh-CN" sz="112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522922" y="6578441"/>
            <a:ext cx="11146155" cy="167640"/>
            <a:chOff x="522922" y="6578441"/>
            <a:chExt cx="11146155" cy="167640"/>
          </a:xfrm>
        </p:grpSpPr>
        <p:sp>
          <p:nvSpPr>
            <p:cNvPr id="93" name="TextBox 93"/>
            <p:cNvSpPr txBox="1"/>
            <p:nvPr/>
          </p:nvSpPr>
          <p:spPr>
            <a:xfrm>
              <a:off x="522922" y="6578441"/>
              <a:ext cx="573616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命令：uv run ecdet init-ccdb &lt;工程&gt; · uv run ecdet scan &lt;工程&gt;；对应问题域 P1（构建复现）与 P3（统一表示）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08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0" grpId="0"/>
      <p:bldP spid="48" grpId="0"/>
      <p:bldP spid="66" grpId="0"/>
      <p:bldP spid="84" grpId="0"/>
      <p:bldP spid="88" grpId="0"/>
      <p:bldP spid="9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495300"/>
            <a:ext cx="11135677" cy="671512"/>
            <a:chOff x="533400" y="495300"/>
            <a:chExt cx="11135677" cy="671512"/>
          </a:xfrm>
        </p:grpSpPr>
        <p:sp>
          <p:nvSpPr>
            <p:cNvPr id="3" name="Rectangle 3"/>
            <p:cNvSpPr/>
            <p:nvPr/>
          </p:nvSpPr>
          <p:spPr>
            <a:xfrm rot="2700000">
              <a:off x="552450" y="495300"/>
              <a:ext cx="161925" cy="161925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 rot="2700000">
              <a:off x="704850" y="590550"/>
              <a:ext cx="95250" cy="95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9168" y="523399"/>
              <a:ext cx="17084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 · 设计与实现 · 关键实现②</a:t>
              </a:r>
              <a:endParaRPr lang="zh-CN" sz="97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709612"/>
              <a:ext cx="719279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关键实现②：静态通道——规则、硬件语义与可证明性</a:t>
              </a:r>
              <a:endParaRPr lang="zh-CN" sz="225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38821" y="53959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ecdet · 嵌入式软件代码缺陷与安全漏洞检测系统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85850"/>
              <a:ext cx="13335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4350" y="1323975"/>
            <a:ext cx="8099108" cy="304800"/>
            <a:chOff x="514350" y="1323975"/>
            <a:chExt cx="8099108" cy="304800"/>
          </a:xfrm>
        </p:grpSpPr>
        <p:sp>
          <p:nvSpPr>
            <p:cNvPr id="11" name="TextBox 11"/>
            <p:cNvSpPr txBox="1"/>
            <p:nvPr/>
          </p:nvSpPr>
          <p:spPr>
            <a:xfrm>
              <a:off x="514350" y="1323975"/>
              <a:ext cx="809910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以自研 C 词法 / 结构解析器为底座，</a:t>
              </a:r>
              <a:r>
                <a:rPr lang="zh-CN" sz="150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每条告警都带确定性证据</a:t>
              </a:r>
              <a:r>
                <a:rPr lang="zh-CN" sz="150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，而不是「模型觉得有问题」</a:t>
              </a:r>
              <a:endParaRPr lang="zh-CN" sz="150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33400" y="1695450"/>
            <a:ext cx="5334000" cy="3790950"/>
            <a:chOff x="533400" y="1695450"/>
            <a:chExt cx="5334000" cy="3790950"/>
          </a:xfrm>
        </p:grpSpPr>
        <p:sp>
          <p:nvSpPr>
            <p:cNvPr id="13" name="Rectangle 13"/>
            <p:cNvSpPr/>
            <p:nvPr/>
          </p:nvSpPr>
          <p:spPr>
            <a:xfrm>
              <a:off x="533400" y="1695450"/>
              <a:ext cx="5334000" cy="3790950"/>
            </a:xfrm>
            <a:prstGeom prst="roundRect">
              <a:avLst>
                <a:gd name="adj" fmla="val 2513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2955" y="1892618"/>
              <a:ext cx="21891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内置规则集构成（30 条）</a:t>
              </a:r>
              <a:endParaRPr lang="zh-CN" sz="135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51672" y="1937147"/>
              <a:ext cx="179903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40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条款来源：复用标准（第 11 页）</a:t>
              </a:r>
              <a:endParaRPr lang="zh-CN" sz="940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289" y="2301954"/>
              <a:ext cx="1672128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MISRA C:2012 子集 </a:t>
              </a:r>
              <a:r>
                <a:rPr lang="zh-CN" sz="109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17 条</a:t>
              </a:r>
              <a:endParaRPr lang="zh-CN" sz="1090" b="1" dirty="0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00100" y="2514600"/>
              <a:ext cx="2857500" cy="95250"/>
            </a:xfrm>
            <a:prstGeom prst="roundRect">
              <a:avLst>
                <a:gd name="adj" fmla="val 50000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800100" y="2514600"/>
              <a:ext cx="1619250" cy="95250"/>
            </a:xfrm>
            <a:prstGeom prst="roundRect">
              <a:avLst>
                <a:gd name="adj" fmla="val 50000"/>
              </a:avLst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503170" y="2512695"/>
              <a:ext cx="28432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10.3 / 10.4 整型转换族 · 17.2 递归 · 21.6 标准库 IO</a:t>
              </a:r>
              <a:endParaRPr lang="zh-CN" sz="90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6289" y="2911554"/>
              <a:ext cx="1169640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CERT C 子集 </a:t>
              </a:r>
              <a:r>
                <a:rPr lang="zh-CN" sz="109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 条</a:t>
              </a:r>
              <a:endParaRPr lang="zh-CN" sz="1090" b="1" dirty="0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3124200"/>
              <a:ext cx="2857500" cy="95250"/>
            </a:xfrm>
            <a:prstGeom prst="roundRect">
              <a:avLst>
                <a:gd name="adj" fmla="val 50000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00100" y="3124200"/>
              <a:ext cx="476250" cy="95250"/>
            </a:xfrm>
            <a:prstGeom prst="roundRect">
              <a:avLst>
                <a:gd name="adj" fmla="val 50000"/>
              </a:avLst>
            </a:prstGeom>
            <a:solidFill>
              <a:srgbClr val="2E75B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503170" y="3122295"/>
              <a:ext cx="29572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STR31-C 缓冲区拷贝 · ARR30-C 越界 · FIO30-C 格式串</a:t>
              </a:r>
              <a:endParaRPr lang="zh-CN" sz="90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6289" y="3521154"/>
              <a:ext cx="1428498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ECDET 缺陷规则 </a:t>
              </a:r>
              <a:r>
                <a:rPr lang="zh-CN" sz="109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 条</a:t>
              </a:r>
              <a:endParaRPr lang="zh-CN" sz="1090" b="1" dirty="0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00100" y="3733800"/>
              <a:ext cx="2857500" cy="95250"/>
            </a:xfrm>
            <a:prstGeom prst="roundRect">
              <a:avLst>
                <a:gd name="adj" fmla="val 50000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00100" y="3733800"/>
              <a:ext cx="381000" cy="95250"/>
            </a:xfrm>
            <a:prstGeom prst="roundRect">
              <a:avLst>
                <a:gd name="adj" fmla="val 50000"/>
              </a:avLst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503170" y="3731895"/>
              <a:ext cx="29812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CWE-242 gets · CWE-197 截断 · CWE-1284 scanf 无界</a:t>
              </a:r>
              <a:endParaRPr lang="zh-CN" sz="90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6289" y="4130754"/>
              <a:ext cx="3126297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ECDET 硬件语义规则 </a:t>
              </a:r>
              <a:r>
                <a:rPr lang="zh-CN" sz="1090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 条</a:t>
              </a:r>
              <a:r>
                <a:rPr lang="zh-CN" sz="900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（自研 · 核心差异）</a:t>
              </a:r>
              <a:endParaRPr lang="zh-CN" sz="900" b="1" dirty="0">
                <a:solidFill>
                  <a:srgbClr val="B4530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00100" y="4343400"/>
              <a:ext cx="2857500" cy="95250"/>
            </a:xfrm>
            <a:prstGeom prst="roundRect">
              <a:avLst>
                <a:gd name="adj" fmla="val 50000"/>
              </a:avLst>
            </a:prstGeom>
            <a:solidFill>
              <a:srgbClr val="F8EDE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00100" y="4343400"/>
              <a:ext cx="381000" cy="95250"/>
            </a:xfrm>
            <a:prstGeom prst="roundRect">
              <a:avLst>
                <a:gd name="adj" fmla="val 50000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503170" y="4341495"/>
              <a:ext cx="28612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MMIO 误写 · ISR 竞态 · volatile 缺失 · ISR 阻塞调用</a:t>
              </a:r>
              <a:endParaRPr lang="zh-CN" sz="90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00100" y="4762500"/>
              <a:ext cx="4800600" cy="495300"/>
            </a:xfrm>
            <a:prstGeom prst="roundRect">
              <a:avLst>
                <a:gd name="adj" fmla="val 11538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0118" y="4866799"/>
              <a:ext cx="33466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ISR 阻塞调用命中时自动提示 </a:t>
              </a:r>
              <a:r>
                <a:rPr lang="zh-CN" sz="975" b="1" dirty="0">
                  <a:solidFill>
                    <a:srgbClr val="5B6B7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FromISR</a:t>
              </a:r>
              <a:r>
                <a:rPr lang="zh-CN" sz="975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变体（FreeRTOS /</a:t>
              </a:r>
              <a:endParaRPr lang="zh-CN" sz="975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0118" y="5057299"/>
              <a:ext cx="34701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RT-Thread / CMSIS-OS2 语义表）；外部引擎告警同场分析</a:t>
              </a:r>
              <a:endParaRPr lang="zh-CN" sz="975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96000" y="1695450"/>
            <a:ext cx="5562600" cy="3790950"/>
            <a:chOff x="6096000" y="1695450"/>
            <a:chExt cx="5562600" cy="3790950"/>
          </a:xfrm>
        </p:grpSpPr>
        <p:sp>
          <p:nvSpPr>
            <p:cNvPr id="36" name="Rectangle 36"/>
            <p:cNvSpPr/>
            <p:nvPr/>
          </p:nvSpPr>
          <p:spPr>
            <a:xfrm>
              <a:off x="6096000" y="1695450"/>
              <a:ext cx="5562600" cy="3790950"/>
            </a:xfrm>
            <a:prstGeom prst="roundRect">
              <a:avLst>
                <a:gd name="adj" fmla="val 2513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45555" y="1892618"/>
              <a:ext cx="21891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可证明性三级（P4 机制）</a:t>
              </a:r>
              <a:endParaRPr lang="zh-CN" sz="135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879806" y="1937147"/>
              <a:ext cx="1524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40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误报抑制是机制，不是口号</a:t>
              </a:r>
              <a:endParaRPr lang="zh-CN" sz="940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362700" y="2228850"/>
              <a:ext cx="5029200" cy="933450"/>
            </a:xfrm>
            <a:prstGeom prst="roundRect">
              <a:avLst>
                <a:gd name="adj" fmla="val 8163"/>
              </a:avLst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75108" y="2415064"/>
              <a:ext cx="12106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Proven 已证明</a:t>
              </a:r>
              <a:endPara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78441" y="2710101"/>
              <a:ext cx="313110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D8E6F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抽象解释（函数内常量传播）证明必然越界才告警；</a:t>
              </a:r>
              <a:endParaRPr lang="zh-CN" sz="1010" dirty="0">
                <a:solidFill>
                  <a:srgbClr val="D8E6F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78441" y="2919651"/>
              <a:ext cx="2874574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D8E6F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证明</a:t>
              </a:r>
              <a:r>
                <a:rPr lang="zh-CN" sz="101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必然在界内则直接不告警</a:t>
              </a:r>
              <a:r>
                <a:rPr lang="zh-CN" sz="1010" dirty="0">
                  <a:solidFill>
                    <a:srgbClr val="D8E6F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——机制性抑制误报</a:t>
              </a:r>
              <a:endParaRPr lang="zh-CN" sz="1010" dirty="0">
                <a:solidFill>
                  <a:srgbClr val="D8E6F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362700" y="3276600"/>
              <a:ext cx="5029200" cy="933450"/>
            </a:xfrm>
            <a:prstGeom prst="roundRect">
              <a:avLst>
                <a:gd name="adj" fmla="val 8163"/>
              </a:avLst>
            </a:prstGeom>
            <a:solidFill>
              <a:srgbClr val="2E75B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75108" y="3462814"/>
              <a:ext cx="1407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Detected 已检出</a:t>
              </a:r>
              <a:endPara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78441" y="3757851"/>
              <a:ext cx="2071223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D8E6F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确定性词法 / 规则证据核对通过；</a:t>
              </a:r>
              <a:endParaRPr lang="zh-CN" sz="1010" dirty="0">
                <a:solidFill>
                  <a:srgbClr val="D8E6F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78441" y="3967401"/>
              <a:ext cx="2219742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D8E6F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ESBMC 界内验证失败同样以此级输出</a:t>
              </a:r>
              <a:endParaRPr lang="zh-CN" sz="1010" dirty="0">
                <a:solidFill>
                  <a:srgbClr val="D8E6F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362700" y="4324350"/>
              <a:ext cx="5029200" cy="933450"/>
            </a:xfrm>
            <a:prstGeom prst="roundRect">
              <a:avLst>
                <a:gd name="adj" fmla="val 8163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75108" y="4510564"/>
              <a:ext cx="150519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Suspected 待研判</a:t>
              </a:r>
              <a:endParaRPr lang="zh-CN" sz="1275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78441" y="4805601"/>
              <a:ext cx="265179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疑似告警交由</a:t>
              </a:r>
              <a:r>
                <a:rPr lang="zh-CN" sz="101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动态通道执行验证</a:t>
              </a:r>
              <a:r>
                <a:rPr lang="zh-CN" sz="101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（第 10 页）</a:t>
              </a:r>
              <a:endParaRPr lang="zh-CN" sz="101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78441" y="5015151"/>
              <a:ext cx="2888075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与</a:t>
              </a:r>
              <a:r>
                <a:rPr lang="zh-CN" sz="101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大模型分诊</a:t>
              </a:r>
              <a:r>
                <a:rPr lang="zh-CN" sz="101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继续查证（第 11 页），升级或降级</a:t>
              </a:r>
              <a:endParaRPr lang="zh-CN" sz="101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33400" y="5695950"/>
            <a:ext cx="11125200" cy="495300"/>
            <a:chOff x="533400" y="5695950"/>
            <a:chExt cx="11125200" cy="495300"/>
          </a:xfrm>
        </p:grpSpPr>
        <p:sp>
          <p:nvSpPr>
            <p:cNvPr id="52" name="Rectangle 52"/>
            <p:cNvSpPr/>
            <p:nvPr/>
          </p:nvSpPr>
          <p:spPr>
            <a:xfrm>
              <a:off x="533400" y="5695950"/>
              <a:ext cx="11125200" cy="495300"/>
            </a:xfrm>
            <a:prstGeom prst="roundRect">
              <a:avLst>
                <a:gd name="adj" fmla="val 15385"/>
              </a:avLst>
            </a:prstGeom>
            <a:solidFill>
              <a:srgbClr val="F8EDE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47712" y="5879306"/>
              <a:ext cx="82721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核心差异</a:t>
              </a:r>
              <a:r>
                <a:rPr lang="zh-CN" sz="112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通用工具不懂的，ecdet 确定性检出：CMSIS-SVD 寄存器属性解析 + ISR 识别与临界区区间判定 + RTOS API 语义表</a:t>
              </a:r>
              <a:endParaRPr lang="zh-CN" sz="112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22922" y="6578441"/>
            <a:ext cx="11146155" cy="167640"/>
            <a:chOff x="522922" y="6578441"/>
            <a:chExt cx="11146155" cy="167640"/>
          </a:xfrm>
        </p:grpSpPr>
        <p:sp>
          <p:nvSpPr>
            <p:cNvPr id="55" name="TextBox 55"/>
            <p:cNvSpPr txBox="1"/>
            <p:nvPr/>
          </p:nvSpPr>
          <p:spPr>
            <a:xfrm>
              <a:off x="522922" y="6578441"/>
              <a:ext cx="44765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消融佐证：去掉硬件语义后召回率 100% → 50%（A2，见第 15 页）；对应问题域 P2 / P3 / P4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09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5" grpId="0"/>
      <p:bldP spid="51" grpId="0"/>
      <p:bldP spid="5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495300"/>
            <a:ext cx="11135677" cy="671512"/>
            <a:chOff x="533400" y="495300"/>
            <a:chExt cx="11135677" cy="671512"/>
          </a:xfrm>
        </p:grpSpPr>
        <p:sp>
          <p:nvSpPr>
            <p:cNvPr id="3" name="Rectangle 3"/>
            <p:cNvSpPr/>
            <p:nvPr/>
          </p:nvSpPr>
          <p:spPr>
            <a:xfrm rot="2700000">
              <a:off x="552450" y="495300"/>
              <a:ext cx="161925" cy="161925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 rot="2700000">
              <a:off x="704850" y="590550"/>
              <a:ext cx="95250" cy="95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9168" y="523399"/>
              <a:ext cx="20010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 · 设计与实现 · 关键实现③ · P7</a:t>
              </a:r>
              <a:endParaRPr lang="zh-CN" sz="97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709612"/>
              <a:ext cx="686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关键实现③：动态通道——崩溃即实锤，PoC 可复现</a:t>
              </a:r>
              <a:endParaRPr lang="zh-CN" sz="225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38821" y="53959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ecdet · 嵌入式软件代码缺陷与安全漏洞检测系统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85850"/>
              <a:ext cx="13335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4350" y="1323975"/>
            <a:ext cx="7239000" cy="304800"/>
            <a:chOff x="514350" y="1323975"/>
            <a:chExt cx="7239000" cy="304800"/>
          </a:xfrm>
        </p:grpSpPr>
        <p:sp>
          <p:nvSpPr>
            <p:cNvPr id="11" name="TextBox 11"/>
            <p:cNvSpPr txBox="1"/>
            <p:nvPr/>
          </p:nvSpPr>
          <p:spPr>
            <a:xfrm>
              <a:off x="514350" y="1323975"/>
              <a:ext cx="7239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静态怀疑、</a:t>
              </a:r>
              <a:r>
                <a:rPr lang="zh-CN" sz="150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动态裁决</a:t>
              </a:r>
              <a:r>
                <a:rPr lang="zh-CN" sz="150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：对疑似告警自动生成测试驱动并真实执行，</a:t>
              </a:r>
              <a:r>
                <a:rPr lang="zh-CN" sz="150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跑崩溃即为实锤</a:t>
              </a:r>
              <a:endParaRPr lang="zh-CN" sz="1500" b="1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33400" y="1714500"/>
            <a:ext cx="2019300" cy="1562100"/>
            <a:chOff x="533400" y="1714500"/>
            <a:chExt cx="2019300" cy="1562100"/>
          </a:xfrm>
        </p:grpSpPr>
        <p:sp>
          <p:nvSpPr>
            <p:cNvPr id="13" name="Rectangle 13"/>
            <p:cNvSpPr/>
            <p:nvPr/>
          </p:nvSpPr>
          <p:spPr>
            <a:xfrm>
              <a:off x="533400" y="1714500"/>
              <a:ext cx="2019300" cy="1562100"/>
            </a:xfrm>
            <a:prstGeom prst="roundRect">
              <a:avLst>
                <a:gd name="adj" fmla="val 4878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1714500"/>
              <a:ext cx="2019300" cy="38100"/>
            </a:xfrm>
            <a:prstGeom prst="roundRect">
              <a:avLst>
                <a:gd name="adj" fmla="val 50000"/>
              </a:avLst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0562" y="1897856"/>
              <a:ext cx="7925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① 激励建模</a:t>
              </a:r>
              <a:endParaRPr lang="zh-CN" sz="1125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2944" y="2184797"/>
              <a:ext cx="159275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确定性特殊值表（0 / 边界 /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2944" y="2365772"/>
              <a:ext cx="150524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回绕点）+ 乘法散列采样；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2944" y="2546747"/>
              <a:ext cx="126771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SVD 语义收窄取值域，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2944" y="2727722"/>
              <a:ext cx="114895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一次建模、静动两用</a:t>
              </a:r>
              <a:endParaRPr lang="zh-CN" sz="94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809875" y="1714500"/>
            <a:ext cx="2019300" cy="1562100"/>
            <a:chOff x="2809875" y="1714500"/>
            <a:chExt cx="2019300" cy="1562100"/>
          </a:xfrm>
        </p:grpSpPr>
        <p:sp>
          <p:nvSpPr>
            <p:cNvPr id="21" name="Rectangle 21"/>
            <p:cNvSpPr/>
            <p:nvPr/>
          </p:nvSpPr>
          <p:spPr>
            <a:xfrm>
              <a:off x="2809875" y="1714500"/>
              <a:ext cx="2019300" cy="1562100"/>
            </a:xfrm>
            <a:prstGeom prst="roundRect">
              <a:avLst>
                <a:gd name="adj" fmla="val 4878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809875" y="1714500"/>
              <a:ext cx="2019300" cy="38100"/>
            </a:xfrm>
            <a:prstGeom prst="roundRect">
              <a:avLst>
                <a:gd name="adj" fmla="val 50000"/>
              </a:avLst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967038" y="1897856"/>
              <a:ext cx="11312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② harness 生成</a:t>
              </a:r>
              <a:endParaRPr lang="zh-CN" sz="1125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69419" y="2184797"/>
              <a:ext cx="139898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以解析器产出的参数类型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69419" y="2365772"/>
              <a:ext cx="154275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为骨架生成模板 harness；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69419" y="2546747"/>
              <a:ext cx="141773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激励组合表嵌入 C 数组，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69419" y="2727722"/>
              <a:ext cx="89892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每函数一次编译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086350" y="1714500"/>
            <a:ext cx="2019300" cy="1562100"/>
            <a:chOff x="5086350" y="1714500"/>
            <a:chExt cx="2019300" cy="1562100"/>
          </a:xfrm>
        </p:grpSpPr>
        <p:sp>
          <p:nvSpPr>
            <p:cNvPr id="29" name="Rectangle 29"/>
            <p:cNvSpPr/>
            <p:nvPr/>
          </p:nvSpPr>
          <p:spPr>
            <a:xfrm>
              <a:off x="5086350" y="1714500"/>
              <a:ext cx="2019300" cy="1562100"/>
            </a:xfrm>
            <a:prstGeom prst="roundRect">
              <a:avLst>
                <a:gd name="adj" fmla="val 4878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086350" y="1714500"/>
              <a:ext cx="2019300" cy="38100"/>
            </a:xfrm>
            <a:prstGeom prst="roundRect">
              <a:avLst>
                <a:gd name="adj" fmla="val 50000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43512" y="1897856"/>
              <a:ext cx="11942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③ 编译-修正闭环</a:t>
              </a:r>
              <a:endParaRPr lang="zh-CN" sz="1125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45894" y="2184797"/>
              <a:ext cx="139898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链接失败自动打桩重编，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45894" y="2365772"/>
              <a:ext cx="114895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一次收全多条错误；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45894" y="2546747"/>
              <a:ext cx="158025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仍失败交</a:t>
              </a:r>
              <a:r>
                <a:rPr lang="zh-CN" sz="940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LLM 修正器</a:t>
              </a:r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重写，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45894" y="2727722"/>
              <a:ext cx="127396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产物必须再过编译验证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362825" y="1714500"/>
            <a:ext cx="2019300" cy="1562100"/>
            <a:chOff x="7362825" y="1714500"/>
            <a:chExt cx="2019300" cy="1562100"/>
          </a:xfrm>
        </p:grpSpPr>
        <p:sp>
          <p:nvSpPr>
            <p:cNvPr id="37" name="Rectangle 37"/>
            <p:cNvSpPr/>
            <p:nvPr/>
          </p:nvSpPr>
          <p:spPr>
            <a:xfrm>
              <a:off x="7362825" y="1714500"/>
              <a:ext cx="2019300" cy="1562100"/>
            </a:xfrm>
            <a:prstGeom prst="roundRect">
              <a:avLst>
                <a:gd name="adj" fmla="val 4878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362825" y="1714500"/>
              <a:ext cx="2019300" cy="38100"/>
            </a:xfrm>
            <a:prstGeom prst="roundRect">
              <a:avLst>
                <a:gd name="adj" fmla="val 50000"/>
              </a:avLst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19988" y="1897856"/>
              <a:ext cx="11627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④ 执行与 oracle</a:t>
              </a:r>
              <a:endParaRPr lang="zh-CN" sz="1125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22369" y="2184797"/>
              <a:ext cx="1524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宿主机真实执行，判定依据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22369" y="2365772"/>
              <a:ext cx="139898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三类：崩溃退出码分类、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22369" y="2546747"/>
              <a:ext cx="78015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UBSan 输出、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22369" y="2727722"/>
              <a:ext cx="1524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看门狗超时（疑似死循环）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639300" y="1714500"/>
            <a:ext cx="2019300" cy="1562100"/>
            <a:chOff x="9639300" y="1714500"/>
            <a:chExt cx="2019300" cy="1562100"/>
          </a:xfrm>
        </p:grpSpPr>
        <p:sp>
          <p:nvSpPr>
            <p:cNvPr id="45" name="Rectangle 45"/>
            <p:cNvSpPr/>
            <p:nvPr/>
          </p:nvSpPr>
          <p:spPr>
            <a:xfrm>
              <a:off x="9639300" y="1714500"/>
              <a:ext cx="2019300" cy="1562100"/>
            </a:xfrm>
            <a:prstGeom prst="roundRect">
              <a:avLst>
                <a:gd name="adj" fmla="val 4878"/>
              </a:avLst>
            </a:prstGeom>
            <a:solidFill>
              <a:srgbClr val="EAF1F8"/>
            </a:solidFill>
            <a:ln w="19050">
              <a:solidFill>
                <a:srgbClr val="0070C0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639300" y="1714500"/>
              <a:ext cx="2019300" cy="38100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796462" y="1897856"/>
              <a:ext cx="9500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⑤ 命中即实锤</a:t>
              </a:r>
              <a:endParaRPr lang="zh-CN" sz="1125" b="1" dirty="0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98844" y="2184797"/>
              <a:ext cx="164276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Suspected 升级 </a:t>
              </a:r>
              <a:r>
                <a:rPr lang="zh-CN" sz="94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Detected</a:t>
              </a:r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798844" y="2365772"/>
              <a:ext cx="174902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实参组合随告警证据落 SARIF；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798844" y="2546747"/>
              <a:ext cx="76765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PoC 可复现：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799796" y="2735818"/>
              <a:ext cx="1187291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b="1" dirty="0">
                  <a:solidFill>
                    <a:srgbClr val="0070C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harness.exe &lt;seed&gt;</a:t>
              </a:r>
              <a:endParaRPr lang="zh-CN" sz="860" b="1" dirty="0">
                <a:solidFill>
                  <a:srgbClr val="0070C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2581275" y="2390775"/>
            <a:ext cx="7029450" cy="209550"/>
            <a:chOff x="2581275" y="2390775"/>
            <a:chExt cx="7029450" cy="209550"/>
          </a:xfrm>
        </p:grpSpPr>
        <p:sp>
          <p:nvSpPr>
            <p:cNvPr id="53" name="Freeform 53"/>
            <p:cNvSpPr/>
            <p:nvPr/>
          </p:nvSpPr>
          <p:spPr>
            <a:xfrm>
              <a:off x="2581275" y="2390775"/>
              <a:ext cx="200025" cy="209550"/>
            </a:xfrm>
            <a:custGeom>
              <a:avLst/>
              <a:gdLst/>
              <a:ahLst/>
              <a:cxnLst/>
              <a:rect l="l" t="t" r="r" b="b"/>
              <a:pathLst>
                <a:path w="200025" h="209550">
                  <a:moveTo>
                    <a:pt x="0" y="66675"/>
                  </a:moveTo>
                  <a:lnTo>
                    <a:pt x="85725" y="66675"/>
                  </a:lnTo>
                  <a:lnTo>
                    <a:pt x="85725" y="0"/>
                  </a:lnTo>
                  <a:lnTo>
                    <a:pt x="200025" y="104775"/>
                  </a:lnTo>
                  <a:lnTo>
                    <a:pt x="85725" y="209550"/>
                  </a:lnTo>
                  <a:lnTo>
                    <a:pt x="85725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4857750" y="2390775"/>
              <a:ext cx="200025" cy="209550"/>
            </a:xfrm>
            <a:custGeom>
              <a:avLst/>
              <a:gdLst/>
              <a:ahLst/>
              <a:cxnLst/>
              <a:rect l="l" t="t" r="r" b="b"/>
              <a:pathLst>
                <a:path w="200025" h="209550">
                  <a:moveTo>
                    <a:pt x="0" y="66675"/>
                  </a:moveTo>
                  <a:lnTo>
                    <a:pt x="85725" y="66675"/>
                  </a:lnTo>
                  <a:lnTo>
                    <a:pt x="85725" y="0"/>
                  </a:lnTo>
                  <a:lnTo>
                    <a:pt x="200025" y="104775"/>
                  </a:lnTo>
                  <a:lnTo>
                    <a:pt x="85725" y="209550"/>
                  </a:lnTo>
                  <a:lnTo>
                    <a:pt x="85725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7134225" y="2390775"/>
              <a:ext cx="200025" cy="209550"/>
            </a:xfrm>
            <a:custGeom>
              <a:avLst/>
              <a:gdLst/>
              <a:ahLst/>
              <a:cxnLst/>
              <a:rect l="l" t="t" r="r" b="b"/>
              <a:pathLst>
                <a:path w="200025" h="209550">
                  <a:moveTo>
                    <a:pt x="0" y="66675"/>
                  </a:moveTo>
                  <a:lnTo>
                    <a:pt x="85725" y="66675"/>
                  </a:lnTo>
                  <a:lnTo>
                    <a:pt x="85725" y="0"/>
                  </a:lnTo>
                  <a:lnTo>
                    <a:pt x="200025" y="104775"/>
                  </a:lnTo>
                  <a:lnTo>
                    <a:pt x="85725" y="209550"/>
                  </a:lnTo>
                  <a:lnTo>
                    <a:pt x="85725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9410700" y="2390775"/>
              <a:ext cx="200025" cy="209550"/>
            </a:xfrm>
            <a:custGeom>
              <a:avLst/>
              <a:gdLst/>
              <a:ahLst/>
              <a:cxnLst/>
              <a:rect l="l" t="t" r="r" b="b"/>
              <a:pathLst>
                <a:path w="200025" h="209550">
                  <a:moveTo>
                    <a:pt x="0" y="66675"/>
                  </a:moveTo>
                  <a:lnTo>
                    <a:pt x="85725" y="66675"/>
                  </a:lnTo>
                  <a:lnTo>
                    <a:pt x="85725" y="0"/>
                  </a:lnTo>
                  <a:lnTo>
                    <a:pt x="200025" y="104775"/>
                  </a:lnTo>
                  <a:lnTo>
                    <a:pt x="85725" y="209550"/>
                  </a:lnTo>
                  <a:lnTo>
                    <a:pt x="85725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517208" y="3539014"/>
            <a:ext cx="11153775" cy="259080"/>
            <a:chOff x="517208" y="3539014"/>
            <a:chExt cx="11153775" cy="259080"/>
          </a:xfrm>
        </p:grpSpPr>
        <p:sp>
          <p:nvSpPr>
            <p:cNvPr id="58" name="TextBox 58"/>
            <p:cNvSpPr txBox="1"/>
            <p:nvPr/>
          </p:nvSpPr>
          <p:spPr>
            <a:xfrm>
              <a:off x="517208" y="3539014"/>
              <a:ext cx="245136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执行载体：三级吞吐-保真梯度</a:t>
              </a:r>
              <a:endParaRPr lang="zh-CN" sz="1275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897499" y="3571399"/>
              <a:ext cx="17734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吞吐高 ← → 保真高 </a:t>
              </a:r>
              <a:r>
                <a:rPr lang="zh-CN" sz="975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红 = 未完成</a:t>
              </a:r>
              <a:endParaRPr lang="zh-CN" sz="975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33400" y="3829050"/>
            <a:ext cx="3390900" cy="1066800"/>
            <a:chOff x="533400" y="3829050"/>
            <a:chExt cx="3390900" cy="1066800"/>
          </a:xfrm>
        </p:grpSpPr>
        <p:sp>
          <p:nvSpPr>
            <p:cNvPr id="61" name="Rectangle 61"/>
            <p:cNvSpPr/>
            <p:nvPr/>
          </p:nvSpPr>
          <p:spPr>
            <a:xfrm>
              <a:off x="533400" y="3829050"/>
              <a:ext cx="3390900" cy="1066800"/>
            </a:xfrm>
            <a:prstGeom prst="roundRect">
              <a:avLst>
                <a:gd name="adj" fmla="val 7143"/>
              </a:avLst>
            </a:prstGeom>
            <a:solidFill>
              <a:srgbClr val="EAF1F8"/>
            </a:solidFill>
            <a:ln w="14288">
              <a:solidFill>
                <a:srgbClr val="0070C0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47236" y="4027408"/>
              <a:ext cx="1600261" cy="236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宿主原生执行（gcc）</a:t>
              </a:r>
              <a:endParaRPr lang="zh-CN" sz="116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009900" y="3981450"/>
              <a:ext cx="723900" cy="247650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097411" y="4051697"/>
              <a:ext cx="54887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当前可用</a:t>
              </a:r>
              <a:endParaRPr lang="zh-CN" sz="94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49618" y="4333399"/>
              <a:ext cx="2105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第一档：吞吐最高，纯函数与算法类</a:t>
              </a:r>
              <a:endParaRPr lang="zh-CN" sz="975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49618" y="4542949"/>
              <a:ext cx="18449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缺陷即刻可验；编译器就绪即用</a:t>
              </a:r>
              <a:endParaRPr lang="zh-CN" sz="975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4400550" y="3829050"/>
            <a:ext cx="3390900" cy="1066800"/>
            <a:chOff x="4400550" y="3829050"/>
            <a:chExt cx="3390900" cy="1066800"/>
          </a:xfrm>
        </p:grpSpPr>
        <p:sp>
          <p:nvSpPr>
            <p:cNvPr id="68" name="Rectangle 68"/>
            <p:cNvSpPr/>
            <p:nvPr/>
          </p:nvSpPr>
          <p:spPr>
            <a:xfrm>
              <a:off x="4400550" y="3829050"/>
              <a:ext cx="3390900" cy="1066800"/>
            </a:xfrm>
            <a:prstGeom prst="roundRect">
              <a:avLst>
                <a:gd name="adj" fmla="val 7143"/>
              </a:avLst>
            </a:prstGeom>
            <a:solidFill>
              <a:srgbClr val="FBEDED"/>
            </a:solidFill>
            <a:ln w="14288">
              <a:solidFill>
                <a:srgbClr val="C00000"/>
              </a:solidFill>
              <a:custDash>
                <a:ds d="400000" sp="266666"/>
              </a:custDash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614386" y="4027408"/>
              <a:ext cx="1478184" cy="236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Unicorn 指令级仿真</a:t>
              </a:r>
              <a:endParaRPr lang="zh-CN" sz="116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877050" y="3981450"/>
              <a:ext cx="723900" cy="247650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030194" y="4051697"/>
              <a:ext cx="41761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未完成</a:t>
              </a:r>
              <a:endParaRPr lang="zh-CN" sz="94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616768" y="4333399"/>
              <a:ext cx="20660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第二档：pip 探测即接入（就绪），</a:t>
              </a:r>
              <a:endParaRPr lang="zh-CN" sz="975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616768" y="4542949"/>
              <a:ext cx="18579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执行回路待真实固件语料（P2）</a:t>
              </a:r>
              <a:endParaRPr lang="zh-CN" sz="975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8267700" y="3829050"/>
            <a:ext cx="3390900" cy="1066800"/>
            <a:chOff x="8267700" y="3829050"/>
            <a:chExt cx="3390900" cy="1066800"/>
          </a:xfrm>
        </p:grpSpPr>
        <p:sp>
          <p:nvSpPr>
            <p:cNvPr id="75" name="Rectangle 75"/>
            <p:cNvSpPr/>
            <p:nvPr/>
          </p:nvSpPr>
          <p:spPr>
            <a:xfrm>
              <a:off x="8267700" y="3829050"/>
              <a:ext cx="3390900" cy="1066800"/>
            </a:xfrm>
            <a:prstGeom prst="roundRect">
              <a:avLst>
                <a:gd name="adj" fmla="val 7143"/>
              </a:avLst>
            </a:prstGeom>
            <a:solidFill>
              <a:srgbClr val="FBEDED"/>
            </a:solidFill>
            <a:ln w="14288">
              <a:solidFill>
                <a:srgbClr val="C00000"/>
              </a:solidFill>
              <a:custDash>
                <a:ds d="400000" sp="266666"/>
              </a:custDash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481536" y="4027408"/>
              <a:ext cx="1429352" cy="236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Renode 外设级仿真</a:t>
              </a:r>
              <a:endParaRPr lang="zh-CN" sz="116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10744200" y="3981450"/>
              <a:ext cx="723900" cy="247650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0897344" y="4051697"/>
              <a:ext cx="41761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未完成</a:t>
              </a:r>
              <a:endParaRPr lang="zh-CN" sz="94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483918" y="433339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第三档：二进制探测即接入（就绪），</a:t>
              </a:r>
              <a:endParaRPr lang="zh-CN" sz="975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483918" y="4542949"/>
              <a:ext cx="21180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保真最高档，同样待固件语料（P2）</a:t>
              </a:r>
              <a:endParaRPr lang="zh-CN" sz="975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3979354" y="4290060"/>
            <a:ext cx="3985641" cy="243840"/>
            <a:chOff x="3979354" y="4290060"/>
            <a:chExt cx="3985641" cy="243840"/>
          </a:xfrm>
        </p:grpSpPr>
        <p:sp>
          <p:nvSpPr>
            <p:cNvPr id="82" name="TextBox 82"/>
            <p:cNvSpPr txBox="1"/>
            <p:nvPr/>
          </p:nvSpPr>
          <p:spPr>
            <a:xfrm>
              <a:off x="3979354" y="4290060"/>
              <a:ext cx="118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</a:t>
              </a:r>
              <a:endParaRPr lang="zh-CN" sz="1200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846504" y="4290060"/>
              <a:ext cx="118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</a:t>
              </a:r>
              <a:endParaRPr lang="zh-CN" sz="1200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533400" y="5124450"/>
            <a:ext cx="11125200" cy="1028700"/>
            <a:chOff x="533400" y="5124450"/>
            <a:chExt cx="11125200" cy="1028700"/>
          </a:xfrm>
        </p:grpSpPr>
        <p:sp>
          <p:nvSpPr>
            <p:cNvPr id="85" name="Rectangle 85"/>
            <p:cNvSpPr/>
            <p:nvPr/>
          </p:nvSpPr>
          <p:spPr>
            <a:xfrm>
              <a:off x="533400" y="5124450"/>
              <a:ext cx="11125200" cy="1028700"/>
            </a:xfrm>
            <a:prstGeom prst="roundRect">
              <a:avLst>
                <a:gd name="adj" fmla="val 740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47712" y="5345906"/>
              <a:ext cx="77995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消融佐证（A5 去动态通道）</a:t>
              </a:r>
              <a:r>
                <a:rPr lang="zh-CN" sz="112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召回率 100% → 66.7%，</a:t>
              </a:r>
              <a:r>
                <a:rPr lang="zh-CN" sz="1125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动态贡献率 33%</a:t>
              </a:r>
              <a:r>
                <a:rPr lang="zh-CN" sz="112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（动态新发现且静态未报占全部已确认缺陷之比）</a:t>
              </a:r>
              <a:endParaRPr lang="zh-CN" sz="112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47712" y="5650706"/>
              <a:ext cx="72894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同时可见成本：关闭动态通道后耗时 62s → 0.2s——</a:t>
              </a:r>
              <a:r>
                <a:rPr lang="zh-CN" sz="1125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双通道互补、动态按需开启</a:t>
              </a:r>
              <a:r>
                <a:rPr lang="zh-CN" sz="1125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，静态怀疑、动态裁决各司其职</a:t>
              </a:r>
              <a:endParaRPr lang="zh-CN" sz="1125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522922" y="6578441"/>
            <a:ext cx="11146156" cy="167640"/>
            <a:chOff x="522922" y="6578441"/>
            <a:chExt cx="11146156" cy="167640"/>
          </a:xfrm>
        </p:grpSpPr>
        <p:sp>
          <p:nvSpPr>
            <p:cNvPr id="89" name="TextBox 89"/>
            <p:cNvSpPr txBox="1"/>
            <p:nvPr/>
          </p:nvSpPr>
          <p:spPr>
            <a:xfrm>
              <a:off x="522922" y="6578441"/>
              <a:ext cx="65667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命令：uv run ecdet orchestrate &lt;工程&gt; --mock；运行时监控将静态 Suspected 转为定向探针，命中回填 PoC 证据（方案 3.3.6）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54611" y="6578441"/>
              <a:ext cx="1144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9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5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0" grpId="0"/>
      <p:bldP spid="28" grpId="0"/>
      <p:bldP spid="36" grpId="0"/>
      <p:bldP spid="44" grpId="0"/>
      <p:bldP spid="52" grpId="0"/>
      <p:bldP spid="57" grpId="0"/>
      <p:bldP spid="60" grpId="0"/>
      <p:bldP spid="67" grpId="0"/>
      <p:bldP spid="74" grpId="0"/>
      <p:bldP spid="81" grpId="0"/>
      <p:bldP spid="84" grpId="0"/>
      <p:bldP spid="8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495300"/>
            <a:ext cx="11135677" cy="671512"/>
            <a:chOff x="533400" y="495300"/>
            <a:chExt cx="11135677" cy="671512"/>
          </a:xfrm>
        </p:grpSpPr>
        <p:sp>
          <p:nvSpPr>
            <p:cNvPr id="3" name="Rectangle 3"/>
            <p:cNvSpPr/>
            <p:nvPr/>
          </p:nvSpPr>
          <p:spPr>
            <a:xfrm rot="2700000">
              <a:off x="552450" y="495300"/>
              <a:ext cx="161925" cy="161925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 rot="2700000">
              <a:off x="704850" y="590550"/>
              <a:ext cx="95250" cy="95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9168" y="523399"/>
              <a:ext cx="20010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 · 设计与实现 · 关键实现④ · P5</a:t>
              </a:r>
              <a:endParaRPr lang="zh-CN" sz="97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709612"/>
              <a:ext cx="684624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关键实现④：大模型只当「参谋」，不当「裁判」</a:t>
              </a:r>
              <a:endParaRPr lang="zh-CN" sz="225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38821" y="53959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ecdet · 嵌入式软件代码缺陷与安全漏洞检测系统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85850"/>
              <a:ext cx="13335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4350" y="1323975"/>
            <a:ext cx="8489156" cy="304800"/>
            <a:chOff x="514350" y="1323975"/>
            <a:chExt cx="8489156" cy="304800"/>
          </a:xfrm>
        </p:grpSpPr>
        <p:sp>
          <p:nvSpPr>
            <p:cNvPr id="11" name="TextBox 11"/>
            <p:cNvSpPr txBox="1"/>
            <p:nvPr/>
          </p:nvSpPr>
          <p:spPr>
            <a:xfrm>
              <a:off x="514350" y="1323975"/>
              <a:ext cx="84891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LLM 负责语义推理，</a:t>
              </a:r>
              <a:r>
                <a:rPr lang="zh-CN" sz="150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结论必须通过确定性验证才能落地</a:t>
              </a:r>
              <a:r>
                <a:rPr lang="zh-CN" sz="150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——幻觉被关在闸门里，而不是赌它不发生</a:t>
              </a:r>
              <a:endParaRPr lang="zh-CN" sz="150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33400" y="1714500"/>
            <a:ext cx="2019300" cy="1333500"/>
            <a:chOff x="533400" y="1714500"/>
            <a:chExt cx="2019300" cy="1333500"/>
          </a:xfrm>
        </p:grpSpPr>
        <p:sp>
          <p:nvSpPr>
            <p:cNvPr id="13" name="Rectangle 13"/>
            <p:cNvSpPr/>
            <p:nvPr/>
          </p:nvSpPr>
          <p:spPr>
            <a:xfrm>
              <a:off x="533400" y="1714500"/>
              <a:ext cx="2019300" cy="13335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1714500"/>
              <a:ext cx="2019300" cy="38100"/>
            </a:xfrm>
            <a:prstGeom prst="roundRect">
              <a:avLst>
                <a:gd name="adj" fmla="val 50000"/>
              </a:avLst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0562" y="1897856"/>
              <a:ext cx="9500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① 上下文裁剪</a:t>
              </a:r>
              <a:endParaRPr lang="zh-CN" sz="1125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2944" y="2184797"/>
              <a:ext cx="156150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告警函数 + 深度 2 调用闭包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2944" y="2365772"/>
              <a:ext cx="163026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+ 引用宏，按字符预算截取，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2944" y="2546747"/>
              <a:ext cx="139898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不把整个文件塞进提示词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809875" y="1714500"/>
            <a:ext cx="2019300" cy="1333500"/>
            <a:chOff x="2809875" y="1714500"/>
            <a:chExt cx="2019300" cy="1333500"/>
          </a:xfrm>
        </p:grpSpPr>
        <p:sp>
          <p:nvSpPr>
            <p:cNvPr id="20" name="Rectangle 20"/>
            <p:cNvSpPr/>
            <p:nvPr/>
          </p:nvSpPr>
          <p:spPr>
            <a:xfrm>
              <a:off x="2809875" y="1714500"/>
              <a:ext cx="2019300" cy="13335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809875" y="1714500"/>
              <a:ext cx="2019300" cy="38100"/>
            </a:xfrm>
            <a:prstGeom prst="roundRect">
              <a:avLst>
                <a:gd name="adj" fmla="val 50000"/>
              </a:avLst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967038" y="18978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② LLM 首判</a:t>
              </a:r>
              <a:endParaRPr lang="zh-CN" sz="1125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69419" y="2184797"/>
              <a:ext cx="127396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强制结构化 JSON 输出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69419" y="2365772"/>
              <a:ext cx="154275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（真缺陷 / 误报 + 置信度 +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69419" y="2546747"/>
              <a:ext cx="1524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引用行号），可解析才有效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086350" y="1714500"/>
            <a:ext cx="2019300" cy="1333500"/>
            <a:chOff x="5086350" y="1714500"/>
            <a:chExt cx="2019300" cy="1333500"/>
          </a:xfrm>
        </p:grpSpPr>
        <p:sp>
          <p:nvSpPr>
            <p:cNvPr id="27" name="Rectangle 27"/>
            <p:cNvSpPr/>
            <p:nvPr/>
          </p:nvSpPr>
          <p:spPr>
            <a:xfrm>
              <a:off x="5086350" y="1714500"/>
              <a:ext cx="2019300" cy="13335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086350" y="1714500"/>
              <a:ext cx="2019300" cy="38100"/>
            </a:xfrm>
            <a:prstGeom prst="roundRect">
              <a:avLst>
                <a:gd name="adj" fmla="val 50000"/>
              </a:avLst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43512" y="1897856"/>
              <a:ext cx="9579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③ A-RAG 重判</a:t>
              </a:r>
              <a:endParaRPr lang="zh-CN" sz="1125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45894" y="2184797"/>
              <a:ext cx="166151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置信度 &lt; 0.6 触发本地知识库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45894" y="2365772"/>
              <a:ext cx="177403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检索后重判；知识库离线可建，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45894" y="2546747"/>
              <a:ext cx="64889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数据不出域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362825" y="1714500"/>
            <a:ext cx="2019300" cy="1333500"/>
            <a:chOff x="7362825" y="1714500"/>
            <a:chExt cx="2019300" cy="1333500"/>
          </a:xfrm>
        </p:grpSpPr>
        <p:sp>
          <p:nvSpPr>
            <p:cNvPr id="34" name="Rectangle 34"/>
            <p:cNvSpPr/>
            <p:nvPr/>
          </p:nvSpPr>
          <p:spPr>
            <a:xfrm>
              <a:off x="7362825" y="1714500"/>
              <a:ext cx="2019300" cy="13335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362825" y="1714500"/>
              <a:ext cx="2019300" cy="38100"/>
            </a:xfrm>
            <a:prstGeom prst="roundRect">
              <a:avLst>
                <a:gd name="adj" fmla="val 50000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19988" y="1897856"/>
              <a:ext cx="11075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④ 证据行号核对</a:t>
              </a:r>
              <a:endParaRPr lang="zh-CN" sz="1125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22369" y="2184797"/>
              <a:ext cx="164901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引用行必须落在函数区间内、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22369" y="2365772"/>
              <a:ext cx="177403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为真实代码且包含告警行本身，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22369" y="2546747"/>
              <a:ext cx="138023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否则降级 </a:t>
              </a:r>
              <a:r>
                <a:rPr lang="zh-CN" sz="940" b="1" dirty="0">
                  <a:solidFill>
                    <a:srgbClr val="5B6B7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NEEDS_REVIEW</a:t>
              </a:r>
              <a:endParaRPr lang="zh-CN" sz="940" b="1" dirty="0">
                <a:solidFill>
                  <a:srgbClr val="5B6B7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639300" y="1714500"/>
            <a:ext cx="2019300" cy="1333500"/>
            <a:chOff x="9639300" y="1714500"/>
            <a:chExt cx="2019300" cy="1333500"/>
          </a:xfrm>
        </p:grpSpPr>
        <p:sp>
          <p:nvSpPr>
            <p:cNvPr id="41" name="Rectangle 41"/>
            <p:cNvSpPr/>
            <p:nvPr/>
          </p:nvSpPr>
          <p:spPr>
            <a:xfrm>
              <a:off x="9639300" y="1714500"/>
              <a:ext cx="2019300" cy="1333500"/>
            </a:xfrm>
            <a:prstGeom prst="roundRect">
              <a:avLst>
                <a:gd name="adj" fmla="val 5714"/>
              </a:avLst>
            </a:prstGeom>
            <a:solidFill>
              <a:srgbClr val="EAF1F8"/>
            </a:solidFill>
            <a:ln w="19050">
              <a:solidFill>
                <a:srgbClr val="0070C0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9639300" y="1714500"/>
              <a:ext cx="2019300" cy="38100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796462" y="1897856"/>
              <a:ext cx="7925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⑤ 结论回写</a:t>
              </a:r>
              <a:endParaRPr lang="zh-CN" sz="1125" b="1" dirty="0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798844" y="2184797"/>
              <a:ext cx="162401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研判结论与置信度写回 SARIF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798844" y="2365772"/>
              <a:ext cx="166776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与报告；Web 告警中心可人工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798844" y="2546747"/>
              <a:ext cx="106144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确认 / 豁免 / 重置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581275" y="2276475"/>
            <a:ext cx="7029450" cy="209550"/>
            <a:chOff x="2581275" y="2276475"/>
            <a:chExt cx="7029450" cy="209550"/>
          </a:xfrm>
        </p:grpSpPr>
        <p:sp>
          <p:nvSpPr>
            <p:cNvPr id="48" name="Freeform 48"/>
            <p:cNvSpPr/>
            <p:nvPr/>
          </p:nvSpPr>
          <p:spPr>
            <a:xfrm>
              <a:off x="2581275" y="2276475"/>
              <a:ext cx="200025" cy="209550"/>
            </a:xfrm>
            <a:custGeom>
              <a:avLst/>
              <a:gdLst/>
              <a:ahLst/>
              <a:cxnLst/>
              <a:rect l="l" t="t" r="r" b="b"/>
              <a:pathLst>
                <a:path w="200025" h="209550">
                  <a:moveTo>
                    <a:pt x="0" y="66675"/>
                  </a:moveTo>
                  <a:lnTo>
                    <a:pt x="85725" y="66675"/>
                  </a:lnTo>
                  <a:lnTo>
                    <a:pt x="85725" y="0"/>
                  </a:lnTo>
                  <a:lnTo>
                    <a:pt x="200025" y="104775"/>
                  </a:lnTo>
                  <a:lnTo>
                    <a:pt x="85725" y="209550"/>
                  </a:lnTo>
                  <a:lnTo>
                    <a:pt x="85725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4857750" y="2276475"/>
              <a:ext cx="200025" cy="209550"/>
            </a:xfrm>
            <a:custGeom>
              <a:avLst/>
              <a:gdLst/>
              <a:ahLst/>
              <a:cxnLst/>
              <a:rect l="l" t="t" r="r" b="b"/>
              <a:pathLst>
                <a:path w="200025" h="209550">
                  <a:moveTo>
                    <a:pt x="0" y="66675"/>
                  </a:moveTo>
                  <a:lnTo>
                    <a:pt x="85725" y="66675"/>
                  </a:lnTo>
                  <a:lnTo>
                    <a:pt x="85725" y="0"/>
                  </a:lnTo>
                  <a:lnTo>
                    <a:pt x="200025" y="104775"/>
                  </a:lnTo>
                  <a:lnTo>
                    <a:pt x="85725" y="209550"/>
                  </a:lnTo>
                  <a:lnTo>
                    <a:pt x="85725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7134225" y="2276475"/>
              <a:ext cx="200025" cy="209550"/>
            </a:xfrm>
            <a:custGeom>
              <a:avLst/>
              <a:gdLst/>
              <a:ahLst/>
              <a:cxnLst/>
              <a:rect l="l" t="t" r="r" b="b"/>
              <a:pathLst>
                <a:path w="200025" h="209550">
                  <a:moveTo>
                    <a:pt x="0" y="66675"/>
                  </a:moveTo>
                  <a:lnTo>
                    <a:pt x="85725" y="66675"/>
                  </a:lnTo>
                  <a:lnTo>
                    <a:pt x="85725" y="0"/>
                  </a:lnTo>
                  <a:lnTo>
                    <a:pt x="200025" y="104775"/>
                  </a:lnTo>
                  <a:lnTo>
                    <a:pt x="85725" y="209550"/>
                  </a:lnTo>
                  <a:lnTo>
                    <a:pt x="85725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9410700" y="2276475"/>
              <a:ext cx="200025" cy="209550"/>
            </a:xfrm>
            <a:custGeom>
              <a:avLst/>
              <a:gdLst/>
              <a:ahLst/>
              <a:cxnLst/>
              <a:rect l="l" t="t" r="r" b="b"/>
              <a:pathLst>
                <a:path w="200025" h="209550">
                  <a:moveTo>
                    <a:pt x="0" y="66675"/>
                  </a:moveTo>
                  <a:lnTo>
                    <a:pt x="85725" y="66675"/>
                  </a:lnTo>
                  <a:lnTo>
                    <a:pt x="85725" y="0"/>
                  </a:lnTo>
                  <a:lnTo>
                    <a:pt x="200025" y="104775"/>
                  </a:lnTo>
                  <a:lnTo>
                    <a:pt x="85725" y="209550"/>
                  </a:lnTo>
                  <a:lnTo>
                    <a:pt x="85725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533400" y="3219450"/>
            <a:ext cx="11125200" cy="838200"/>
            <a:chOff x="533400" y="3219450"/>
            <a:chExt cx="11125200" cy="838200"/>
          </a:xfrm>
        </p:grpSpPr>
        <p:sp>
          <p:nvSpPr>
            <p:cNvPr id="53" name="Rectangle 53"/>
            <p:cNvSpPr/>
            <p:nvPr/>
          </p:nvSpPr>
          <p:spPr>
            <a:xfrm>
              <a:off x="533400" y="3219450"/>
              <a:ext cx="11125200" cy="838200"/>
            </a:xfrm>
            <a:prstGeom prst="roundRect">
              <a:avLst>
                <a:gd name="adj" fmla="val 9091"/>
              </a:avLst>
            </a:prstGeom>
            <a:solidFill>
              <a:srgbClr val="FBEDED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6760" y="3394710"/>
              <a:ext cx="30548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幻觉抑制三道闸（规则化，确定性执行）</a:t>
              </a:r>
              <a:endParaRPr lang="zh-CN" sz="120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8189" y="3711654"/>
              <a:ext cx="8126885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闸①</a:t>
              </a:r>
              <a:r>
                <a:rPr lang="zh-CN" sz="109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输出不可解析 JSON → NEEDS_REVIEW </a:t>
              </a:r>
              <a:r>
                <a:rPr lang="zh-CN" sz="109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闸②</a:t>
              </a:r>
              <a:r>
                <a:rPr lang="zh-CN" sz="109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引用行号越界 / 指向注释 / 缺告警行 → 降级 </a:t>
              </a:r>
              <a:r>
                <a:rPr lang="zh-CN" sz="109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闸③</a:t>
              </a:r>
              <a:r>
                <a:rPr lang="zh-CN" sz="109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LLM 调用失败 → NEEDS_REVIEW</a:t>
              </a:r>
              <a:endParaRPr lang="zh-CN" sz="109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33400" y="4248150"/>
            <a:ext cx="7239000" cy="1905000"/>
            <a:chOff x="533400" y="4248150"/>
            <a:chExt cx="7239000" cy="1905000"/>
          </a:xfrm>
        </p:grpSpPr>
        <p:sp>
          <p:nvSpPr>
            <p:cNvPr id="57" name="Rectangle 57"/>
            <p:cNvSpPr/>
            <p:nvPr/>
          </p:nvSpPr>
          <p:spPr>
            <a:xfrm>
              <a:off x="533400" y="4248150"/>
              <a:ext cx="7239000" cy="1905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83908" y="4453414"/>
              <a:ext cx="3281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修复验证闭环（ToolLoopVerify，自研）</a:t>
              </a:r>
              <a:endParaRPr lang="zh-CN" sz="1275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86765" y="4801552"/>
              <a:ext cx="28270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对确认缺陷生成</a:t>
              </a:r>
              <a:r>
                <a:rPr lang="zh-CN" sz="105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函数级补丁</a:t>
              </a:r>
              <a:r>
                <a:rPr lang="zh-CN" sz="105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，三道验证把关：</a:t>
              </a:r>
              <a:endParaRPr lang="zh-CN" sz="105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6765" y="5087302"/>
              <a:ext cx="35551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① 静态重扫：原告警必须消除，且不引入新 error 级告警</a:t>
              </a:r>
              <a:endParaRPr lang="zh-CN" sz="105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86765" y="5354002"/>
              <a:ext cx="38771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② gcc 语法检查：</a:t>
              </a:r>
              <a:r>
                <a:rPr lang="zh-CN" sz="1050" dirty="0">
                  <a:solidFill>
                    <a:srgbClr val="33333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-fsyntax-only -std=gnu89</a:t>
              </a:r>
              <a:r>
                <a:rPr lang="zh-CN" sz="105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（可用即启用）</a:t>
              </a:r>
              <a:endParaRPr lang="zh-CN" sz="105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86765" y="5620702"/>
              <a:ext cx="40031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③ 通过才产出统一 diff 与修复记录，未通过一律拒绝并记录原因</a:t>
              </a:r>
              <a:endParaRPr lang="zh-CN" sz="105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87241" y="5891451"/>
              <a:ext cx="4791813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自动修复模式：验证通过</a:t>
              </a:r>
              <a:r>
                <a:rPr lang="zh-CN" sz="1010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写入源文件（先备份）</a:t>
              </a:r>
              <a:r>
                <a:rPr lang="zh-CN" sz="101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→ 逐轮迭代至收敛 → 全工程验收</a:t>
              </a:r>
              <a:endParaRPr lang="zh-CN" sz="101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001000" y="4248150"/>
            <a:ext cx="3657600" cy="1905000"/>
            <a:chOff x="8001000" y="4248150"/>
            <a:chExt cx="3657600" cy="1905000"/>
          </a:xfrm>
        </p:grpSpPr>
        <p:sp>
          <p:nvSpPr>
            <p:cNvPr id="65" name="Rectangle 65"/>
            <p:cNvSpPr/>
            <p:nvPr/>
          </p:nvSpPr>
          <p:spPr>
            <a:xfrm>
              <a:off x="8001000" y="4248150"/>
              <a:ext cx="3657600" cy="1905000"/>
            </a:xfrm>
            <a:prstGeom prst="roundRect">
              <a:avLst>
                <a:gd name="adj" fmla="val 5000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232458" y="445341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端点与可测性</a:t>
              </a:r>
              <a:endParaRPr lang="zh-CN" sz="1275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235315" y="4782502"/>
              <a:ext cx="26519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本地推理：</a:t>
              </a:r>
              <a:r>
                <a:rPr lang="zh-CN" sz="105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vLLM 95.7k ★ / Ollama 185k ★</a:t>
              </a:r>
              <a:endParaRPr lang="zh-CN" sz="1050" b="1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235315" y="5030152"/>
              <a:ext cx="19239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OpenAI 兼容端点，</a:t>
              </a:r>
              <a:r>
                <a:rPr lang="zh-CN" sz="105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数据不出域</a:t>
              </a:r>
              <a:endParaRPr lang="zh-CN" sz="1050" b="1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235315" y="5334952"/>
              <a:ext cx="24279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Web 大模型设置页可直填端点与密钥，</a:t>
              </a:r>
              <a:endParaRPr lang="zh-CN" sz="105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235315" y="558260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带测试连接探针，凭据存本机</a:t>
              </a:r>
              <a:endParaRPr lang="zh-CN" sz="105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35791" y="5891451"/>
              <a:ext cx="313110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确定性 Mock 客户端保证离线可测（四条路径覆盖）</a:t>
              </a:r>
              <a:endParaRPr lang="zh-CN" sz="101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522922" y="6578441"/>
            <a:ext cx="11146155" cy="167640"/>
            <a:chOff x="522922" y="6578441"/>
            <a:chExt cx="11146155" cy="167640"/>
          </a:xfrm>
        </p:grpSpPr>
        <p:sp>
          <p:nvSpPr>
            <p:cNvPr id="73" name="TextBox 73"/>
            <p:cNvSpPr txBox="1"/>
            <p:nvPr/>
          </p:nvSpPr>
          <p:spPr>
            <a:xfrm>
              <a:off x="522922" y="6578441"/>
              <a:ext cx="62972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消融佐证：去掉 LLM 分诊后精确率 100% → 50%（A1，示例语料过滤 8–10 条误报，见第 15 页）；命令：ecdet triage / ecdet fix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82114" y="6578441"/>
              <a:ext cx="8696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11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/>
      <p:bldP spid="26" grpId="0"/>
      <p:bldP spid="33" grpId="0"/>
      <p:bldP spid="40" grpId="0"/>
      <p:bldP spid="47" grpId="0"/>
      <p:bldP spid="52" grpId="0"/>
      <p:bldP spid="56" grpId="0"/>
      <p:bldP spid="64" grpId="0"/>
      <p:bldP spid="7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495300"/>
            <a:ext cx="11135677" cy="671512"/>
            <a:chOff x="533400" y="495300"/>
            <a:chExt cx="11135677" cy="671512"/>
          </a:xfrm>
        </p:grpSpPr>
        <p:sp>
          <p:nvSpPr>
            <p:cNvPr id="3" name="Rectangle 3"/>
            <p:cNvSpPr/>
            <p:nvPr/>
          </p:nvSpPr>
          <p:spPr>
            <a:xfrm rot="2700000">
              <a:off x="552450" y="495300"/>
              <a:ext cx="161925" cy="161925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 rot="2700000">
              <a:off x="704850" y="590550"/>
              <a:ext cx="95250" cy="95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9168" y="523399"/>
              <a:ext cx="20465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 · 设计与实现 · 多智能体 · 现状</a:t>
              </a:r>
              <a:endParaRPr lang="zh-CN" sz="97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709612"/>
              <a:ext cx="698801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多智能体协作（现状）：六类智能体的确定性编排</a:t>
              </a:r>
              <a:endParaRPr lang="zh-CN" sz="225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38821" y="53959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ecdet · 嵌入式软件代码缺陷与安全漏洞检测系统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85850"/>
              <a:ext cx="13335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6255" y="1302068"/>
            <a:ext cx="6740128" cy="274320"/>
            <a:chOff x="516255" y="1302068"/>
            <a:chExt cx="6740128" cy="274320"/>
          </a:xfrm>
        </p:grpSpPr>
        <p:sp>
          <p:nvSpPr>
            <p:cNvPr id="11" name="TextBox 11"/>
            <p:cNvSpPr txBox="1"/>
            <p:nvPr/>
          </p:nvSpPr>
          <p:spPr>
            <a:xfrm>
              <a:off x="516255" y="1302068"/>
              <a:ext cx="67401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333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ecdet orchestrate</a:t>
              </a:r>
              <a:r>
                <a:rPr lang="zh-CN" sz="135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：状态机式流水线，</a:t>
              </a:r>
              <a:r>
                <a:rPr lang="zh-CN" sz="135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LLM 负责语义推理，确定性工具守最终裁决</a:t>
              </a:r>
              <a:endParaRPr lang="zh-CN" sz="1350" b="1" dirty="0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33400" y="1619250"/>
            <a:ext cx="10839450" cy="1219200"/>
            <a:chOff x="533400" y="1619250"/>
            <a:chExt cx="10839450" cy="1219200"/>
          </a:xfrm>
        </p:grpSpPr>
        <p:sp>
          <p:nvSpPr>
            <p:cNvPr id="13" name="Rectangle 13"/>
            <p:cNvSpPr/>
            <p:nvPr/>
          </p:nvSpPr>
          <p:spPr>
            <a:xfrm>
              <a:off x="533400" y="1619250"/>
              <a:ext cx="2381250" cy="1219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17375E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33400" y="1619250"/>
              <a:ext cx="2381250" cy="342900"/>
            </a:xfrm>
            <a:custGeom>
              <a:avLst/>
              <a:gdLst/>
              <a:ahLst/>
              <a:cxnLst/>
              <a:rect l="l" t="t" r="r" b="b"/>
              <a:pathLst>
                <a:path w="238125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305050" y="0"/>
                  </a:lnTo>
                  <a:cubicBezTo>
                    <a:pt x="2347134" y="0"/>
                    <a:pt x="2381250" y="34116"/>
                    <a:pt x="2381250" y="76200"/>
                  </a:cubicBezTo>
                  <a:lnTo>
                    <a:pt x="238125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64827" y="1720929"/>
              <a:ext cx="918396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9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① 规划智能体</a:t>
              </a:r>
              <a:endParaRPr lang="zh-CN" sz="109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1994" y="2146697"/>
              <a:ext cx="177403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读取工程与扫描配置，生成检测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1994" y="2337197"/>
              <a:ext cx="139898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计划；分层路由控制成本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352800" y="1619250"/>
              <a:ext cx="2381250" cy="1219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2E75B6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352800" y="1619250"/>
              <a:ext cx="2381250" cy="342900"/>
            </a:xfrm>
            <a:custGeom>
              <a:avLst/>
              <a:gdLst/>
              <a:ahLst/>
              <a:cxnLst/>
              <a:rect l="l" t="t" r="r" b="b"/>
              <a:pathLst>
                <a:path w="238125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305050" y="0"/>
                  </a:lnTo>
                  <a:cubicBezTo>
                    <a:pt x="2347134" y="0"/>
                    <a:pt x="2381250" y="34116"/>
                    <a:pt x="2381250" y="76200"/>
                  </a:cubicBezTo>
                  <a:lnTo>
                    <a:pt x="238125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160361" y="1720929"/>
              <a:ext cx="766127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9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② 静态通道</a:t>
              </a:r>
              <a:endParaRPr lang="zh-CN" sz="109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31394" y="2146697"/>
              <a:ext cx="166776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规则 + 抽象解释 + 硬件语义 +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31394" y="2337197"/>
              <a:ext cx="1524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外部引擎，产出证据化告警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172200" y="1619250"/>
              <a:ext cx="2381250" cy="1219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17375E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6172200" y="1619250"/>
              <a:ext cx="2381250" cy="342900"/>
            </a:xfrm>
            <a:custGeom>
              <a:avLst/>
              <a:gdLst/>
              <a:ahLst/>
              <a:cxnLst/>
              <a:rect l="l" t="t" r="r" b="b"/>
              <a:pathLst>
                <a:path w="238125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305050" y="0"/>
                  </a:lnTo>
                  <a:cubicBezTo>
                    <a:pt x="2347134" y="0"/>
                    <a:pt x="2381250" y="34116"/>
                    <a:pt x="2381250" y="76200"/>
                  </a:cubicBezTo>
                  <a:lnTo>
                    <a:pt x="238125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46820" y="1720929"/>
              <a:ext cx="1832011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9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③ 分诊智能体（并行扇出）</a:t>
              </a:r>
              <a:endParaRPr lang="zh-CN" sz="109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50794" y="2108597"/>
              <a:ext cx="177403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每条告警独立研判，两路并行：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362700" y="2324100"/>
              <a:ext cx="990600" cy="228600"/>
            </a:xfrm>
            <a:prstGeom prst="roundRect">
              <a:avLst>
                <a:gd name="adj" fmla="val 16667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56635" y="2383393"/>
              <a:ext cx="602730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A-RAG 重判</a:t>
              </a:r>
              <a:endParaRPr lang="zh-CN" sz="860" dirty="0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448550" y="2324100"/>
              <a:ext cx="990600" cy="228600"/>
            </a:xfrm>
            <a:prstGeom prst="roundRect">
              <a:avLst>
                <a:gd name="adj" fmla="val 16667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87853" y="2383393"/>
              <a:ext cx="711994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证据行号核对</a:t>
              </a:r>
              <a:endParaRPr lang="zh-CN" sz="860" dirty="0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51270" y="2646045"/>
              <a:ext cx="1343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低置信度触发知识库检索</a:t>
              </a:r>
              <a:endParaRPr lang="zh-CN" sz="900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991600" y="1619250"/>
              <a:ext cx="2381250" cy="1219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2E75B6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991600" y="1619250"/>
              <a:ext cx="2381250" cy="342900"/>
            </a:xfrm>
            <a:custGeom>
              <a:avLst/>
              <a:gdLst/>
              <a:ahLst/>
              <a:cxnLst/>
              <a:rect l="l" t="t" r="r" b="b"/>
              <a:pathLst>
                <a:path w="238125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305050" y="0"/>
                  </a:lnTo>
                  <a:cubicBezTo>
                    <a:pt x="2347134" y="0"/>
                    <a:pt x="2381250" y="34116"/>
                    <a:pt x="2381250" y="76200"/>
                  </a:cubicBezTo>
                  <a:lnTo>
                    <a:pt x="238125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799161" y="1720929"/>
              <a:ext cx="766127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9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④ 动态通道</a:t>
              </a:r>
              <a:endParaRPr lang="zh-CN" sz="109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70194" y="2146697"/>
              <a:ext cx="161151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 Suspected 生成 harness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70194" y="2337197"/>
              <a:ext cx="139273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真实执行，命中产出 PoC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Freeform 37"/>
            <p:cNvSpPr/>
            <p:nvPr/>
          </p:nvSpPr>
          <p:spPr>
            <a:xfrm>
              <a:off x="2914650" y="2162175"/>
              <a:ext cx="228600" cy="209550"/>
            </a:xfrm>
            <a:custGeom>
              <a:avLst/>
              <a:gdLst/>
              <a:ahLst/>
              <a:cxnLst/>
              <a:rect l="l" t="t" r="r" b="b"/>
              <a:pathLst>
                <a:path w="228600" h="209550">
                  <a:moveTo>
                    <a:pt x="0" y="66675"/>
                  </a:moveTo>
                  <a:lnTo>
                    <a:pt x="114300" y="66675"/>
                  </a:lnTo>
                  <a:lnTo>
                    <a:pt x="114300" y="0"/>
                  </a:lnTo>
                  <a:lnTo>
                    <a:pt x="228600" y="104775"/>
                  </a:lnTo>
                  <a:lnTo>
                    <a:pt x="114300" y="209550"/>
                  </a:lnTo>
                  <a:lnTo>
                    <a:pt x="114300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5734050" y="2162175"/>
              <a:ext cx="228600" cy="209550"/>
            </a:xfrm>
            <a:custGeom>
              <a:avLst/>
              <a:gdLst/>
              <a:ahLst/>
              <a:cxnLst/>
              <a:rect l="l" t="t" r="r" b="b"/>
              <a:pathLst>
                <a:path w="228600" h="209550">
                  <a:moveTo>
                    <a:pt x="0" y="66675"/>
                  </a:moveTo>
                  <a:lnTo>
                    <a:pt x="114300" y="66675"/>
                  </a:lnTo>
                  <a:lnTo>
                    <a:pt x="114300" y="0"/>
                  </a:lnTo>
                  <a:lnTo>
                    <a:pt x="228600" y="104775"/>
                  </a:lnTo>
                  <a:lnTo>
                    <a:pt x="114300" y="209550"/>
                  </a:lnTo>
                  <a:lnTo>
                    <a:pt x="114300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8553450" y="2162175"/>
              <a:ext cx="228600" cy="209550"/>
            </a:xfrm>
            <a:custGeom>
              <a:avLst/>
              <a:gdLst/>
              <a:ahLst/>
              <a:cxnLst/>
              <a:rect l="l" t="t" r="r" b="b"/>
              <a:pathLst>
                <a:path w="228600" h="209550">
                  <a:moveTo>
                    <a:pt x="0" y="66675"/>
                  </a:moveTo>
                  <a:lnTo>
                    <a:pt x="114300" y="66675"/>
                  </a:lnTo>
                  <a:lnTo>
                    <a:pt x="114300" y="0"/>
                  </a:lnTo>
                  <a:lnTo>
                    <a:pt x="228600" y="104775"/>
                  </a:lnTo>
                  <a:lnTo>
                    <a:pt x="114300" y="209550"/>
                  </a:lnTo>
                  <a:lnTo>
                    <a:pt x="114300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1657350" y="2838450"/>
            <a:ext cx="8524875" cy="609600"/>
            <a:chOff x="1657350" y="2838450"/>
            <a:chExt cx="8524875" cy="609600"/>
          </a:xfrm>
        </p:grpSpPr>
        <p:sp>
          <p:nvSpPr>
            <p:cNvPr id="41" name="Freeform 41"/>
            <p:cNvSpPr/>
            <p:nvPr/>
          </p:nvSpPr>
          <p:spPr>
            <a:xfrm>
              <a:off x="1724025" y="2838450"/>
              <a:ext cx="8458200" cy="514350"/>
            </a:xfrm>
            <a:custGeom>
              <a:avLst/>
              <a:gdLst/>
              <a:ahLst/>
              <a:cxnLst/>
              <a:rect l="l" t="t" r="r" b="b"/>
              <a:pathLst>
                <a:path w="8458200" h="514350">
                  <a:moveTo>
                    <a:pt x="8458200" y="0"/>
                  </a:moveTo>
                  <a:lnTo>
                    <a:pt x="8458200" y="304800"/>
                  </a:lnTo>
                  <a:lnTo>
                    <a:pt x="0" y="304800"/>
                  </a:lnTo>
                  <a:lnTo>
                    <a:pt x="0" y="514350"/>
                  </a:lnTo>
                </a:path>
              </a:pathLst>
            </a:custGeom>
            <a:noFill/>
            <a:ln w="23812">
              <a:solidFill>
                <a:srgbClr val="8C9AA9"/>
              </a:solidFill>
            </a:ln>
          </p:spPr>
        </p:sp>
        <p:sp>
          <p:nvSpPr>
            <p:cNvPr id="42" name="Polygon 42"/>
            <p:cNvSpPr/>
            <p:nvPr/>
          </p:nvSpPr>
          <p:spPr>
            <a:xfrm>
              <a:off x="1657350" y="33337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533400" y="3486150"/>
            <a:ext cx="10839450" cy="1219200"/>
            <a:chOff x="533400" y="3486150"/>
            <a:chExt cx="10839450" cy="1219200"/>
          </a:xfrm>
        </p:grpSpPr>
        <p:sp>
          <p:nvSpPr>
            <p:cNvPr id="44" name="Rectangle 44"/>
            <p:cNvSpPr/>
            <p:nvPr/>
          </p:nvSpPr>
          <p:spPr>
            <a:xfrm>
              <a:off x="533400" y="3486150"/>
              <a:ext cx="2381250" cy="1219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2E75B6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533400" y="3486150"/>
              <a:ext cx="2381250" cy="342900"/>
            </a:xfrm>
            <a:custGeom>
              <a:avLst/>
              <a:gdLst/>
              <a:ahLst/>
              <a:cxnLst/>
              <a:rect l="l" t="t" r="r" b="b"/>
              <a:pathLst>
                <a:path w="238125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305050" y="0"/>
                  </a:lnTo>
                  <a:cubicBezTo>
                    <a:pt x="2347134" y="0"/>
                    <a:pt x="2381250" y="34116"/>
                    <a:pt x="2381250" y="76200"/>
                  </a:cubicBezTo>
                  <a:lnTo>
                    <a:pt x="238125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60289" y="3587829"/>
              <a:ext cx="1527472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9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⑤ 监控智能体（裁决）</a:t>
              </a:r>
              <a:endParaRPr lang="zh-CN" sz="109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1994" y="4013597"/>
              <a:ext cx="171777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静态 Suspected 转定向探针，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1994" y="4204097"/>
              <a:ext cx="189279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执行命中回填 PoC 升级 Detected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352800" y="3486150"/>
              <a:ext cx="2381250" cy="1219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17375E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3352800" y="3486150"/>
              <a:ext cx="2381250" cy="342900"/>
            </a:xfrm>
            <a:custGeom>
              <a:avLst/>
              <a:gdLst/>
              <a:ahLst/>
              <a:cxnLst/>
              <a:rect l="l" t="t" r="r" b="b"/>
              <a:pathLst>
                <a:path w="238125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305050" y="0"/>
                  </a:lnTo>
                  <a:cubicBezTo>
                    <a:pt x="2347134" y="0"/>
                    <a:pt x="2381250" y="34116"/>
                    <a:pt x="2381250" y="76200"/>
                  </a:cubicBezTo>
                  <a:lnTo>
                    <a:pt x="238125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084227" y="3587829"/>
              <a:ext cx="918396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9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⑥ 修复智能体</a:t>
              </a:r>
              <a:endParaRPr lang="zh-CN" sz="109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531394" y="4013597"/>
              <a:ext cx="192405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生成函数级补丁，ToolLoopVerify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531394" y="4204097"/>
              <a:ext cx="1524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三道验证，不通过一律拒绝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172200" y="3486150"/>
              <a:ext cx="2381250" cy="1219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B45309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6172200" y="3486150"/>
              <a:ext cx="2381250" cy="342900"/>
            </a:xfrm>
            <a:custGeom>
              <a:avLst/>
              <a:gdLst/>
              <a:ahLst/>
              <a:cxnLst/>
              <a:rect l="l" t="t" r="r" b="b"/>
              <a:pathLst>
                <a:path w="238125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305050" y="0"/>
                  </a:lnTo>
                  <a:cubicBezTo>
                    <a:pt x="2347134" y="0"/>
                    <a:pt x="2381250" y="34116"/>
                    <a:pt x="2381250" y="76200"/>
                  </a:cubicBezTo>
                  <a:lnTo>
                    <a:pt x="238125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B45309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75223" y="3587829"/>
              <a:ext cx="1375203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9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⑦ 高危人工复核闸门</a:t>
              </a:r>
              <a:endParaRPr lang="zh-CN" sz="109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350794" y="4013597"/>
              <a:ext cx="189904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高危结论必须人工确认后才放行；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350794" y="4204097"/>
              <a:ext cx="129272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LLM 不拥有最终裁决权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991600" y="3486150"/>
              <a:ext cx="2381250" cy="1219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2E75B6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8991600" y="3486150"/>
              <a:ext cx="2381250" cy="342900"/>
            </a:xfrm>
            <a:custGeom>
              <a:avLst/>
              <a:gdLst/>
              <a:ahLst/>
              <a:cxnLst/>
              <a:rect l="l" t="t" r="r" b="b"/>
              <a:pathLst>
                <a:path w="238125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305050" y="0"/>
                  </a:lnTo>
                  <a:cubicBezTo>
                    <a:pt x="2347134" y="0"/>
                    <a:pt x="2381250" y="34116"/>
                    <a:pt x="2381250" y="76200"/>
                  </a:cubicBezTo>
                  <a:lnTo>
                    <a:pt x="238125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692573" y="3587829"/>
              <a:ext cx="979304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9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⑧ L5 聚合输出</a:t>
              </a:r>
              <a:endParaRPr lang="zh-CN" sz="109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170194" y="4013597"/>
              <a:ext cx="164901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去重、双口径映射、可证明性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170194" y="4204097"/>
              <a:ext cx="141148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分级，产出 SARIF 与报告</a:t>
              </a:r>
              <a:endParaRPr lang="zh-CN" sz="94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4" name="Freeform 64"/>
            <p:cNvSpPr/>
            <p:nvPr/>
          </p:nvSpPr>
          <p:spPr>
            <a:xfrm>
              <a:off x="2914650" y="4029075"/>
              <a:ext cx="228600" cy="209550"/>
            </a:xfrm>
            <a:custGeom>
              <a:avLst/>
              <a:gdLst/>
              <a:ahLst/>
              <a:cxnLst/>
              <a:rect l="l" t="t" r="r" b="b"/>
              <a:pathLst>
                <a:path w="228600" h="209550">
                  <a:moveTo>
                    <a:pt x="0" y="66675"/>
                  </a:moveTo>
                  <a:lnTo>
                    <a:pt x="114300" y="66675"/>
                  </a:lnTo>
                  <a:lnTo>
                    <a:pt x="114300" y="0"/>
                  </a:lnTo>
                  <a:lnTo>
                    <a:pt x="228600" y="104775"/>
                  </a:lnTo>
                  <a:lnTo>
                    <a:pt x="114300" y="209550"/>
                  </a:lnTo>
                  <a:lnTo>
                    <a:pt x="114300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5734050" y="4029075"/>
              <a:ext cx="228600" cy="209550"/>
            </a:xfrm>
            <a:custGeom>
              <a:avLst/>
              <a:gdLst/>
              <a:ahLst/>
              <a:cxnLst/>
              <a:rect l="l" t="t" r="r" b="b"/>
              <a:pathLst>
                <a:path w="228600" h="209550">
                  <a:moveTo>
                    <a:pt x="0" y="66675"/>
                  </a:moveTo>
                  <a:lnTo>
                    <a:pt x="114300" y="66675"/>
                  </a:lnTo>
                  <a:lnTo>
                    <a:pt x="114300" y="0"/>
                  </a:lnTo>
                  <a:lnTo>
                    <a:pt x="228600" y="104775"/>
                  </a:lnTo>
                  <a:lnTo>
                    <a:pt x="114300" y="209550"/>
                  </a:lnTo>
                  <a:lnTo>
                    <a:pt x="114300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8553450" y="4029075"/>
              <a:ext cx="228600" cy="209550"/>
            </a:xfrm>
            <a:custGeom>
              <a:avLst/>
              <a:gdLst/>
              <a:ahLst/>
              <a:cxnLst/>
              <a:rect l="l" t="t" r="r" b="b"/>
              <a:pathLst>
                <a:path w="228600" h="209550">
                  <a:moveTo>
                    <a:pt x="0" y="66675"/>
                  </a:moveTo>
                  <a:lnTo>
                    <a:pt x="114300" y="66675"/>
                  </a:lnTo>
                  <a:lnTo>
                    <a:pt x="114300" y="0"/>
                  </a:lnTo>
                  <a:lnTo>
                    <a:pt x="228600" y="104775"/>
                  </a:lnTo>
                  <a:lnTo>
                    <a:pt x="114300" y="209550"/>
                  </a:lnTo>
                  <a:lnTo>
                    <a:pt x="114300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533400" y="4895850"/>
            <a:ext cx="11125200" cy="876300"/>
            <a:chOff x="533400" y="4895850"/>
            <a:chExt cx="11125200" cy="876300"/>
          </a:xfrm>
        </p:grpSpPr>
        <p:sp>
          <p:nvSpPr>
            <p:cNvPr id="68" name="Rectangle 68"/>
            <p:cNvSpPr/>
            <p:nvPr/>
          </p:nvSpPr>
          <p:spPr>
            <a:xfrm>
              <a:off x="533400" y="4895850"/>
              <a:ext cx="3581400" cy="876300"/>
            </a:xfrm>
            <a:prstGeom prst="roundRect">
              <a:avLst>
                <a:gd name="adj" fmla="val 869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48189" y="5083254"/>
              <a:ext cx="788968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结构化交接</a:t>
              </a:r>
              <a:endParaRPr lang="zh-CN" sz="109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49618" y="5343049"/>
              <a:ext cx="22480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智能体间以结构化 AgentState 传递，</a:t>
              </a:r>
              <a:endParaRPr lang="zh-CN" sz="975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49618" y="5533549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不靠自由文本对话拼接上下文</a:t>
              </a:r>
              <a:endParaRPr lang="zh-CN" sz="975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4305300" y="4895850"/>
              <a:ext cx="3581400" cy="876300"/>
            </a:xfrm>
            <a:prstGeom prst="roundRect">
              <a:avLst>
                <a:gd name="adj" fmla="val 869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4520089" y="5083254"/>
              <a:ext cx="1093506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分层路由控成本</a:t>
              </a:r>
              <a:endParaRPr lang="zh-CN" sz="109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521518" y="5343049"/>
              <a:ext cx="21700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note 级告警不进大模型；结构化输出</a:t>
              </a:r>
              <a:endParaRPr lang="zh-CN" sz="975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521518" y="5533549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失败即降级，不会阻塞流水线</a:t>
              </a:r>
              <a:endParaRPr lang="zh-CN" sz="975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077200" y="4895850"/>
              <a:ext cx="3581400" cy="876300"/>
            </a:xfrm>
            <a:prstGeom prst="roundRect">
              <a:avLst>
                <a:gd name="adj" fmla="val 869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291989" y="5083254"/>
              <a:ext cx="941237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降级对照形态</a:t>
              </a:r>
              <a:endParaRPr lang="zh-CN" sz="109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293418" y="5343049"/>
              <a:ext cx="19100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--single-agent 单智能体串行，</a:t>
              </a:r>
              <a:endParaRPr lang="zh-CN" sz="975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293418" y="5533549"/>
              <a:ext cx="16759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作为 A6 消融对照与降级形态</a:t>
              </a:r>
              <a:endParaRPr lang="zh-CN" sz="975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33400" y="5924550"/>
            <a:ext cx="11125200" cy="438150"/>
            <a:chOff x="533400" y="5924550"/>
            <a:chExt cx="11125200" cy="438150"/>
          </a:xfrm>
        </p:grpSpPr>
        <p:sp>
          <p:nvSpPr>
            <p:cNvPr id="81" name="Rectangle 81"/>
            <p:cNvSpPr/>
            <p:nvPr/>
          </p:nvSpPr>
          <p:spPr>
            <a:xfrm>
              <a:off x="533400" y="5924550"/>
              <a:ext cx="11125200" cy="438150"/>
            </a:xfrm>
            <a:prstGeom prst="roundRect">
              <a:avLst>
                <a:gd name="adj" fmla="val 17391"/>
              </a:avLst>
            </a:prstGeom>
            <a:solidFill>
              <a:srgbClr val="FBEDED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48189" y="6083379"/>
              <a:ext cx="7568565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现状局限：</a:t>
              </a:r>
              <a:r>
                <a:rPr lang="zh-CN" sz="1090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单一分诊提示词未按领域分工 · 人工复核结论未回流优化 · 线性状态机无动态重规划 —— 目标架构见下一页</a:t>
              </a:r>
              <a:endParaRPr lang="zh-CN" sz="1090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22922" y="6578441"/>
            <a:ext cx="11146156" cy="167640"/>
            <a:chOff x="522922" y="6578441"/>
            <a:chExt cx="11146156" cy="167640"/>
          </a:xfrm>
        </p:grpSpPr>
        <p:sp>
          <p:nvSpPr>
            <p:cNvPr id="84" name="TextBox 84"/>
            <p:cNvSpPr txBox="1"/>
            <p:nvPr/>
          </p:nvSpPr>
          <p:spPr>
            <a:xfrm>
              <a:off x="522922" y="6578441"/>
              <a:ext cx="529061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图例：</a:t>
              </a:r>
              <a:r>
                <a:rPr lang="zh-CN" sz="825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深蓝 = LLM 参与</a:t>
              </a:r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</a:t>
              </a:r>
              <a:r>
                <a:rPr lang="zh-CN" sz="825" b="1" dirty="0">
                  <a:solidFill>
                    <a:srgbClr val="2E75B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中蓝 = 确定性工具</a:t>
              </a:r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</a:t>
              </a:r>
              <a:r>
                <a:rPr lang="zh-CN" sz="825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橙 = 人工闸门</a:t>
              </a:r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；消融 A6 证明编排不改变检测能力（组织学贡献）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54611" y="6578441"/>
              <a:ext cx="1144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12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40" grpId="0"/>
      <p:bldP spid="43" grpId="0"/>
      <p:bldP spid="67" grpId="0"/>
      <p:bldP spid="80" grpId="0"/>
      <p:bldP spid="8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495300"/>
            <a:ext cx="11135677" cy="671512"/>
            <a:chOff x="533400" y="495300"/>
            <a:chExt cx="11135677" cy="671512"/>
          </a:xfrm>
        </p:grpSpPr>
        <p:sp>
          <p:nvSpPr>
            <p:cNvPr id="3" name="Rectangle 3"/>
            <p:cNvSpPr/>
            <p:nvPr/>
          </p:nvSpPr>
          <p:spPr>
            <a:xfrm rot="2700000">
              <a:off x="552450" y="495300"/>
              <a:ext cx="161925" cy="161925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 rot="2700000">
              <a:off x="704850" y="590550"/>
              <a:ext cx="95250" cy="95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9168" y="523399"/>
              <a:ext cx="20465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 · 设计与实现 · 多智能体 · 目标</a:t>
              </a:r>
              <a:endParaRPr lang="zh-CN" sz="97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709612"/>
              <a:ext cx="83426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多智能体协作（目标）：分域专家 + 元认知校验 + 反馈闭环</a:t>
              </a:r>
              <a:endParaRPr lang="zh-CN" sz="225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38821" y="53959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ecdet · 嵌入式软件代码缺陷与安全漏洞检测系统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85850"/>
              <a:ext cx="13335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6255" y="1302068"/>
            <a:ext cx="7253192" cy="274320"/>
            <a:chOff x="516255" y="1302068"/>
            <a:chExt cx="7253192" cy="274320"/>
          </a:xfrm>
        </p:grpSpPr>
        <p:sp>
          <p:nvSpPr>
            <p:cNvPr id="11" name="TextBox 11"/>
            <p:cNvSpPr txBox="1"/>
            <p:nvPr/>
          </p:nvSpPr>
          <p:spPr>
            <a:xfrm>
              <a:off x="516255" y="1302068"/>
              <a:ext cx="72531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对外部工程化建议书逐条评判后</a:t>
              </a:r>
              <a:r>
                <a:rPr lang="zh-CN" sz="1350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不推倒重写、点状吸收</a:t>
              </a:r>
              <a:r>
                <a:rPr lang="zh-CN" sz="135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——红色为现状没有、目标要补的四块</a:t>
              </a:r>
              <a:endParaRPr lang="zh-CN" sz="135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33400" y="1600200"/>
            <a:ext cx="11125200" cy="1447800"/>
            <a:chOff x="533400" y="1600200"/>
            <a:chExt cx="11125200" cy="1447800"/>
          </a:xfrm>
        </p:grpSpPr>
        <p:sp>
          <p:nvSpPr>
            <p:cNvPr id="13" name="Rectangle 13"/>
            <p:cNvSpPr/>
            <p:nvPr/>
          </p:nvSpPr>
          <p:spPr>
            <a:xfrm>
              <a:off x="533400" y="1600200"/>
              <a:ext cx="1714500" cy="144780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14288">
              <a:solidFill>
                <a:srgbClr val="17375E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33400" y="1600200"/>
              <a:ext cx="1714500" cy="342900"/>
            </a:xfrm>
            <a:custGeom>
              <a:avLst/>
              <a:gdLst/>
              <a:ahLst/>
              <a:cxnLst/>
              <a:rect l="l" t="t" r="r" b="b"/>
              <a:pathLst>
                <a:path w="171450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1638300" y="0"/>
                  </a:lnTo>
                  <a:cubicBezTo>
                    <a:pt x="1680384" y="0"/>
                    <a:pt x="1714500" y="34116"/>
                    <a:pt x="1714500" y="76200"/>
                  </a:cubicBezTo>
                  <a:lnTo>
                    <a:pt x="171450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09769" y="1705928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规划智能体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4370" y="2112645"/>
              <a:ext cx="11029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现状保留：计划生成</a:t>
              </a:r>
              <a:endParaRPr lang="zh-CN" sz="90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4370" y="2303145"/>
              <a:ext cx="6229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与分层路由</a:t>
              </a:r>
              <a:endParaRPr lang="zh-CN" sz="90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495550" y="1600200"/>
              <a:ext cx="2286000" cy="144780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14288">
              <a:solidFill>
                <a:srgbClr val="17375E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495550" y="1600200"/>
              <a:ext cx="2286000" cy="342900"/>
            </a:xfrm>
            <a:custGeom>
              <a:avLst/>
              <a:gdLst/>
              <a:ahLst/>
              <a:cxnLst/>
              <a:rect l="l" t="t" r="r" b="b"/>
              <a:pathLst>
                <a:path w="228600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209800" y="0"/>
                  </a:lnTo>
                  <a:cubicBezTo>
                    <a:pt x="2251884" y="0"/>
                    <a:pt x="2286000" y="34116"/>
                    <a:pt x="2286000" y="76200"/>
                  </a:cubicBezTo>
                  <a:lnTo>
                    <a:pt x="228600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184160" y="170592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静态锚点优先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36520" y="2112645"/>
              <a:ext cx="1583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现状保留：规则 / 抽象解释 /</a:t>
              </a:r>
              <a:endParaRPr lang="zh-CN" sz="90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36520" y="2303145"/>
              <a:ext cx="17030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硬件语义先给证据，宁漏勿误；</a:t>
              </a:r>
              <a:endParaRPr lang="zh-CN" sz="90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36520" y="2493645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高危域不交给模型猜测</a:t>
              </a:r>
              <a:endParaRPr lang="zh-CN" sz="90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029200" y="1600200"/>
              <a:ext cx="3619500" cy="1447800"/>
            </a:xfrm>
            <a:prstGeom prst="roundRect">
              <a:avLst>
                <a:gd name="adj" fmla="val 5263"/>
              </a:avLst>
            </a:prstGeom>
            <a:solidFill>
              <a:srgbClr val="F2F6FA"/>
            </a:solidFill>
            <a:ln w="14288">
              <a:solidFill>
                <a:srgbClr val="D8E0E9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07465" y="1723549"/>
              <a:ext cx="16629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并行审查域（按领域分工）</a:t>
              </a:r>
              <a:endParaRPr lang="zh-CN" sz="975" b="1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181600" y="1943100"/>
              <a:ext cx="1695450" cy="495300"/>
            </a:xfrm>
            <a:prstGeom prst="roundRect">
              <a:avLst>
                <a:gd name="adj" fmla="val 11538"/>
              </a:avLst>
            </a:prstGeom>
            <a:solidFill>
              <a:srgbClr val="FBEDED"/>
            </a:solidFill>
            <a:ln w="11430">
              <a:solidFill>
                <a:srgbClr val="C00000"/>
              </a:solidFill>
              <a:custDash>
                <a:ds d="416666" sp="250000"/>
              </a:custDash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83994" y="2051447"/>
              <a:ext cx="81141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内存安全专家</a:t>
              </a:r>
              <a:endParaRPr lang="zh-CN" sz="94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85422" y="2254091"/>
              <a:ext cx="9890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领域化 prompt · P1</a:t>
              </a:r>
              <a:endParaRPr lang="zh-CN" sz="825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953250" y="1943100"/>
              <a:ext cx="1695450" cy="495300"/>
            </a:xfrm>
            <a:prstGeom prst="roundRect">
              <a:avLst>
                <a:gd name="adj" fmla="val 11538"/>
              </a:avLst>
            </a:prstGeom>
            <a:solidFill>
              <a:srgbClr val="FBEDED"/>
            </a:solidFill>
            <a:ln w="11430">
              <a:solidFill>
                <a:srgbClr val="C00000"/>
              </a:solidFill>
              <a:custDash>
                <a:ds d="416666" sp="250000"/>
              </a:custDash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55644" y="2051447"/>
              <a:ext cx="81141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实时资源专家</a:t>
              </a:r>
              <a:endParaRPr lang="zh-CN" sz="94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57072" y="2254091"/>
              <a:ext cx="9890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领域化 prompt · P1</a:t>
              </a:r>
              <a:endParaRPr lang="zh-CN" sz="825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181600" y="2495550"/>
              <a:ext cx="1695450" cy="495300"/>
            </a:xfrm>
            <a:prstGeom prst="roundRect">
              <a:avLst>
                <a:gd name="adj" fmla="val 11538"/>
              </a:avLst>
            </a:prstGeom>
            <a:solidFill>
              <a:srgbClr val="EAF1F8"/>
            </a:solidFill>
            <a:ln w="11430">
              <a:solidFill>
                <a:srgbClr val="0070C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83994" y="2603897"/>
              <a:ext cx="83110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并发 · 中断层</a:t>
              </a:r>
              <a:endParaRPr lang="zh-CN" sz="94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85422" y="2806541"/>
              <a:ext cx="11210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确定性规则已有，保留</a:t>
              </a:r>
              <a:endParaRPr lang="zh-CN" sz="825" dirty="0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953250" y="2495550"/>
              <a:ext cx="1695450" cy="495300"/>
            </a:xfrm>
            <a:prstGeom prst="roundRect">
              <a:avLst>
                <a:gd name="adj" fmla="val 11538"/>
              </a:avLst>
            </a:prstGeom>
            <a:solidFill>
              <a:srgbClr val="EAF1F8"/>
            </a:solidFill>
            <a:ln w="11430">
              <a:solidFill>
                <a:srgbClr val="0070C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55644" y="2603897"/>
              <a:ext cx="68014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硬件交互层</a:t>
              </a:r>
              <a:endParaRPr lang="zh-CN" sz="94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57072" y="2806541"/>
              <a:ext cx="133561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SVD 确定性解析已有，保留</a:t>
              </a:r>
              <a:endParaRPr lang="zh-CN" sz="825" dirty="0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896350" y="1600200"/>
              <a:ext cx="2762250" cy="1447800"/>
            </a:xfrm>
            <a:prstGeom prst="roundRect">
              <a:avLst>
                <a:gd name="adj" fmla="val 5263"/>
              </a:avLst>
            </a:prstGeom>
            <a:solidFill>
              <a:srgbClr val="FBEDED"/>
            </a:solidFill>
            <a:ln w="17145">
              <a:solidFill>
                <a:srgbClr val="C00000"/>
              </a:solidFill>
              <a:custDash>
                <a:ds d="388888" sp="222222"/>
              </a:custDash>
            </a:ln>
          </p:spPr>
        </p:sp>
        <p:sp>
          <p:nvSpPr>
            <p:cNvPr id="39" name="Freeform 39"/>
            <p:cNvSpPr/>
            <p:nvPr/>
          </p:nvSpPr>
          <p:spPr>
            <a:xfrm>
              <a:off x="8896350" y="1600200"/>
              <a:ext cx="2762250" cy="342900"/>
            </a:xfrm>
            <a:custGeom>
              <a:avLst/>
              <a:gdLst/>
              <a:ahLst/>
              <a:cxnLst/>
              <a:rect l="l" t="t" r="r" b="b"/>
              <a:pathLst>
                <a:path w="276225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686050" y="0"/>
                  </a:lnTo>
                  <a:cubicBezTo>
                    <a:pt x="2728134" y="0"/>
                    <a:pt x="2762250" y="34116"/>
                    <a:pt x="2762250" y="76200"/>
                  </a:cubicBezTo>
                  <a:lnTo>
                    <a:pt x="276225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418784" y="1705928"/>
              <a:ext cx="17173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元认知 Critic（P0 新增）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37320" y="2112645"/>
              <a:ext cx="17030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代码片段一致性：引用代码逐字</a:t>
              </a:r>
              <a:endParaRPr lang="zh-CN" sz="90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37320" y="2303145"/>
              <a:ext cx="17030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比对源文件；上下文自洽：结论</a:t>
              </a:r>
              <a:endParaRPr lang="zh-CN" sz="90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37320" y="2493645"/>
              <a:ext cx="1583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对照调用图与 ISR 标记核实；</a:t>
              </a:r>
              <a:endParaRPr lang="zh-CN" sz="90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37796" y="2688193"/>
              <a:ext cx="1402080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现有三道闸是其规则化子集</a:t>
              </a:r>
              <a:endParaRPr lang="zh-CN" sz="860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Freeform 45"/>
            <p:cNvSpPr/>
            <p:nvPr/>
          </p:nvSpPr>
          <p:spPr>
            <a:xfrm>
              <a:off x="2247900" y="2257425"/>
              <a:ext cx="200025" cy="209550"/>
            </a:xfrm>
            <a:custGeom>
              <a:avLst/>
              <a:gdLst/>
              <a:ahLst/>
              <a:cxnLst/>
              <a:rect l="l" t="t" r="r" b="b"/>
              <a:pathLst>
                <a:path w="200025" h="209550">
                  <a:moveTo>
                    <a:pt x="0" y="66675"/>
                  </a:moveTo>
                  <a:lnTo>
                    <a:pt x="85725" y="66675"/>
                  </a:lnTo>
                  <a:lnTo>
                    <a:pt x="85725" y="0"/>
                  </a:lnTo>
                  <a:lnTo>
                    <a:pt x="200025" y="104775"/>
                  </a:lnTo>
                  <a:lnTo>
                    <a:pt x="85725" y="209550"/>
                  </a:lnTo>
                  <a:lnTo>
                    <a:pt x="85725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4781550" y="2257425"/>
              <a:ext cx="200025" cy="209550"/>
            </a:xfrm>
            <a:custGeom>
              <a:avLst/>
              <a:gdLst/>
              <a:ahLst/>
              <a:cxnLst/>
              <a:rect l="l" t="t" r="r" b="b"/>
              <a:pathLst>
                <a:path w="200025" h="209550">
                  <a:moveTo>
                    <a:pt x="0" y="66675"/>
                  </a:moveTo>
                  <a:lnTo>
                    <a:pt x="85725" y="66675"/>
                  </a:lnTo>
                  <a:lnTo>
                    <a:pt x="85725" y="0"/>
                  </a:lnTo>
                  <a:lnTo>
                    <a:pt x="200025" y="104775"/>
                  </a:lnTo>
                  <a:lnTo>
                    <a:pt x="85725" y="209550"/>
                  </a:lnTo>
                  <a:lnTo>
                    <a:pt x="85725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8648700" y="2257425"/>
              <a:ext cx="200025" cy="209550"/>
            </a:xfrm>
            <a:custGeom>
              <a:avLst/>
              <a:gdLst/>
              <a:ahLst/>
              <a:cxnLst/>
              <a:rect l="l" t="t" r="r" b="b"/>
              <a:pathLst>
                <a:path w="200025" h="209550">
                  <a:moveTo>
                    <a:pt x="0" y="66675"/>
                  </a:moveTo>
                  <a:lnTo>
                    <a:pt x="85725" y="66675"/>
                  </a:lnTo>
                  <a:lnTo>
                    <a:pt x="85725" y="0"/>
                  </a:lnTo>
                  <a:lnTo>
                    <a:pt x="200025" y="104775"/>
                  </a:lnTo>
                  <a:lnTo>
                    <a:pt x="85725" y="209550"/>
                  </a:lnTo>
                  <a:lnTo>
                    <a:pt x="85725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533400" y="3276600"/>
            <a:ext cx="11125200" cy="1143000"/>
            <a:chOff x="533400" y="3276600"/>
            <a:chExt cx="11125200" cy="1143000"/>
          </a:xfrm>
        </p:grpSpPr>
        <p:sp>
          <p:nvSpPr>
            <p:cNvPr id="49" name="Rectangle 49"/>
            <p:cNvSpPr/>
            <p:nvPr/>
          </p:nvSpPr>
          <p:spPr>
            <a:xfrm>
              <a:off x="533400" y="3276600"/>
              <a:ext cx="2286000" cy="1143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2E75B6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533400" y="3276600"/>
              <a:ext cx="2286000" cy="342900"/>
            </a:xfrm>
            <a:custGeom>
              <a:avLst/>
              <a:gdLst/>
              <a:ahLst/>
              <a:cxnLst/>
              <a:rect l="l" t="t" r="r" b="b"/>
              <a:pathLst>
                <a:path w="228600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209800" y="0"/>
                  </a:lnTo>
                  <a:cubicBezTo>
                    <a:pt x="2251884" y="0"/>
                    <a:pt x="2286000" y="34116"/>
                    <a:pt x="2286000" y="76200"/>
                  </a:cubicBezTo>
                  <a:lnTo>
                    <a:pt x="228600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369028" y="33823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动态实证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4370" y="3789045"/>
              <a:ext cx="17210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现状保留：harness 执行裁决，</a:t>
              </a:r>
              <a:endParaRPr lang="zh-CN" sz="90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4370" y="3979545"/>
              <a:ext cx="1283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命中即 Detected + PoC</a:t>
              </a:r>
              <a:endParaRPr lang="zh-CN" sz="90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3200400" y="3276600"/>
              <a:ext cx="2286000" cy="1143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2E75B6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3200400" y="3276600"/>
              <a:ext cx="2286000" cy="342900"/>
            </a:xfrm>
            <a:custGeom>
              <a:avLst/>
              <a:gdLst/>
              <a:ahLst/>
              <a:cxnLst/>
              <a:rect l="l" t="t" r="r" b="b"/>
              <a:pathLst>
                <a:path w="228600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209800" y="0"/>
                  </a:lnTo>
                  <a:cubicBezTo>
                    <a:pt x="2251884" y="0"/>
                    <a:pt x="2286000" y="34116"/>
                    <a:pt x="2286000" y="76200"/>
                  </a:cubicBezTo>
                  <a:lnTo>
                    <a:pt x="228600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889010" y="338232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修复验证闭环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341370" y="3789045"/>
              <a:ext cx="16070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现状保留：ToolLoopVerify，</a:t>
              </a:r>
              <a:endParaRPr lang="zh-CN" sz="90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341370" y="3979545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补丁必须工具验证通过</a:t>
              </a:r>
              <a:endParaRPr lang="zh-CN" sz="90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867400" y="3276600"/>
              <a:ext cx="2286000" cy="1143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B45309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5867400" y="3276600"/>
              <a:ext cx="2286000" cy="342900"/>
            </a:xfrm>
            <a:custGeom>
              <a:avLst/>
              <a:gdLst/>
              <a:ahLst/>
              <a:cxnLst/>
              <a:rect l="l" t="t" r="r" b="b"/>
              <a:pathLst>
                <a:path w="228600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209800" y="0"/>
                  </a:lnTo>
                  <a:cubicBezTo>
                    <a:pt x="2251884" y="0"/>
                    <a:pt x="2286000" y="34116"/>
                    <a:pt x="2286000" y="76200"/>
                  </a:cubicBezTo>
                  <a:lnTo>
                    <a:pt x="228600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B45309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408992" y="3382328"/>
              <a:ext cx="1202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高危人工复核闸门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008370" y="3789045"/>
              <a:ext cx="1583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现状保留；复核状态流转已在</a:t>
              </a:r>
              <a:endParaRPr lang="zh-CN" sz="90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008370" y="3979545"/>
              <a:ext cx="10009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Web 告警中心落地</a:t>
              </a:r>
              <a:endParaRPr lang="zh-CN" sz="900" dirty="0">
                <a:solidFill>
                  <a:srgbClr val="5B6B7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534400" y="3276600"/>
              <a:ext cx="3124200" cy="1143000"/>
            </a:xfrm>
            <a:prstGeom prst="roundRect">
              <a:avLst>
                <a:gd name="adj" fmla="val 6667"/>
              </a:avLst>
            </a:prstGeom>
            <a:solidFill>
              <a:srgbClr val="FBEDED"/>
            </a:solidFill>
            <a:ln w="17145">
              <a:solidFill>
                <a:srgbClr val="C00000"/>
              </a:solidFill>
              <a:custDash>
                <a:ds d="388888" sp="222222"/>
              </a:custDash>
            </a:ln>
          </p:spPr>
        </p:sp>
        <p:sp>
          <p:nvSpPr>
            <p:cNvPr id="65" name="Freeform 65"/>
            <p:cNvSpPr/>
            <p:nvPr/>
          </p:nvSpPr>
          <p:spPr>
            <a:xfrm>
              <a:off x="8534400" y="3276600"/>
              <a:ext cx="3124200" cy="342900"/>
            </a:xfrm>
            <a:custGeom>
              <a:avLst/>
              <a:gdLst/>
              <a:ahLst/>
              <a:cxnLst/>
              <a:rect l="l" t="t" r="r" b="b"/>
              <a:pathLst>
                <a:path w="312420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3048000" y="0"/>
                  </a:lnTo>
                  <a:cubicBezTo>
                    <a:pt x="3090084" y="0"/>
                    <a:pt x="3124200" y="34116"/>
                    <a:pt x="3124200" y="76200"/>
                  </a:cubicBezTo>
                  <a:lnTo>
                    <a:pt x="312420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035659" y="3382328"/>
              <a:ext cx="21216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反馈回写 + 大小模型分工（P2）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675370" y="37890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人工复核结论沉淀为标注库，回写</a:t>
              </a:r>
              <a:endParaRPr lang="zh-CN" sz="90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675370" y="3979545"/>
              <a:ext cx="20751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提示词精炼；大模型当 Critic、小模型</a:t>
              </a:r>
              <a:endParaRPr lang="zh-CN" sz="90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675370" y="4170045"/>
              <a:ext cx="17150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当并行审查员——均需先积累数据</a:t>
              </a:r>
              <a:endParaRPr lang="zh-CN" sz="90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Freeform 70"/>
            <p:cNvSpPr/>
            <p:nvPr/>
          </p:nvSpPr>
          <p:spPr>
            <a:xfrm>
              <a:off x="2819400" y="3781425"/>
              <a:ext cx="200025" cy="209550"/>
            </a:xfrm>
            <a:custGeom>
              <a:avLst/>
              <a:gdLst/>
              <a:ahLst/>
              <a:cxnLst/>
              <a:rect l="l" t="t" r="r" b="b"/>
              <a:pathLst>
                <a:path w="200025" h="209550">
                  <a:moveTo>
                    <a:pt x="0" y="66675"/>
                  </a:moveTo>
                  <a:lnTo>
                    <a:pt x="85725" y="66675"/>
                  </a:lnTo>
                  <a:lnTo>
                    <a:pt x="85725" y="0"/>
                  </a:lnTo>
                  <a:lnTo>
                    <a:pt x="200025" y="104775"/>
                  </a:lnTo>
                  <a:lnTo>
                    <a:pt x="85725" y="209550"/>
                  </a:lnTo>
                  <a:lnTo>
                    <a:pt x="85725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5486400" y="3781425"/>
              <a:ext cx="200025" cy="209550"/>
            </a:xfrm>
            <a:custGeom>
              <a:avLst/>
              <a:gdLst/>
              <a:ahLst/>
              <a:cxnLst/>
              <a:rect l="l" t="t" r="r" b="b"/>
              <a:pathLst>
                <a:path w="200025" h="209550">
                  <a:moveTo>
                    <a:pt x="0" y="66675"/>
                  </a:moveTo>
                  <a:lnTo>
                    <a:pt x="85725" y="66675"/>
                  </a:lnTo>
                  <a:lnTo>
                    <a:pt x="85725" y="0"/>
                  </a:lnTo>
                  <a:lnTo>
                    <a:pt x="200025" y="104775"/>
                  </a:lnTo>
                  <a:lnTo>
                    <a:pt x="85725" y="209550"/>
                  </a:lnTo>
                  <a:lnTo>
                    <a:pt x="85725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72" name="Freeform 72"/>
            <p:cNvSpPr/>
            <p:nvPr/>
          </p:nvSpPr>
          <p:spPr>
            <a:xfrm>
              <a:off x="8153400" y="3781425"/>
              <a:ext cx="200025" cy="209550"/>
            </a:xfrm>
            <a:custGeom>
              <a:avLst/>
              <a:gdLst/>
              <a:ahLst/>
              <a:cxnLst/>
              <a:rect l="l" t="t" r="r" b="b"/>
              <a:pathLst>
                <a:path w="200025" h="209550">
                  <a:moveTo>
                    <a:pt x="0" y="66675"/>
                  </a:moveTo>
                  <a:lnTo>
                    <a:pt x="85725" y="66675"/>
                  </a:lnTo>
                  <a:lnTo>
                    <a:pt x="85725" y="0"/>
                  </a:lnTo>
                  <a:lnTo>
                    <a:pt x="200025" y="104775"/>
                  </a:lnTo>
                  <a:lnTo>
                    <a:pt x="85725" y="209550"/>
                  </a:lnTo>
                  <a:lnTo>
                    <a:pt x="85725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533400" y="4648200"/>
            <a:ext cx="5467350" cy="1562100"/>
            <a:chOff x="533400" y="4648200"/>
            <a:chExt cx="5467350" cy="1562100"/>
          </a:xfrm>
        </p:grpSpPr>
        <p:sp>
          <p:nvSpPr>
            <p:cNvPr id="74" name="Rectangle 74"/>
            <p:cNvSpPr/>
            <p:nvPr/>
          </p:nvSpPr>
          <p:spPr>
            <a:xfrm>
              <a:off x="533400" y="4648200"/>
              <a:ext cx="5467350" cy="1562100"/>
            </a:xfrm>
            <a:prstGeom prst="roundRect">
              <a:avLst>
                <a:gd name="adj" fmla="val 6098"/>
              </a:avLst>
            </a:prstGeom>
            <a:solidFill>
              <a:srgbClr val="FFFFFF"/>
            </a:solidFill>
            <a:ln w="14288">
              <a:solidFill>
                <a:srgbClr val="C00000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84860" y="4842510"/>
              <a:ext cx="3390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点状吸收（红色四块，均有优先级与工作量）</a:t>
              </a:r>
              <a:endParaRPr lang="zh-CN" sz="120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87241" y="5167551"/>
              <a:ext cx="48525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P0</a:t>
              </a:r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元认知校验增强——2–3 天；幻觉用例（伪行号 / 伪代码 / 伪结论）须全部拦截</a:t>
              </a:r>
              <a:endParaRPr lang="zh-CN" sz="101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87241" y="5434251"/>
              <a:ext cx="3988463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P1</a:t>
              </a:r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分诊领域化路由——2–3 天；内存安全 / 实时资源两类专业提示词</a:t>
              </a:r>
              <a:endParaRPr lang="zh-CN" sz="101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87241" y="5700951"/>
              <a:ext cx="252353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P2</a:t>
              </a:r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人工复核反馈回写——需先积累标注数据</a:t>
              </a:r>
              <a:endParaRPr lang="zh-CN" sz="101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87241" y="5967651"/>
              <a:ext cx="3198614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P2</a:t>
              </a:r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大小模型分工——需真实端点使用数据支撑成本评估</a:t>
              </a:r>
              <a:endParaRPr lang="zh-CN" sz="101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6229350" y="4648200"/>
            <a:ext cx="5429250" cy="1562100"/>
            <a:chOff x="6229350" y="4648200"/>
            <a:chExt cx="5429250" cy="1562100"/>
          </a:xfrm>
        </p:grpSpPr>
        <p:sp>
          <p:nvSpPr>
            <p:cNvPr id="81" name="Rectangle 81"/>
            <p:cNvSpPr/>
            <p:nvPr/>
          </p:nvSpPr>
          <p:spPr>
            <a:xfrm>
              <a:off x="6229350" y="4648200"/>
              <a:ext cx="5429250" cy="1562100"/>
            </a:xfrm>
            <a:prstGeom prst="roundRect">
              <a:avLst>
                <a:gd name="adj" fmla="val 6098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480810" y="4842510"/>
              <a:ext cx="28868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7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评估后不采纳（维持现状，理由明确）</a:t>
              </a:r>
              <a:endParaRPr lang="zh-CN" sz="1200" b="1" dirty="0">
                <a:solidFill>
                  <a:srgbClr val="1737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483191" y="5167551"/>
              <a:ext cx="3549658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双服务架构重写</a:t>
              </a:r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——引入框架破坏零依赖原则；推理分离已由</a:t>
              </a:r>
              <a:endParaRPr lang="zh-CN" sz="101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483191" y="5377101"/>
              <a:ext cx="2503277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指向 vLLM / Ollama 端点实现，代价更小</a:t>
              </a:r>
              <a:endParaRPr lang="zh-CN" sz="101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483191" y="5700951"/>
              <a:ext cx="3549658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ReAct 循环核查寄存器访问</a:t>
              </a:r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——SVD 确定性解析已完整覆盖，</a:t>
              </a:r>
              <a:endParaRPr lang="zh-CN" sz="101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483191" y="5910501"/>
              <a:ext cx="2321004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3333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硬件语义高风险域不交给模型反复试探</a:t>
              </a:r>
              <a:endParaRPr lang="zh-CN" sz="1010" dirty="0">
                <a:solidFill>
                  <a:srgbClr val="3333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522922" y="6578441"/>
            <a:ext cx="11146156" cy="167640"/>
            <a:chOff x="522922" y="6578441"/>
            <a:chExt cx="11146156" cy="167640"/>
          </a:xfrm>
        </p:grpSpPr>
        <p:sp>
          <p:nvSpPr>
            <p:cNvPr id="88" name="TextBox 88"/>
            <p:cNvSpPr txBox="1"/>
            <p:nvPr/>
          </p:nvSpPr>
          <p:spPr>
            <a:xfrm>
              <a:off x="522922" y="6578441"/>
              <a:ext cx="717734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图例：</a:t>
              </a:r>
              <a:r>
                <a:rPr lang="zh-CN" sz="825" b="1" dirty="0">
                  <a:solidFill>
                    <a:srgbClr val="0070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实线蓝 = 现状已有</a:t>
              </a:r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</a:t>
              </a:r>
              <a:r>
                <a:rPr lang="zh-CN" sz="825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红虚线 = 目标新增</a:t>
              </a:r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；评判依据：外部建议书 10 要点逐条比对（现状文档第 5 章，2 项达成 / 6 项部分达成 / 2 项不采纳）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54611" y="6578441"/>
              <a:ext cx="1144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13</a:t>
              </a:r>
              <a:endParaRPr lang="zh-CN" sz="825" dirty="0">
                <a:solidFill>
                  <a:srgbClr val="8C9AA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48" grpId="0"/>
      <p:bldP spid="73" grpId="0"/>
      <p:bldP spid="80" grpId="0"/>
      <p:bldP spid="8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3F6B"/>
              </a:gs>
              <a:gs pos="100000">
                <a:srgbClr val="122A47"/>
              </a:gs>
            </a:gsLst>
            <a:lin ang="2700000" scaled="1"/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-571500" y="-571500"/>
            <a:ext cx="13620750" cy="8382000"/>
            <a:chOff x="-571500" y="-571500"/>
            <a:chExt cx="13620750" cy="8382000"/>
          </a:xfrm>
        </p:grpSpPr>
        <p:sp>
          <p:nvSpPr>
            <p:cNvPr id="3" name="Ellipse 3"/>
            <p:cNvSpPr/>
            <p:nvPr/>
          </p:nvSpPr>
          <p:spPr>
            <a:xfrm>
              <a:off x="-571500" y="-571500"/>
              <a:ext cx="2857500" cy="2857500"/>
            </a:xfrm>
            <a:prstGeom prst="ellipse">
              <a:avLst/>
            </a:prstGeom>
            <a:noFill/>
            <a:ln w="14288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9620250" y="4381500"/>
              <a:ext cx="3429000" cy="3429000"/>
            </a:xfrm>
            <a:prstGeom prst="ellipse">
              <a:avLst/>
            </a:prstGeom>
            <a:noFill/>
            <a:ln w="14288">
              <a:solidFill>
                <a:srgbClr val="FFFFFF">
                  <a:alpha val="5000"/>
                </a:srgbClr>
              </a:solidFill>
            </a:ln>
          </p:spPr>
        </p:sp>
        <p:sp>
          <p:nvSpPr>
            <p:cNvPr id="5" name="Rectangle 5"/>
            <p:cNvSpPr/>
            <p:nvPr/>
          </p:nvSpPr>
          <p:spPr>
            <a:xfrm rot="2700000">
              <a:off x="10668000" y="1143000"/>
              <a:ext cx="171450" cy="171450"/>
            </a:xfrm>
            <a:prstGeom prst="rect">
              <a:avLst/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 rot="2700000">
              <a:off x="1428750" y="5334000"/>
              <a:ext cx="114300" cy="114300"/>
            </a:xfrm>
            <a:prstGeom prst="rect">
              <a:avLst/>
            </a:prstGeom>
            <a:solidFill>
              <a:srgbClr val="7FB0E0">
                <a:alpha val="35000"/>
              </a:srgbClr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876925" y="1289050"/>
            <a:ext cx="333375" cy="209550"/>
            <a:chOff x="5876925" y="1504950"/>
            <a:chExt cx="333375" cy="209550"/>
          </a:xfrm>
        </p:grpSpPr>
        <p:sp>
          <p:nvSpPr>
            <p:cNvPr id="9" name="Rectangle 9"/>
            <p:cNvSpPr/>
            <p:nvPr/>
          </p:nvSpPr>
          <p:spPr>
            <a:xfrm rot="2700000">
              <a:off x="5876925" y="1504950"/>
              <a:ext cx="152400" cy="152400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 rot="2700000">
              <a:off x="6115050" y="1619250"/>
              <a:ext cx="95250" cy="95250"/>
            </a:xfrm>
            <a:prstGeom prst="rect">
              <a:avLst/>
            </a:prstGeom>
            <a:solidFill>
              <a:srgbClr val="7FB0E0"/>
            </a:solidFill>
            <a:ln>
              <a:noFill/>
            </a:ln>
          </p:spPr>
        </p:sp>
      </p:grpSp>
      <p:grpSp>
        <p:nvGrpSpPr>
          <p:cNvPr id="20" name="Group 20"/>
          <p:cNvGrpSpPr/>
          <p:nvPr>
            <p:custDataLst>
              <p:tags r:id="rId1"/>
            </p:custDataLst>
          </p:nvPr>
        </p:nvGrpSpPr>
        <p:grpSpPr>
          <a:xfrm>
            <a:off x="2479040" y="3599498"/>
            <a:ext cx="1438275" cy="1167764"/>
            <a:chOff x="1308735" y="3599498"/>
            <a:chExt cx="1438275" cy="1167764"/>
          </a:xfrm>
        </p:grpSpPr>
        <p:sp>
          <p:nvSpPr>
            <p:cNvPr id="16" name="TextBox 16"/>
            <p:cNvSpPr txBox="1"/>
            <p:nvPr>
              <p:custDataLst>
                <p:tags r:id="rId2"/>
              </p:custDataLst>
            </p:nvPr>
          </p:nvSpPr>
          <p:spPr>
            <a:xfrm>
              <a:off x="1308735" y="3599498"/>
              <a:ext cx="28160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7FB0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01</a:t>
              </a:r>
              <a:endParaRPr lang="zh-CN" sz="1950" b="1" dirty="0">
                <a:solidFill>
                  <a:srgbClr val="7FB0E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>
              <p:custDataLst>
                <p:tags r:id="rId3"/>
              </p:custDataLst>
            </p:nvPr>
          </p:nvSpPr>
          <p:spPr>
            <a:xfrm>
              <a:off x="1316355" y="40262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问题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>
              <p:custDataLst>
                <p:tags r:id="rId4"/>
              </p:custDataLst>
            </p:nvPr>
          </p:nvSpPr>
          <p:spPr>
            <a:xfrm>
              <a:off x="1320165" y="43443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9C3E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从规范与场景的真实</a:t>
              </a:r>
              <a:endParaRPr lang="zh-CN" sz="1050" dirty="0">
                <a:solidFill>
                  <a:srgbClr val="A9C3E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>
              <p:custDataLst>
                <p:tags r:id="rId5"/>
              </p:custDataLst>
            </p:nvPr>
          </p:nvSpPr>
          <p:spPr>
            <a:xfrm>
              <a:off x="1320165" y="455390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9C3E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痛点出发，拿证据说话</a:t>
              </a:r>
              <a:endParaRPr lang="zh-CN" sz="1050" dirty="0">
                <a:solidFill>
                  <a:srgbClr val="A9C3E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5" name="Group 25"/>
          <p:cNvGrpSpPr/>
          <p:nvPr>
            <p:custDataLst>
              <p:tags r:id="rId6"/>
            </p:custDataLst>
          </p:nvPr>
        </p:nvGrpSpPr>
        <p:grpSpPr>
          <a:xfrm>
            <a:off x="5146040" y="3599498"/>
            <a:ext cx="1578293" cy="1167764"/>
            <a:chOff x="3975735" y="3599498"/>
            <a:chExt cx="1578293" cy="1167764"/>
          </a:xfrm>
        </p:grpSpPr>
        <p:sp>
          <p:nvSpPr>
            <p:cNvPr id="21" name="TextBox 21"/>
            <p:cNvSpPr txBox="1"/>
            <p:nvPr>
              <p:custDataLst>
                <p:tags r:id="rId7"/>
              </p:custDataLst>
            </p:nvPr>
          </p:nvSpPr>
          <p:spPr>
            <a:xfrm>
              <a:off x="3975735" y="3599498"/>
              <a:ext cx="34986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7FB0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</a:t>
              </a:r>
              <a:endParaRPr lang="zh-CN" sz="1950" b="1" dirty="0">
                <a:solidFill>
                  <a:srgbClr val="7FB0E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>
              <p:custDataLst>
                <p:tags r:id="rId8"/>
              </p:custDataLst>
            </p:nvPr>
          </p:nvSpPr>
          <p:spPr>
            <a:xfrm>
              <a:off x="3983355" y="40262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复用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>
              <p:custDataLst>
                <p:tags r:id="rId9"/>
              </p:custDataLst>
            </p:nvPr>
          </p:nvSpPr>
          <p:spPr>
            <a:xfrm>
              <a:off x="3987165" y="434435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9C3E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标准、引擎、数据、方法</a:t>
              </a:r>
              <a:endParaRPr lang="zh-CN" sz="1050" dirty="0">
                <a:solidFill>
                  <a:srgbClr val="A9C3E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>
              <p:custDataLst>
                <p:tags r:id="rId10"/>
              </p:custDataLst>
            </p:nvPr>
          </p:nvSpPr>
          <p:spPr>
            <a:xfrm>
              <a:off x="3987165" y="455390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9C3E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都是可复用的开源资源</a:t>
              </a:r>
              <a:endParaRPr lang="zh-CN" sz="1050" dirty="0">
                <a:solidFill>
                  <a:srgbClr val="A9C3E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>
            <p:custDataLst>
              <p:tags r:id="rId11"/>
            </p:custDataLst>
          </p:nvPr>
        </p:nvGrpSpPr>
        <p:grpSpPr>
          <a:xfrm>
            <a:off x="7813040" y="3599498"/>
            <a:ext cx="1298258" cy="1167764"/>
            <a:chOff x="6642735" y="3599498"/>
            <a:chExt cx="1298258" cy="1167764"/>
          </a:xfrm>
        </p:grpSpPr>
        <p:sp>
          <p:nvSpPr>
            <p:cNvPr id="26" name="TextBox 26"/>
            <p:cNvSpPr txBox="1"/>
            <p:nvPr>
              <p:custDataLst>
                <p:tags r:id="rId12"/>
              </p:custDataLst>
            </p:nvPr>
          </p:nvSpPr>
          <p:spPr>
            <a:xfrm>
              <a:off x="6642735" y="3599498"/>
              <a:ext cx="34986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7FB0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</a:t>
              </a:r>
              <a:endParaRPr lang="zh-CN" sz="1950" b="1" dirty="0">
                <a:solidFill>
                  <a:srgbClr val="7FB0E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>
              <p:custDataLst>
                <p:tags r:id="rId13"/>
              </p:custDataLst>
            </p:nvPr>
          </p:nvSpPr>
          <p:spPr>
            <a:xfrm>
              <a:off x="6650355" y="40262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实现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>
              <p:custDataLst>
                <p:tags r:id="rId14"/>
              </p:custDataLst>
            </p:nvPr>
          </p:nvSpPr>
          <p:spPr>
            <a:xfrm>
              <a:off x="6654165" y="43443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9C3E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确定性骨架做骨架，</a:t>
              </a:r>
              <a:endParaRPr lang="zh-CN" sz="1050" dirty="0">
                <a:solidFill>
                  <a:srgbClr val="A9C3E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>
              <p:custDataLst>
                <p:tags r:id="rId15"/>
              </p:custDataLst>
            </p:nvPr>
          </p:nvSpPr>
          <p:spPr>
            <a:xfrm>
              <a:off x="6654165" y="45539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9C3E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大模型受约束做协同</a:t>
              </a:r>
              <a:endParaRPr lang="zh-CN" sz="1050" dirty="0">
                <a:solidFill>
                  <a:srgbClr val="A9C3E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528566" y="1787525"/>
            <a:ext cx="3070098" cy="656272"/>
            <a:chOff x="4560951" y="5425440"/>
            <a:chExt cx="3070098" cy="656272"/>
          </a:xfrm>
        </p:grpSpPr>
        <p:sp>
          <p:nvSpPr>
            <p:cNvPr id="36" name="TextBox 36"/>
            <p:cNvSpPr txBox="1"/>
            <p:nvPr/>
          </p:nvSpPr>
          <p:spPr>
            <a:xfrm>
              <a:off x="4560951" y="5425440"/>
              <a:ext cx="307009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谢谢聆听，请老师批评指正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162050" y="5868352"/>
              <a:ext cx="1867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9C3E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ecdet 项目组 · 2026 年 10 月</a:t>
              </a:r>
              <a:endParaRPr lang="zh-CN" sz="1050" dirty="0">
                <a:solidFill>
                  <a:srgbClr val="A9C3E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5" grpId="0"/>
      <p:bldP spid="30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91.9499212598425,&quot;left&quot;:103.05,&quot;top&quot;:283.4250393700787,&quot;width&quot;:765.3}"/>
</p:tagLst>
</file>

<file path=ppt/tags/tag2.xml><?xml version="1.0" encoding="utf-8"?>
<p:tagLst xmlns:p="http://schemas.openxmlformats.org/presentationml/2006/main">
  <p:tag name="KSO_WM_DIAGRAM_VIRTUALLY_FRAME" val="{&quot;height&quot;:91.9499212598425,&quot;left&quot;:103.05,&quot;top&quot;:283.4250393700787,&quot;width&quot;:765.3}"/>
</p:tagLst>
</file>

<file path=ppt/tags/tag3.xml><?xml version="1.0" encoding="utf-8"?>
<p:tagLst xmlns:p="http://schemas.openxmlformats.org/presentationml/2006/main">
  <p:tag name="KSO_WM_DIAGRAM_VIRTUALLY_FRAME" val="{&quot;height&quot;:91.9499212598425,&quot;left&quot;:103.05,&quot;top&quot;:283.4250393700787,&quot;width&quot;:765.3}"/>
</p:tagLst>
</file>

<file path=ppt/tags/tag4.xml><?xml version="1.0" encoding="utf-8"?>
<p:tagLst xmlns:p="http://schemas.openxmlformats.org/presentationml/2006/main">
  <p:tag name="KSO_WM_DIAGRAM_VIRTUALLY_FRAME" val="{&quot;height&quot;:91.9499212598425,&quot;left&quot;:103.05,&quot;top&quot;:283.4250393700787,&quot;width&quot;:765.3}"/>
</p:tagLst>
</file>

<file path=ppt/tags/tag5.xml><?xml version="1.0" encoding="utf-8"?>
<p:tagLst xmlns:p="http://schemas.openxmlformats.org/presentationml/2006/main">
  <p:tag name="KSO_WM_DIAGRAM_VIRTUALLY_FRAME" val="{&quot;height&quot;:91.9499212598425,&quot;left&quot;:103.05,&quot;top&quot;:283.4250393700787,&quot;width&quot;:765.3}"/>
</p:tagLst>
</file>

<file path=ppt/tags/tag6.xml><?xml version="1.0" encoding="utf-8"?>
<p:tagLst xmlns:p="http://schemas.openxmlformats.org/presentationml/2006/main">
  <p:tag name="KSO_WM_DIAGRAM_VIRTUALLY_FRAME" val="{&quot;height&quot;:91.9499212598425,&quot;left&quot;:103.05,&quot;top&quot;:283.4250393700787,&quot;width&quot;:765.3}"/>
</p:tagLst>
</file>

<file path=ppt/tags/tag7.xml><?xml version="1.0" encoding="utf-8"?>
<p:tagLst xmlns:p="http://schemas.openxmlformats.org/presentationml/2006/main">
  <p:tag name="KSO_WM_DIAGRAM_VIRTUALLY_FRAME" val="{&quot;height&quot;:91.9499212598425,&quot;left&quot;:103.05,&quot;top&quot;:283.4250393700787,&quot;width&quot;:765.3}"/>
</p:tagLst>
</file>

<file path=ppt/tags/tag8.xml><?xml version="1.0" encoding="utf-8"?>
<p:tagLst xmlns:p="http://schemas.openxmlformats.org/presentationml/2006/main">
  <p:tag name="KSO_WM_DIAGRAM_VIRTUALLY_FRAME" val="{&quot;height&quot;:91.9499212598425,&quot;left&quot;:103.05,&quot;top&quot;:283.4250393700787,&quot;width&quot;:765.3}"/>
</p:tagLst>
</file>

<file path=ppt/tags/tag9.xml><?xml version="1.0" encoding="utf-8"?>
<p:tagLst xmlns:p="http://schemas.openxmlformats.org/presentationml/2006/main">
  <p:tag name="KSO_WM_DIAGRAM_VIRTUALLY_FRAME" val="{&quot;height&quot;:91.9499212598425,&quot;left&quot;:103.05,&quot;top&quot;:283.4250393700787,&quot;width&quot;:765.3}"/>
</p:tagLst>
</file>

<file path=ppt/tags/tag10.xml><?xml version="1.0" encoding="utf-8"?>
<p:tagLst xmlns:p="http://schemas.openxmlformats.org/presentationml/2006/main">
  <p:tag name="KSO_WM_DIAGRAM_VIRTUALLY_FRAME" val="{&quot;height&quot;:91.9499212598425,&quot;left&quot;:103.05,&quot;top&quot;:283.4250393700787,&quot;width&quot;:765.3}"/>
</p:tagLst>
</file>

<file path=ppt/tags/tag11.xml><?xml version="1.0" encoding="utf-8"?>
<p:tagLst xmlns:p="http://schemas.openxmlformats.org/presentationml/2006/main">
  <p:tag name="KSO_WM_DIAGRAM_VIRTUALLY_FRAME" val="{&quot;height&quot;:91.9499212598425,&quot;left&quot;:103.05,&quot;top&quot;:283.4250393700787,&quot;width&quot;:765.3}"/>
</p:tagLst>
</file>

<file path=ppt/tags/tag12.xml><?xml version="1.0" encoding="utf-8"?>
<p:tagLst xmlns:p="http://schemas.openxmlformats.org/presentationml/2006/main">
  <p:tag name="KSO_WM_DIAGRAM_VIRTUALLY_FRAME" val="{&quot;height&quot;:91.9499212598425,&quot;left&quot;:103.05,&quot;top&quot;:283.4250393700787,&quot;width&quot;:765.3}"/>
</p:tagLst>
</file>

<file path=ppt/tags/tag13.xml><?xml version="1.0" encoding="utf-8"?>
<p:tagLst xmlns:p="http://schemas.openxmlformats.org/presentationml/2006/main">
  <p:tag name="KSO_WM_DIAGRAM_VIRTUALLY_FRAME" val="{&quot;height&quot;:91.9499212598425,&quot;left&quot;:103.05,&quot;top&quot;:283.4250393700787,&quot;width&quot;:765.3}"/>
</p:tagLst>
</file>

<file path=ppt/tags/tag14.xml><?xml version="1.0" encoding="utf-8"?>
<p:tagLst xmlns:p="http://schemas.openxmlformats.org/presentationml/2006/main">
  <p:tag name="KSO_WM_DIAGRAM_VIRTUALLY_FRAME" val="{&quot;height&quot;:91.9499212598425,&quot;left&quot;:103.05,&quot;top&quot;:283.4250393700787,&quot;width&quot;:765.3}"/>
</p:tagLst>
</file>

<file path=ppt/tags/tag15.xml><?xml version="1.0" encoding="utf-8"?>
<p:tagLst xmlns:p="http://schemas.openxmlformats.org/presentationml/2006/main">
  <p:tag name="KSO_WM_DIAGRAM_VIRTUALLY_FRAME" val="{&quot;height&quot;:91.9499212598425,&quot;left&quot;:103.05,&quot;top&quot;:283.4250393700787,&quot;width&quot;:765.3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8822</Words>
  <Application>WPS 演示</Application>
  <PresentationFormat>On-screen Show (4:3)</PresentationFormat>
  <Paragraphs>1016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Consolas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冯雯雯</cp:lastModifiedBy>
  <cp:revision>4</cp:revision>
  <dcterms:created xsi:type="dcterms:W3CDTF">2013-01-27T09:14:00Z</dcterms:created>
  <dcterms:modified xsi:type="dcterms:W3CDTF">2026-10-28T06:30:31Z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0389154BFB1C48998E7B00A66507709E_12</vt:lpwstr>
  </property>
</Properties>
</file>